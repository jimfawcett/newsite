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89" r:id="rId3"/>
    <p:sldId id="286" r:id="rId4"/>
    <p:sldId id="259" r:id="rId5"/>
    <p:sldId id="257" r:id="rId6"/>
    <p:sldId id="258" r:id="rId7"/>
    <p:sldId id="260" r:id="rId8"/>
    <p:sldId id="261" r:id="rId9"/>
    <p:sldId id="262" r:id="rId10"/>
    <p:sldId id="263" r:id="rId11"/>
    <p:sldId id="264" r:id="rId12"/>
    <p:sldId id="265" r:id="rId13"/>
    <p:sldId id="266" r:id="rId14"/>
    <p:sldId id="267" r:id="rId15"/>
    <p:sldId id="268" r:id="rId16"/>
    <p:sldId id="269" r:id="rId17"/>
    <p:sldId id="270" r:id="rId18"/>
    <p:sldId id="288"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90" r:id="rId35"/>
    <p:sldId id="28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06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49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naming the two questions the session answers: what these programs are, and what people already do with them. Say that nobody needs to program to follow along, and that every example is one the audience could run this afternoon. Mention that the full set of pages stays online after the talk.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Three promises, made before the first claim. Say which branch of AI the hour covers, so nobody waits for chess or protein folding. Promise something they can use this afternoon. Then promise both sides of the ledger, and name data centers specifically, because the power and water figures are the part most audiences have not seen.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Open here rather than with the agenda. The room has read the headlines and arrives with both the fear and the curiosity, so name both in the first minute. The movies-over-dinner line matters: it gives permission to use the thing casually, which is how most people will meet it. Close on voting and conversation, the honest reason a non-technical audience should spend an hour on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here. The session covers use, cost, benefit, and deficit, in that order. Point out that the page list is a menu rather than a schedule: the talk follows the order shown, and whatever time runs short gets read later online. Note that the deficits page is as long as the benefits page, which is deliberate.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word AI covers programs that have almost nothing in common. Chess and go came first and surprised people. Protein folding and weather prediction now match or beat the methods specialists spent decades building. Say plainly that the rest of the hour is about one branch only, the chatbots, so nobody waits for the chess material. Define Large Language Model once, here, and then use the short form LLM.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capabilities, in increasing order of how much trust they require. Answering questions is the familiar one. Building documents is where most people find the first real time saving. Carrying out tasks means the model acts rather than replies, and that is the step where supervision starts to matter. The later Agents page returns to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articles, all open to the audience. The first lays out what the machines in a data center actually compute, which sets up the data center page later. The second covers Bill Gates on where this goes. The third argues the case for the technology, and it belongs here precisely because this presentation spends a full page on deficits. Each title on the screen is a live link if you want to open one now.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Switch to the live panel here. Keep the first demonstration short and ordinary, because the surprise is how unremarkable the interaction feels. Say that both sites work in a browser with no installation, and that a free account is enough for everything shown today. The four categories come from what people actually ask, not from any taxonomy.  Getting back: Alt+Tab returns to the slideshow. If PowerPoint is pinned to the taskbar in position 1, Win+1 returns to it from anywhere. Better still, open the chat bot before the talk starts and leave it running in its own window, so the switch is one keystroke in each direction rather than a page load.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the menu prompt live if time allows, since it returns something concrete in seconds. The medical results prompt deserves a caution: the model explains vocabulary well and should not replace the physician who ordered the test. The scam prompt is the one attendees are most likely to use again, so point at it. The local recycling question shows what happens when the model searches the web rather than recalls training, and it is worth checking the answer.  Getting back: Alt+Tab returns to the slideshow. If PowerPoint is pinned to the taskbar in position 1, Win+1 returns to it from anywhere. Better still, open the chat bot before the talk starts and leave it running in its own window, so the switch is one keystroke in each direction rather than a page load.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drafting examples raise the question the audience is already thinking about: whether a letter written this way still counts as yours. Answer it directly. The model produces a first draft that removes the blank page, and the person supplies the detail and the judgment. On reading recommendations, warn that models sometimes invent plausible titles, so verify anything before ordering it.  Getting back: Alt+Tab returns to the slideshow. If PowerPoint is pinned to the taskbar in position 1, Win+1 returns to it from anywhere. Better still, open the chat bot before the talk starts and leave it running in its own window, so the switch is one keystroke in each direction rather than a page load.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use section at home. The staff here already use these tools for ordinary administrative work, and the infographic on the screen is one result. Ask the room what they would hand to a model if it saved an hour a week. The answers set up the benefits and deficits pages that follow.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path once, left to right. The question leaves the browser, crosses the internet, reaches a server in a data center, and the reply comes back the same way. Nothing runs on the attendee's own machine. Say that ChatGPT drew this diagram itself when asked for a concept diagram, and that the Claude version looks nearly identical.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question people ask after the demonstration: can it just fix my document? In a browser, no. The application runs inside a sandbox that cannot reach your files. Frame the limit as protection rather than as a shortcoming, then point forward: the command line interface removes the limit, and that is exactly why it deserves care.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Ignore everything except the four boxes down the middle. A terminal is a plain text window where you type commands rather than click. It replaces the browser from the previous slide, and the CLI application talks to the model on your behalf. Downloading it from OpenAI or Anthropic is a one-time step.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candid here. The CLI is the tool that produced the pages the audience is looking at, and saying so earns the right to describe its failure mode. AI slop means fluent output that nobody shaped and nobody checked. The division of labor is the point: the person brings the argument and the judgment, the model brings speed.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appear constantly in the news and almost nobody in the room will run one soon. Cover them anyway, because they drive both the benefits and the liabilities later in the talk. The loop on the screen repeats: the agent reads the goal, acts, checks the result, and goes again until it decides it is done.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three-part structure is deliberate. Spend the least time on the good news, which the press already covers. The middle point is the honest one: the agent acts on what it inferred you meant, and that gap is where damage happens. End on the swarm problem, because it connects directly to the misinformation section later.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One slide to fix the three shapes in memory before the benefits and liabilities sections. Top row is what the room has already seen demonstrated. Middle row is the tool that produced these pages. Bottom row is the one they will read about rather than run. Say that the three differ in how much they can reach and how much supervision they need, in that order.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sentence carries this whole section: the gain is largest where the help was already scarce. A reader in a country with enough teachers notices a convenience. A reader without notices something else. Keep that asymmetry in mind through the next two slides, because it returns inverted in the deficits section.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areas, one line each. Do not read the slide. Pick the one closest to the room, probably healthcare, and give an example: a discharge summary rewritten so a patient can act on it. The research point matters to this audience in particular, since the model translates vocabulary between disciplines that otherwise talk past each other.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the section on the last line rather than the list. Every benefit here is potential, not guaranteed. Access means a connection, a device, and support for your language, and someone missing any of the three gets none of this. Accuracy safeguards mean a person checks the output, because a wrong answer arrives in the same confident wording as a right one. Deployment choices decide who gets the tool at all.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mirrors the benefits opener on purpose, and the audience should feel the symmetry. The last line is the one to dwell on. The company deploying a model books the savings, while the patient, the job applicant, or the town hosting the data center absorbs the cost. Economists call that an externality. The question of who answers for it comes back at the end of the section.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hallucination once, here. The word sounds harmless and the behavior is not: nothing in the output marks the difference between a fabricated citation and a real one. On bias, make the institutional point rather than the individual one. A stereotype in a chat reply is irritating. The same stereotype inside a hiring screen changes a life.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Privacy is the point most likely to change behavior in this room, so say it plainly: treat a prompt like a postcard. The environmental cost sets up the data center section that follows, so hand off to it here. Close on the qualified note the source document ends with, and resist the urge to sound either alarmed or reassured.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unit matters more than any single number. A site holds as much computing as its electric supply and cooling can sustain, which is why operators talk in watts instead of square feet. Use the 80,000 homes comparison and pause there. Then warn that the percentages in the next slides are estimates that move faster than published tables.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era added a workload the previous buildings could not hold. Global capacity reached 60 to 70 GW by 2024, doubling about every four years, and analysts project more than 200 GW by 2030. Water follows power: a 100 MW facility can use 1 to 3 million gallons a day for cooling, which is what a town of 10,000 to 30,000 people uses.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forces pull capacity away from the dominant clusters. The first is latency, the delay between a request and its reply: light in fibre costs about 1 millisecond of round trip per 100 kilometres, so a user in Mumbai served from Virginia waits 150 to 200 milliseconds before anything happens, which a person notices. The second is data sovereignty: rules in the European Union, India, Russia, and China require certain data to stay inside national borders, so operators build locally even where the economics favour one large site elsewhere. Shares approximate global installed IT capacity as of 2025.</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headline correction is that AI is not what most of this machinery does. Enterprise computing still leads. The AI share is the one number that moves fast: near 10% in 2022, near 18% in 2025, and an ABI Research estimate of 38% for 2026. Whether that figure proves right matters less than its direction. Geography: the United States holds about 35% of capacity, the EU and UK about 22%, and China about 15%.  The reassuring version for this audience: AI is the second largest consumer of data center capacity, not the first, and most of that is building models rather than answering questions. A dozen ChatGPT questions use far less than streaming one movie or making one Amazon purchase. Nobody needs to feel guilty about asking.</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 three terms before any figure appears, because the net loss numbers on the next two slides look absurd without them. Neither company publishes financial statements. These figures come from audited documents reporters obtained, verified by the Financial Times in June 2026 and reviewed by Reuters in September 2026. The 2.60 dollars is the number to leave in the room.</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Revenue grew 3.5 times between 2024 and 2025, and the operating loss grew 2.4 times alongside it. Compute is the reason: OpenAI paid Microsoft about 17.2 billion dollars in 2025, which exceeded the company's entire revenue. Roughly 30 billion of the 38.53 billion net loss is a one-time charge with no cash attached, tied to the move to a Public Benefit Corporation. The operating loss of 20.92 billion is the number that reflects running the business. A 40 billion dollar round arrived in 2025 and a 122 billion dollar round followed in March 2026.</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shape, smaller scale, five years later. Revenue multiplied about twelve times in one year, and the company still spent nearly three dollars for every dollar it earned. Compute came to 1.6 times revenue and 58 percent of operating expense. About 34 billion of the 41.97 billion net loss is a non-cash charge. Note who funds this: Amazon put in 8 billion across two years, Google roughly 1.8 billion, and Microsoft and Nvidia committed up to 15 billion. Money flows from the cloud providers to the model builders and much of it flows back as payment for computing.</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two columns in parallel. Life experience teaches a person; text teaches a model. Working memory holds the current task; the context window holds the current conversation. Long-term memory and trained parameters hold everything else. One difference in kind: training a brain takes a lifetime, while training a model is one enormously expensive process that must finish before anyone can use the result.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points land here. First, the model has no memory of you between sessions, which explains why the whole conversation gets resent every time and why privacy advice matters. Second, the model cannot learn from your conversation, and that is a design decision rather than a limitation: a model that learned from everyone talking to it could be poisoned by anyone talking to it. Close on the human parallel and let the room finish the thought.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Land the hour on two sentences. The first is an invitation: the tool rewards anyone willing to type a question, and nothing in the morning required skill. The second keeps the balance honest, and the word bigger is deliberate - say why you chose it, then stop and take questions.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Stop talking and take questions. Remind the room that every page, every source document, and every example prompt stays online, so nobody needed to write anything down.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raw.githubusercontent.com/JimFawcett/NewSite/main/AI%20Presentation%202026/Benefits%20of%20LLM%20AIs%20at%20the%20global%20and%20societal%20level.docx" TargetMode="External"/><Relationship Id="rId4" Type="http://schemas.openxmlformats.org/officeDocument/2006/relationships/hyperlink" Target="https://raw.githubusercontent.com/JimFawcett/NewSite/main/AI%20Presentation%202026/Global_Liabilities_of_LLM_AIs.docx" TargetMode="External"/><Relationship Id="rId5" Type="http://schemas.openxmlformats.org/officeDocument/2006/relationships/hyperlink" Target="https://www.nytimes.com/interactive/2026/10/15/upshot/ai-data-center-math.html?campaign_id=29&amp;emc=edit_up_20261015&amp;instance_id=183592&amp;nl=the-upshot&amp;regi_id=130594082&amp;segment_id=228155&amp;user_id=22b9d514f9f409c2aecfcf88a749951b" TargetMode="External"/><Relationship Id="rId6" Type="http://schemas.openxmlformats.org/officeDocument/2006/relationships/hyperlink" Target="https://www.nytimes.com/2026/09/29/opinion/ezra-klein-podcast-bill-gates.html?unlocked_article_code=1.E1E.P0gN.rPXk4gjAcGQy&amp;smid=url-share" TargetMode="External"/><Relationship Id="rId7" Type="http://schemas.openxmlformats.org/officeDocument/2006/relationships/hyperlink" Target="https://www.nytimes.com/2026/10/02/opinion/ai-tech-innovation.html?campaign_id=39&amp;emc=edit_ty_20261002&amp;instance_id=182909&amp;nl=opinion-today&amp;regi_id=130594082&amp;segment_id=227419&amp;user_id=22b9d514f9f409c2aecfcf88a749951b"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chatgpt.com" TargetMode="External"/><Relationship Id="rId4" Type="http://schemas.openxmlformats.org/officeDocument/2006/relationships/hyperlink" Target="https://claude.a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chatgpt.com/?q=What%20are%20the%20midterm%20election%20results%20for%20Nov%203%2C%202026%20for%20a%20voter%20in%20Urbana%20IL%2061802%3F" TargetMode="External"/><Relationship Id="rId4" Type="http://schemas.openxmlformats.org/officeDocument/2006/relationships/hyperlink" Target="https://chatgpt.com/?q=Create%20a%20mediterranean%20dinner%20menu%20with%20recipes%20and%20ingredients.%20Favor%20short%20ingredient%20lists." TargetMode="External"/><Relationship Id="rId5" Type="http://schemas.openxmlformats.org/officeDocument/2006/relationships/hyperlink" Target="https://chatgpt.com/?q=Explain%20these%20medical%20test%20results%20%5Bpaste%20results%20text%20here%5D" TargetMode="External"/><Relationship Id="rId6" Type="http://schemas.openxmlformats.org/officeDocument/2006/relationships/hyperlink" Target="https://chatgpt.com/?q=What%20is%20a%20podcast%3F" TargetMode="External"/><Relationship Id="rId7" Type="http://schemas.openxmlformats.org/officeDocument/2006/relationships/hyperlink" Target="https://chatgpt.com/?q=How%20to%20set%20up%20a%20video%20call%3F" TargetMode="External"/><Relationship Id="rId8" Type="http://schemas.openxmlformats.org/officeDocument/2006/relationships/hyperlink" Target="https://chatgpt.com/?q=Is%20this%20a%20scam%20%5Bpaste%20potential%20scam%20text%20here%5D%3F" TargetMode="External"/><Relationship Id="rId9" Type="http://schemas.openxmlformats.org/officeDocument/2006/relationships/hyperlink" Target="https://chatgpt.com/?q=Where%20in%20Champaign/Urbana%20can%20I%20ship%20out%20used%20toner%20cartridge%20for%20recycling%3F" TargetMode="External"/><Relationship Id="rId10" Type="http://schemas.openxmlformats.org/officeDocument/2006/relationships/hyperlink" Target="https://chatgpt.com" TargetMode="External"/><Relationship Id="rId11" Type="http://schemas.openxmlformats.org/officeDocument/2006/relationships/hyperlink" Target="https://claude.ai"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chatgpt.com/?q=Sci-Fi%20titles%20of%20books%20similar%20to%20those%20of%20Iain%20M.%20Banks" TargetMode="External"/><Relationship Id="rId4" Type="http://schemas.openxmlformats.org/officeDocument/2006/relationships/hyperlink" Target="https://chatgpt.com/?q=New%20York%20Times%20and%20Atlantic%20articles%20on%20AI" TargetMode="External"/><Relationship Id="rId5" Type="http://schemas.openxmlformats.org/officeDocument/2006/relationships/hyperlink" Target="https://chatgpt.com/?q=Create%20list%20of%20biographies%20of%20famous%20people" TargetMode="External"/><Relationship Id="rId6" Type="http://schemas.openxmlformats.org/officeDocument/2006/relationships/hyperlink" Target="https://chatgpt.com/?q=What%20are%20good%20activities%20for%20visiting%20friends%20with%20children%20in%20Champaign-Urbana%20area%3F" TargetMode="External"/><Relationship Id="rId7" Type="http://schemas.openxmlformats.org/officeDocument/2006/relationships/hyperlink" Target="https://chatgpt.com/?q=How%20to%20set%20up%20recurring%20Zoom%20meeting%20with%20friends%3F" TargetMode="External"/><Relationship Id="rId8" Type="http://schemas.openxmlformats.org/officeDocument/2006/relationships/hyperlink" Target="https://chatgpt.com/?q=Draft%20wedding%20toast%20%5Badd%20details%5D" TargetMode="External"/><Relationship Id="rId9" Type="http://schemas.openxmlformats.org/officeDocument/2006/relationships/hyperlink" Target="https://chatgpt.com/?q=Draft%20letter%20to%20reconnect%20with%20old%20friend%20%5Badd%20details%5D" TargetMode="External"/><Relationship Id="rId10" Type="http://schemas.openxmlformats.org/officeDocument/2006/relationships/hyperlink" Target="https://chatgpt.com" TargetMode="External"/><Relationship Id="rId11" Type="http://schemas.openxmlformats.org/officeDocument/2006/relationships/hyperlink" Target="https://claude.a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1920240"/>
            <a:ext cx="12191695" cy="265176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800" b="1">
                <a:solidFill>
                  <a:srgbClr val="EAF6FD"/>
                </a:solidFill>
              </a:rPr>
              <a:t>AI Presentation 2026</a:t>
            </a:r>
          </a:p>
          <a:p>
            <a:pPr algn="ctr">
              <a:spcBef>
                <a:spcPts val="1400"/>
              </a:spcBef>
            </a:pPr>
            <a:r>
              <a:rPr sz="2600">
                <a:solidFill>
                  <a:srgbClr val="EAF6FD"/>
                </a:solidFill>
              </a:rPr>
              <a:t>Introduction and Use Examples</a:t>
            </a:r>
          </a:p>
        </p:txBody>
      </p:sp>
      <p:sp>
        <p:nvSpPr>
          <p:cNvPr id="3" name="TextBox 2"/>
          <p:cNvSpPr txBox="1"/>
          <p:nvPr/>
        </p:nvSpPr>
        <p:spPr>
          <a:xfrm>
            <a:off x="4063468" y="4846320"/>
            <a:ext cx="4064767" cy="369332"/>
          </a:xfrm>
          <a:prstGeom prst="rect">
            <a:avLst/>
          </a:prstGeom>
          <a:noFill/>
        </p:spPr>
        <p:txBody>
          <a:bodyPr wrap="none">
            <a:spAutoFit/>
          </a:bodyPr>
          <a:lstStyle/>
          <a:p>
            <a:pPr algn="ctr"/>
            <a:r>
              <a:rPr sz="1800" dirty="0">
                <a:solidFill>
                  <a:srgbClr val="0B1D2E"/>
                </a:solidFill>
              </a:rPr>
              <a:t>Jim Fawcett</a:t>
            </a:r>
            <a:r>
              <a:rPr lang="en-US" sz="1800" dirty="0">
                <a:solidFill>
                  <a:srgbClr val="0B1D2E"/>
                </a:solidFill>
              </a:rPr>
              <a:t>, Deb Reardanz</a:t>
            </a:r>
            <a:r>
              <a:rPr sz="1800" dirty="0">
                <a:solidFill>
                  <a:srgbClr val="0B1D2E"/>
                </a:solidFill>
              </a:rPr>
              <a:t>  |  </a:t>
            </a:r>
            <a:r>
              <a:rPr sz="1800" dirty="0" err="1">
                <a:solidFill>
                  <a:srgbClr val="0B1D2E"/>
                </a:solidFill>
              </a:rPr>
              <a:t>ClarkLinsey</a:t>
            </a:r>
            <a:endParaRPr sz="1800" dirty="0">
              <a:solidFill>
                <a:srgbClr val="0B1D2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gn="l"/>
            <a:r>
              <a:rPr sz="3000" b="1">
                <a:solidFill>
                  <a:srgbClr val="EAF6FD"/>
                </a:solidFill>
              </a:rPr>
              <a:t>2. Goals for this Presentation</a:t>
            </a:r>
          </a:p>
        </p:txBody>
      </p:sp>
      <p:sp>
        <p:nvSpPr>
          <p:cNvPr id="3" name="TextBox 2"/>
          <p:cNvSpPr txBox="1"/>
          <p:nvPr/>
        </p:nvSpPr>
        <p:spPr>
          <a:xfrm>
            <a:off x="731520" y="1737360"/>
            <a:ext cx="10728960" cy="4480560"/>
          </a:xfrm>
          <a:prstGeom prst="rect">
            <a:avLst/>
          </a:prstGeom>
          <a:noFill/>
        </p:spPr>
        <p:txBody>
          <a:bodyPr wrap="square">
            <a:spAutoFit/>
          </a:bodyPr>
          <a:lstStyle/>
          <a:p>
            <a:pPr marL="342900" indent="-342900">
              <a:spcBef>
                <a:spcPts val="1800"/>
              </a:spcBef>
              <a:spcAft>
                <a:spcPts val="800"/>
              </a:spcAft>
              <a:buFont typeface="Arial" pitchFamily="34" charset="0"/>
              <a:buChar char="●"/>
            </a:pPr>
            <a:r>
              <a:rPr sz="2400">
                <a:solidFill>
                  <a:srgbClr val="0B1D2E"/>
                </a:solidFill>
              </a:rPr>
              <a:t>Discuss language-based AI models</a:t>
            </a:r>
          </a:p>
          <a:p>
            <a:pPr marL="342900" indent="-342900">
              <a:spcBef>
                <a:spcPts val="1800"/>
              </a:spcBef>
              <a:spcAft>
                <a:spcPts val="800"/>
              </a:spcAft>
              <a:buFont typeface="Arial" pitchFamily="34" charset="0"/>
              <a:buChar char="●"/>
            </a:pPr>
            <a:r>
              <a:rPr sz="2400">
                <a:solidFill>
                  <a:srgbClr val="0B1D2E"/>
                </a:solidFill>
              </a:rPr>
              <a:t>Explore how you might use them</a:t>
            </a:r>
          </a:p>
          <a:p>
            <a:pPr marL="342900" indent="-342900">
              <a:spcBef>
                <a:spcPts val="1800"/>
              </a:spcBef>
              <a:spcAft>
                <a:spcPts val="800"/>
              </a:spcAft>
              <a:buFont typeface="Arial" pitchFamily="34" charset="0"/>
              <a:buChar char="●"/>
            </a:pPr>
            <a:r>
              <a:rPr sz="2400">
                <a:solidFill>
                  <a:srgbClr val="0B1D2E"/>
                </a:solidFill>
              </a:rPr>
              <a:t>Layout benefits and liabilities, especially Data Centers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gn="l"/>
            <a:r>
              <a:rPr sz="3000" b="1">
                <a:solidFill>
                  <a:srgbClr val="EAF6FD"/>
                </a:solidFill>
              </a:rPr>
              <a:t>3. Why Should You Care About AI?</a:t>
            </a:r>
          </a:p>
        </p:txBody>
      </p:sp>
      <p:sp>
        <p:nvSpPr>
          <p:cNvPr id="3" name="TextBox 2"/>
          <p:cNvSpPr txBox="1"/>
          <p:nvPr/>
        </p:nvSpPr>
        <p:spPr>
          <a:xfrm>
            <a:off x="731520" y="1737360"/>
            <a:ext cx="10728960" cy="3867725"/>
          </a:xfrm>
          <a:prstGeom prst="rect">
            <a:avLst/>
          </a:prstGeom>
          <a:noFill/>
        </p:spPr>
        <p:txBody>
          <a:bodyPr wrap="square">
            <a:spAutoFit/>
          </a:bodyPr>
          <a:lstStyle/>
          <a:p>
            <a:pPr marL="342900" indent="-342900">
              <a:spcBef>
                <a:spcPts val="1200"/>
              </a:spcBef>
              <a:spcAft>
                <a:spcPts val="400"/>
              </a:spcAft>
              <a:buFont typeface="Arial" pitchFamily="34" charset="0"/>
              <a:buChar char="●"/>
            </a:pPr>
            <a:r>
              <a:rPr sz="2400" dirty="0">
                <a:solidFill>
                  <a:srgbClr val="0B1D2E"/>
                </a:solidFill>
              </a:rPr>
              <a:t>You've heard a lot about Artificial Intelligence (AI) in the news and your email newsletters. </a:t>
            </a:r>
            <a:endParaRPr lang="en-US" sz="2400" dirty="0">
              <a:solidFill>
                <a:srgbClr val="0B1D2E"/>
              </a:solidFill>
            </a:endParaRPr>
          </a:p>
          <a:p>
            <a:pPr marL="342900" indent="-342900">
              <a:spcBef>
                <a:spcPts val="1200"/>
              </a:spcBef>
              <a:spcAft>
                <a:spcPts val="400"/>
              </a:spcAft>
              <a:buFont typeface="Arial" pitchFamily="34" charset="0"/>
              <a:buChar char="●"/>
            </a:pPr>
            <a:r>
              <a:rPr sz="2400" dirty="0">
                <a:solidFill>
                  <a:srgbClr val="0B1D2E"/>
                </a:solidFill>
              </a:rPr>
              <a:t>AI is powerful and scary. It can be the agent for much good and much bad.</a:t>
            </a:r>
          </a:p>
          <a:p>
            <a:pPr marL="342900" indent="-342900">
              <a:spcBef>
                <a:spcPts val="1200"/>
              </a:spcBef>
              <a:spcAft>
                <a:spcPts val="400"/>
              </a:spcAft>
              <a:buFont typeface="Arial" pitchFamily="34" charset="0"/>
              <a:buChar char="●"/>
            </a:pPr>
            <a:r>
              <a:rPr sz="2400" dirty="0">
                <a:solidFill>
                  <a:srgbClr val="0B1D2E"/>
                </a:solidFill>
              </a:rPr>
              <a:t>AI can</a:t>
            </a:r>
            <a:r>
              <a:rPr lang="en-US" sz="2400" dirty="0">
                <a:solidFill>
                  <a:srgbClr val="0B1D2E"/>
                </a:solidFill>
              </a:rPr>
              <a:t> also</a:t>
            </a:r>
            <a:r>
              <a:rPr sz="2400" dirty="0">
                <a:solidFill>
                  <a:srgbClr val="0B1D2E"/>
                </a:solidFill>
              </a:rPr>
              <a:t> take a lot of the friction out of maintenance tasks for you and your surroundings. It can explain technology, help you with settings, review your medications ...</a:t>
            </a:r>
          </a:p>
          <a:p>
            <a:pPr marL="342900" indent="-342900">
              <a:spcBef>
                <a:spcPts val="1200"/>
              </a:spcBef>
              <a:spcAft>
                <a:spcPts val="400"/>
              </a:spcAft>
              <a:buFont typeface="Arial" pitchFamily="34" charset="0"/>
              <a:buChar char="●"/>
            </a:pPr>
            <a:r>
              <a:rPr sz="2400" dirty="0">
                <a:solidFill>
                  <a:srgbClr val="0B1D2E"/>
                </a:solidFill>
              </a:rPr>
              <a:t>It can also be fun to use AI to dig up facts about the movies over dinner.</a:t>
            </a:r>
          </a:p>
          <a:p>
            <a:pPr marL="342900" indent="-342900">
              <a:spcBef>
                <a:spcPts val="1200"/>
              </a:spcBef>
              <a:spcAft>
                <a:spcPts val="400"/>
              </a:spcAft>
              <a:buFont typeface="Arial" pitchFamily="34" charset="0"/>
              <a:buChar char="●"/>
            </a:pPr>
            <a:r>
              <a:rPr sz="2400" dirty="0">
                <a:solidFill>
                  <a:srgbClr val="0B1D2E"/>
                </a:solidFill>
              </a:rPr>
              <a:t>You want to know enough to make good voting choices, and good conversation.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4. What This Presentation Covers</a:t>
            </a:r>
          </a:p>
        </p:txBody>
      </p:sp>
      <p:sp>
        <p:nvSpPr>
          <p:cNvPr id="3" name="TextBox 2"/>
          <p:cNvSpPr txBox="1"/>
          <p:nvPr/>
        </p:nvSpPr>
        <p:spPr>
          <a:xfrm>
            <a:off x="731520" y="1371600"/>
            <a:ext cx="10728655" cy="4837222"/>
          </a:xfrm>
          <a:prstGeom prst="rect">
            <a:avLst/>
          </a:prstGeom>
          <a:noFill/>
        </p:spPr>
        <p:txBody>
          <a:bodyPr wrap="square">
            <a:spAutoFit/>
          </a:bodyPr>
          <a:lstStyle/>
          <a:p>
            <a:pPr>
              <a:spcBef>
                <a:spcPts val="1700"/>
              </a:spcBef>
              <a:spcAft>
                <a:spcPts val="400"/>
              </a:spcAft>
            </a:pPr>
            <a:r>
              <a:rPr sz="2200">
                <a:solidFill>
                  <a:srgbClr val="0B1D2E"/>
                </a:solidFill>
              </a:rPr>
              <a:t>What are Large Language Models for Artificial Intelligence (LLM AIs)?</a:t>
            </a:r>
          </a:p>
          <a:p>
            <a:pPr>
              <a:spcBef>
                <a:spcPts val="1700"/>
              </a:spcBef>
              <a:spcAft>
                <a:spcPts val="400"/>
              </a:spcAft>
            </a:pPr>
            <a:r>
              <a:rPr sz="2200" b="0" dirty="0">
                <a:solidFill>
                  <a:srgbClr val="0B1D2E"/>
                </a:solidFill>
              </a:rPr>
              <a:t>How people like you, and businesses like </a:t>
            </a:r>
            <a:r>
              <a:rPr sz="2200" b="0" dirty="0" err="1">
                <a:solidFill>
                  <a:srgbClr val="0B1D2E"/>
                </a:solidFill>
              </a:rPr>
              <a:t>ClarkLinsey</a:t>
            </a:r>
            <a:r>
              <a:rPr sz="2200" b="0" dirty="0">
                <a:solidFill>
                  <a:srgbClr val="0B1D2E"/>
                </a:solidFill>
              </a:rPr>
              <a:t>, use LLM AIs</a:t>
            </a:r>
          </a:p>
          <a:p>
            <a:pPr>
              <a:spcBef>
                <a:spcPts val="1700"/>
              </a:spcBef>
              <a:spcAft>
                <a:spcPts val="400"/>
              </a:spcAft>
            </a:pPr>
            <a:r>
              <a:rPr sz="2200" b="0" dirty="0">
                <a:solidFill>
                  <a:srgbClr val="0B1D2E"/>
                </a:solidFill>
              </a:rPr>
              <a:t>What the models cost, and who pays</a:t>
            </a:r>
          </a:p>
          <a:p>
            <a:pPr>
              <a:spcBef>
                <a:spcPts val="1700"/>
              </a:spcBef>
              <a:spcAft>
                <a:spcPts val="400"/>
              </a:spcAft>
            </a:pPr>
            <a:r>
              <a:rPr sz="2200" b="0" dirty="0">
                <a:solidFill>
                  <a:srgbClr val="0B1D2E"/>
                </a:solidFill>
              </a:rPr>
              <a:t>The benefits and the liabilities that are inherent to LLM AIs</a:t>
            </a:r>
          </a:p>
          <a:p>
            <a:pPr>
              <a:spcBef>
                <a:spcPts val="1700"/>
              </a:spcBef>
              <a:spcAft>
                <a:spcPts val="400"/>
              </a:spcAft>
            </a:pPr>
            <a:r>
              <a:rPr sz="2200">
                <a:solidFill>
                  <a:srgbClr val="0B1D2E"/>
                </a:solidFill>
              </a:rPr>
              <a:t>These Topics will be covered:</a:t>
            </a:r>
          </a:p>
          <a:p>
            <a:pPr marL="457200" lvl="1" indent="-228600">
              <a:spcBef>
                <a:spcPts val="200"/>
              </a:spcBef>
              <a:spcAft>
                <a:spcPts val="800"/>
              </a:spcAft>
              <a:buFont typeface="Arial" pitchFamily="34" charset="0"/>
              <a:buChar char="●"/>
            </a:pPr>
            <a:r>
              <a:rPr sz="1900">
                <a:solidFill>
                  <a:srgbClr val="1A5C8A"/>
                </a:solidFill>
              </a:rPr>
              <a:t>Definitions, References, Use Examples</a:t>
            </a:r>
          </a:p>
          <a:p>
            <a:pPr marL="457200" lvl="1" indent="-228600">
              <a:spcBef>
                <a:spcPts val="200"/>
              </a:spcBef>
              <a:spcAft>
                <a:spcPts val="800"/>
              </a:spcAft>
              <a:buFont typeface="Arial" pitchFamily="34" charset="0"/>
              <a:buChar char="●"/>
            </a:pPr>
            <a:r>
              <a:rPr sz="1900">
                <a:solidFill>
                  <a:srgbClr val="1A5C8A"/>
                </a:solidFill>
              </a:rPr>
              <a:t>How Chat Bots work, Command Line Interface (CLI), Agents</a:t>
            </a:r>
          </a:p>
          <a:p>
            <a:pPr marL="457200" lvl="1" indent="-228600">
              <a:spcBef>
                <a:spcPts val="200"/>
              </a:spcBef>
              <a:spcAft>
                <a:spcPts val="800"/>
              </a:spcAft>
              <a:buFont typeface="Arial" pitchFamily="34" charset="0"/>
              <a:buChar char="●"/>
            </a:pPr>
            <a:r>
              <a:rPr sz="1900">
                <a:solidFill>
                  <a:srgbClr val="1A5C8A"/>
                </a:solidFill>
              </a:rPr>
              <a:t>Benefits, Liabilities, Data Centers</a:t>
            </a:r>
          </a:p>
          <a:p>
            <a:pPr marL="457200" lvl="1" indent="-228600">
              <a:spcBef>
                <a:spcPts val="200"/>
              </a:spcBef>
              <a:spcAft>
                <a:spcPts val="800"/>
              </a:spcAft>
              <a:buFont typeface="Arial" pitchFamily="34" charset="0"/>
              <a:buChar char="●"/>
            </a:pPr>
            <a:r>
              <a:rPr sz="1900">
                <a:solidFill>
                  <a:srgbClr val="1A5C8A"/>
                </a:solidFill>
              </a:rPr>
              <a:t>Economics, and a final Human Machine analogy</a:t>
            </a:r>
          </a:p>
          <a:p>
            <a:pPr>
              <a:spcBef>
                <a:spcPts val="0"/>
              </a:spcBef>
              <a:spcAft>
                <a:spcPts val="0"/>
              </a:spcAft>
            </a:pPr>
            <a:endParaRPr sz="1800" b="0" dirty="0">
              <a:solidFill>
                <a:srgbClr val="1A5C8A"/>
              </a:solidFill>
            </a:endParaRPr>
          </a:p>
          <a:p>
            <a:pPr lvl="1">
              <a:spcBef>
                <a:spcPts val="0"/>
              </a:spcBef>
              <a:spcAft>
                <a:spcPts val="0"/>
              </a:spcAft>
            </a:pPr>
            <a:endParaRPr sz="1800" b="0" dirty="0">
              <a:solidFill>
                <a:srgbClr val="1A5C8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5. AI Covers More Than Chatbots</a:t>
            </a:r>
          </a:p>
        </p:txBody>
      </p:sp>
      <p:sp>
        <p:nvSpPr>
          <p:cNvPr id="3" name="TextBox 2"/>
          <p:cNvSpPr txBox="1"/>
          <p:nvPr/>
        </p:nvSpPr>
        <p:spPr>
          <a:xfrm>
            <a:off x="731520" y="1371600"/>
            <a:ext cx="10728655" cy="2372444"/>
          </a:xfrm>
          <a:prstGeom prst="rect">
            <a:avLst/>
          </a:prstGeom>
          <a:noFill/>
        </p:spPr>
        <p:txBody>
          <a:bodyPr wrap="square">
            <a:spAutoFit/>
          </a:bodyPr>
          <a:lstStyle/>
          <a:p>
            <a:pPr>
              <a:spcBef>
                <a:spcPts val="1600"/>
              </a:spcBef>
              <a:spcAft>
                <a:spcPts val="1600"/>
              </a:spcAft>
            </a:pPr>
            <a:r>
              <a:rPr sz="2200" b="0" dirty="0">
                <a:solidFill>
                  <a:srgbClr val="0B1D2E"/>
                </a:solidFill>
              </a:rPr>
              <a:t>Some AI models play chess and go at grand master level.</a:t>
            </a:r>
          </a:p>
          <a:p>
            <a:pPr>
              <a:spcBef>
                <a:spcPts val="1600"/>
              </a:spcBef>
              <a:spcAft>
                <a:spcPts val="1600"/>
              </a:spcAft>
            </a:pPr>
            <a:r>
              <a:rPr sz="2200" b="0" dirty="0">
                <a:solidFill>
                  <a:srgbClr val="0B1D2E"/>
                </a:solidFill>
              </a:rPr>
              <a:t>Others fold proteins and predict weather as well as, or better than, existing methods.</a:t>
            </a:r>
          </a:p>
          <a:p>
            <a:pPr>
              <a:spcBef>
                <a:spcPts val="1600"/>
              </a:spcBef>
              <a:spcAft>
                <a:spcPts val="1600"/>
              </a:spcAft>
            </a:pPr>
            <a:r>
              <a:rPr sz="2200" b="0" dirty="0">
                <a:solidFill>
                  <a:srgbClr val="0B1D2E"/>
                </a:solidFill>
              </a:rPr>
              <a:t>This presentation covers one subset: Large Language Models, or LLMs.</a:t>
            </a:r>
          </a:p>
          <a:p>
            <a:pPr marL="457200" lvl="1" indent="-228600">
              <a:spcBef>
                <a:spcPts val="800"/>
              </a:spcBef>
              <a:spcAft>
                <a:spcPts val="1200"/>
              </a:spcAft>
              <a:buFont typeface="Arial" pitchFamily="34" charset="0"/>
              <a:buChar char="●"/>
            </a:pPr>
            <a:r>
              <a:rPr sz="1900" b="0" dirty="0">
                <a:solidFill>
                  <a:srgbClr val="1A5C8A"/>
                </a:solidFill>
              </a:rPr>
              <a:t>A Large Language Model is a program trained on text that answers in ordinary language.</a:t>
            </a:r>
          </a:p>
          <a:p>
            <a:pPr marL="457200" lvl="1" indent="-228600">
              <a:spcBef>
                <a:spcPts val="800"/>
              </a:spcBef>
              <a:spcAft>
                <a:spcPts val="1200"/>
              </a:spcAft>
              <a:buFont typeface="Arial" pitchFamily="34" charset="0"/>
              <a:buChar char="●"/>
            </a:pPr>
            <a:r>
              <a:rPr sz="1900" b="0" dirty="0">
                <a:solidFill>
                  <a:srgbClr val="1A5C8A"/>
                </a:solidFill>
              </a:rPr>
              <a:t>A Chat Bot is a web page or mobile application that lets you ask an LLM a series of questions, with answers for each.</a:t>
            </a:r>
          </a:p>
          <a:p>
            <a:pPr>
              <a:spcBef>
                <a:spcPts val="1600"/>
              </a:spcBef>
              <a:spcAft>
                <a:spcPts val="1600"/>
              </a:spcAft>
            </a:pPr>
            <a:r>
              <a:rPr sz="2200" b="0" dirty="0">
                <a:solidFill>
                  <a:srgbClr val="0B1D2E"/>
                </a:solidFill>
              </a:rPr>
              <a:t>Chess engines, protein folders, and LLM chat bots share </a:t>
            </a:r>
            <a:r>
              <a:rPr lang="en-US" sz="2200" b="0" dirty="0">
                <a:solidFill>
                  <a:srgbClr val="0B1D2E"/>
                </a:solidFill>
              </a:rPr>
              <a:t>AI</a:t>
            </a:r>
            <a:r>
              <a:rPr sz="2200" b="0" dirty="0">
                <a:solidFill>
                  <a:srgbClr val="0B1D2E"/>
                </a:solidFill>
              </a:rPr>
              <a:t> name and little else.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dirty="0">
                <a:solidFill>
                  <a:srgbClr val="EAF6FD"/>
                </a:solidFill>
              </a:rPr>
              <a:t>6. What a L</a:t>
            </a:r>
            <a:r>
              <a:rPr lang="en-US" sz="3000" b="1" dirty="0">
                <a:solidFill>
                  <a:srgbClr val="EAF6FD"/>
                </a:solidFill>
              </a:rPr>
              <a:t>arge </a:t>
            </a:r>
            <a:r>
              <a:rPr sz="3000" b="1" dirty="0">
                <a:solidFill>
                  <a:srgbClr val="EAF6FD"/>
                </a:solidFill>
              </a:rPr>
              <a:t>L</a:t>
            </a:r>
            <a:r>
              <a:rPr lang="en-US" sz="3000" b="1" dirty="0">
                <a:solidFill>
                  <a:srgbClr val="EAF6FD"/>
                </a:solidFill>
              </a:rPr>
              <a:t>anguage </a:t>
            </a:r>
            <a:r>
              <a:rPr sz="3000" b="1" dirty="0">
                <a:solidFill>
                  <a:srgbClr val="EAF6FD"/>
                </a:solidFill>
              </a:rPr>
              <a:t>M</a:t>
            </a:r>
            <a:r>
              <a:rPr lang="en-US" sz="3000" b="1" dirty="0">
                <a:solidFill>
                  <a:srgbClr val="EAF6FD"/>
                </a:solidFill>
              </a:rPr>
              <a:t>odel (LLM)</a:t>
            </a:r>
            <a:r>
              <a:rPr sz="3000" b="1" dirty="0">
                <a:solidFill>
                  <a:srgbClr val="EAF6FD"/>
                </a:solidFill>
              </a:rPr>
              <a:t> Does</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400"/>
              </a:spcBef>
              <a:spcAft>
                <a:spcPts val="400"/>
              </a:spcAft>
            </a:pPr>
            <a:r>
              <a:rPr sz="2200" b="1">
                <a:solidFill>
                  <a:srgbClr val="0B1D2E"/>
                </a:solidFill>
              </a:rPr>
              <a:t>Answers questions drawn from a large body of text</a:t>
            </a:r>
          </a:p>
          <a:p>
            <a:pPr marL="457200" lvl="1" indent="-228600">
              <a:spcBef>
                <a:spcPts val="200"/>
              </a:spcBef>
              <a:spcAft>
                <a:spcPts val="1200"/>
              </a:spcAft>
              <a:buFont typeface="Arial" pitchFamily="34" charset="0"/>
              <a:buChar char="●"/>
            </a:pPr>
            <a:r>
              <a:rPr sz="1900" b="0">
                <a:solidFill>
                  <a:srgbClr val="1A5C8A"/>
                </a:solidFill>
              </a:rPr>
              <a:t>Much of the web, scientific papers, code, forum sites, and Wikipedia</a:t>
            </a:r>
          </a:p>
          <a:p>
            <a:pPr>
              <a:spcBef>
                <a:spcPts val="2400"/>
              </a:spcBef>
              <a:spcAft>
                <a:spcPts val="400"/>
              </a:spcAft>
            </a:pPr>
            <a:r>
              <a:rPr sz="2200" b="1">
                <a:solidFill>
                  <a:srgbClr val="0B1D2E"/>
                </a:solidFill>
              </a:rPr>
              <a:t>Helps build documents</a:t>
            </a:r>
          </a:p>
          <a:p>
            <a:pPr marL="457200" lvl="1" indent="-228600">
              <a:spcBef>
                <a:spcPts val="200"/>
              </a:spcBef>
              <a:spcAft>
                <a:spcPts val="1200"/>
              </a:spcAft>
              <a:buFont typeface="Arial" pitchFamily="34" charset="0"/>
              <a:buChar char="●"/>
            </a:pPr>
            <a:r>
              <a:rPr sz="1900" b="0">
                <a:solidFill>
                  <a:srgbClr val="1A5C8A"/>
                </a:solidFill>
              </a:rPr>
              <a:t>Slide decks, PDF documents, and web pages</a:t>
            </a:r>
          </a:p>
          <a:p>
            <a:pPr>
              <a:spcBef>
                <a:spcPts val="2400"/>
              </a:spcBef>
              <a:spcAft>
                <a:spcPts val="400"/>
              </a:spcAft>
            </a:pPr>
            <a:r>
              <a:rPr sz="2200" b="1">
                <a:solidFill>
                  <a:srgbClr val="0B1D2E"/>
                </a:solidFill>
              </a:rPr>
              <a:t>Carries out tasks</a:t>
            </a:r>
          </a:p>
          <a:p>
            <a:pPr marL="457200" lvl="1" indent="-228600">
              <a:spcBef>
                <a:spcPts val="200"/>
              </a:spcBef>
              <a:spcAft>
                <a:spcPts val="1200"/>
              </a:spcAft>
              <a:buFont typeface="Arial" pitchFamily="34" charset="0"/>
              <a:buChar char="●"/>
            </a:pPr>
            <a:r>
              <a:rPr sz="1900" b="0">
                <a:solidFill>
                  <a:srgbClr val="1A5C8A"/>
                </a:solidFill>
              </a:rPr>
              <a:t>Testing code, sorting email, and similar routine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7. Reference Articles</a:t>
            </a:r>
          </a:p>
        </p:txBody>
      </p:sp>
      <p:sp>
        <p:nvSpPr>
          <p:cNvPr id="3" name="TextBox 2"/>
          <p:cNvSpPr txBox="1"/>
          <p:nvPr/>
        </p:nvSpPr>
        <p:spPr>
          <a:xfrm>
            <a:off x="822960" y="1828800"/>
            <a:ext cx="10545775" cy="3657600"/>
          </a:xfrm>
          <a:prstGeom prst="rect">
            <a:avLst/>
          </a:prstGeom>
          <a:noFill/>
        </p:spPr>
        <p:txBody>
          <a:bodyPr wrap="square">
            <a:spAutoFit/>
          </a:bodyPr>
          <a:lstStyle/>
          <a:p>
            <a:pPr>
              <a:spcBef>
                <a:spcPts val="0"/>
              </a:spcBef>
              <a:spcAft>
                <a:spcPts val="2600"/>
              </a:spcAft>
            </a:pPr>
            <a:r>
              <a:rPr sz="2200">
                <a:hlinkClick r:id="rId3" tgtFrame="_blank"/>
              </a:rPr>
              <a:t>Benefits of LLM AIs at the global and societal level.docx</a:t>
            </a:r>
          </a:p>
          <a:p>
            <a:pPr>
              <a:spcBef>
                <a:spcPts val="0"/>
              </a:spcBef>
              <a:spcAft>
                <a:spcPts val="2600"/>
              </a:spcAft>
            </a:pPr>
            <a:r>
              <a:rPr sz="2200">
                <a:hlinkClick r:id="rId4" tgtFrame="_blank"/>
              </a:rPr>
              <a:t>Global_Liabilities_of_LLM_AIs.docx</a:t>
            </a:r>
          </a:p>
          <a:p>
            <a:pPr>
              <a:spcBef>
                <a:spcPts val="0"/>
              </a:spcBef>
              <a:spcAft>
                <a:spcPts val="2600"/>
              </a:spcAft>
            </a:pPr>
            <a:r>
              <a:rPr sz="2200">
                <a:hlinkClick r:id="rId5"/>
              </a:rPr>
              <a:t>What Are Data Centers Doing? A Mind-Boggling Amount of Math. - The New York Times</a:t>
            </a:r>
          </a:p>
          <a:p>
            <a:pPr>
              <a:spcBef>
                <a:spcPts val="0"/>
              </a:spcBef>
              <a:spcAft>
                <a:spcPts val="2600"/>
              </a:spcAft>
            </a:pPr>
            <a:r>
              <a:rPr sz="2200">
                <a:hlinkClick r:id="rId6"/>
              </a:rPr>
              <a:t>6 Takeaways From Ezra Klein's Interview With Bill Gates - The New York Times</a:t>
            </a:r>
          </a:p>
          <a:p>
            <a:pPr>
              <a:spcBef>
                <a:spcPts val="0"/>
              </a:spcBef>
              <a:spcAft>
                <a:spcPts val="2600"/>
              </a:spcAft>
            </a:pPr>
            <a:r>
              <a:rPr sz="2200">
                <a:hlinkClick r:id="rId7"/>
              </a:rPr>
              <a:t>Six Charts That Show Just How Much We Need A.I. - The New York Times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8. Beginning Use Examples</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200"/>
              </a:spcBef>
              <a:spcAft>
                <a:spcPts val="400"/>
              </a:spcAft>
            </a:pPr>
            <a:r>
              <a:rPr sz="2200" b="0">
                <a:solidFill>
                  <a:srgbClr val="0B1D2E"/>
                </a:solidFill>
              </a:rPr>
              <a:t>I will open a few of these examples and demonstrate them in a chat bot panel.</a:t>
            </a:r>
          </a:p>
          <a:p>
            <a:pPr>
              <a:spcBef>
                <a:spcPts val="2200"/>
              </a:spcBef>
              <a:spcAft>
                <a:spcPts val="400"/>
              </a:spcAft>
            </a:pPr>
            <a:r>
              <a:rPr sz="2200" b="1">
                <a:solidFill>
                  <a:srgbClr val="0B1D2E"/>
                </a:solidFill>
              </a:rPr>
              <a:t>Follow along at either site, both free to start:</a:t>
            </a:r>
          </a:p>
          <a:p>
            <a:pPr marL="457200" lvl="1" indent="-228600">
              <a:spcBef>
                <a:spcPts val="200"/>
              </a:spcBef>
              <a:spcAft>
                <a:spcPts val="1000"/>
              </a:spcAft>
              <a:buFont typeface="Arial" pitchFamily="34" charset="0"/>
              <a:buChar char="●"/>
            </a:pPr>
            <a:r>
              <a:rPr sz="1900" b="0">
                <a:hlinkClick r:id="rId3" tgtFrame="_blank"/>
              </a:rPr>
              <a:t>ChatGPT.com</a:t>
            </a:r>
          </a:p>
          <a:p>
            <a:pPr marL="457200" lvl="1" indent="-228600">
              <a:spcBef>
                <a:spcPts val="200"/>
              </a:spcBef>
              <a:spcAft>
                <a:spcPts val="1000"/>
              </a:spcAft>
              <a:buFont typeface="Arial" pitchFamily="34" charset="0"/>
              <a:buChar char="●"/>
            </a:pPr>
            <a:r>
              <a:rPr sz="1900" b="0">
                <a:hlinkClick r:id="rId4" tgtFrame="_blank"/>
              </a:rPr>
              <a:t>Claude.ai</a:t>
            </a:r>
          </a:p>
          <a:p>
            <a:pPr>
              <a:spcBef>
                <a:spcPts val="2200"/>
              </a:spcBef>
              <a:spcAft>
                <a:spcPts val="400"/>
              </a:spcAft>
            </a:pPr>
            <a:r>
              <a:rPr sz="2200" b="1">
                <a:solidFill>
                  <a:srgbClr val="0B1D2E"/>
                </a:solidFill>
              </a:rPr>
              <a:t>Four kinds of everyday use:</a:t>
            </a:r>
          </a:p>
          <a:p>
            <a:pPr marL="457200" lvl="1" indent="-228600">
              <a:spcBef>
                <a:spcPts val="200"/>
              </a:spcBef>
              <a:spcAft>
                <a:spcPts val="1000"/>
              </a:spcAft>
              <a:buFont typeface="Arial" pitchFamily="34" charset="0"/>
              <a:buChar char="●"/>
            </a:pPr>
            <a:r>
              <a:rPr sz="1900" b="0">
                <a:solidFill>
                  <a:srgbClr val="1A5C8A"/>
                </a:solidFill>
              </a:rPr>
              <a:t>a. Everyday practical help</a:t>
            </a:r>
          </a:p>
          <a:p>
            <a:pPr marL="457200" lvl="1" indent="-228600">
              <a:spcBef>
                <a:spcPts val="200"/>
              </a:spcBef>
              <a:spcAft>
                <a:spcPts val="1000"/>
              </a:spcAft>
              <a:buFont typeface="Arial" pitchFamily="34" charset="0"/>
              <a:buChar char="●"/>
            </a:pPr>
            <a:r>
              <a:rPr sz="1900" b="0">
                <a:solidFill>
                  <a:srgbClr val="1A5C8A"/>
                </a:solidFill>
              </a:rPr>
              <a:t>b. Tech help</a:t>
            </a:r>
          </a:p>
          <a:p>
            <a:pPr marL="457200" lvl="1" indent="-228600">
              <a:spcBef>
                <a:spcPts val="200"/>
              </a:spcBef>
              <a:spcAft>
                <a:spcPts val="1000"/>
              </a:spcAft>
              <a:buFont typeface="Arial" pitchFamily="34" charset="0"/>
              <a:buChar char="●"/>
            </a:pPr>
            <a:r>
              <a:rPr sz="1900" b="0">
                <a:solidFill>
                  <a:srgbClr val="1A5C8A"/>
                </a:solidFill>
              </a:rPr>
              <a:t>c. Personal connections</a:t>
            </a:r>
          </a:p>
          <a:p>
            <a:pPr marL="457200" lvl="1" indent="-228600">
              <a:spcBef>
                <a:spcPts val="200"/>
              </a:spcBef>
              <a:spcAft>
                <a:spcPts val="1000"/>
              </a:spcAft>
              <a:buFont typeface="Arial" pitchFamily="34" charset="0"/>
              <a:buChar char="●"/>
            </a:pPr>
            <a:r>
              <a:rPr sz="1900" b="0">
                <a:solidFill>
                  <a:srgbClr val="1A5C8A"/>
                </a:solidFill>
              </a:rPr>
              <a:t>d. Reading recommendations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9. Everyday Practical Help and Tech Help</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000"/>
              </a:spcBef>
              <a:spcAft>
                <a:spcPts val="400"/>
              </a:spcAft>
            </a:pPr>
            <a:r>
              <a:rPr sz="2100" b="1">
                <a:solidFill>
                  <a:srgbClr val="0B1D2E"/>
                </a:solidFill>
              </a:rPr>
              <a:t>Everyday practical help</a:t>
            </a:r>
          </a:p>
          <a:p>
            <a:pPr lvl="1">
              <a:spcBef>
                <a:spcPts val="200"/>
              </a:spcBef>
              <a:spcAft>
                <a:spcPts val="1100"/>
              </a:spcAft>
            </a:pPr>
            <a:r>
              <a:rPr sz="1600" b="0">
                <a:hlinkClick r:id="rId3" tgtFrame="_blank"/>
              </a:rPr>
              <a:t>What are the midterm election results for Nov 3, 2026 for a voter in Urbana IL 61802?</a:t>
            </a:r>
          </a:p>
          <a:p>
            <a:pPr lvl="1">
              <a:spcBef>
                <a:spcPts val="200"/>
              </a:spcBef>
              <a:spcAft>
                <a:spcPts val="1100"/>
              </a:spcAft>
            </a:pPr>
            <a:r>
              <a:rPr sz="1600" b="0">
                <a:hlinkClick r:id="rId4" tgtFrame="_blank"/>
              </a:rPr>
              <a:t>Create a mediterranean dinner menu with recipes and ingredients. Favor short ingredient lists.</a:t>
            </a:r>
          </a:p>
          <a:p>
            <a:pPr lvl="1">
              <a:spcBef>
                <a:spcPts val="200"/>
              </a:spcBef>
              <a:spcAft>
                <a:spcPts val="1100"/>
              </a:spcAft>
            </a:pPr>
            <a:r>
              <a:rPr sz="1600" b="0">
                <a:hlinkClick r:id="rId5" tgtFrame="_blank"/>
              </a:rPr>
              <a:t>Explain these medical test results [paste results text here]</a:t>
            </a:r>
          </a:p>
          <a:p>
            <a:pPr>
              <a:spcBef>
                <a:spcPts val="2000"/>
              </a:spcBef>
              <a:spcAft>
                <a:spcPts val="400"/>
              </a:spcAft>
            </a:pPr>
            <a:r>
              <a:rPr sz="2100" b="1">
                <a:solidFill>
                  <a:srgbClr val="0B1D2E"/>
                </a:solidFill>
              </a:rPr>
              <a:t>Tech help</a:t>
            </a:r>
          </a:p>
          <a:p>
            <a:pPr lvl="1">
              <a:spcBef>
                <a:spcPts val="200"/>
              </a:spcBef>
              <a:spcAft>
                <a:spcPts val="1100"/>
              </a:spcAft>
            </a:pPr>
            <a:r>
              <a:rPr sz="1600" b="0">
                <a:hlinkClick r:id="rId6" tgtFrame="_blank"/>
              </a:rPr>
              <a:t>What is a podcast?</a:t>
            </a:r>
          </a:p>
          <a:p>
            <a:pPr lvl="1">
              <a:spcBef>
                <a:spcPts val="200"/>
              </a:spcBef>
              <a:spcAft>
                <a:spcPts val="1100"/>
              </a:spcAft>
            </a:pPr>
            <a:r>
              <a:rPr sz="1600" b="0">
                <a:hlinkClick r:id="rId7" tgtFrame="_blank"/>
              </a:rPr>
              <a:t>How to set up a video call?</a:t>
            </a:r>
          </a:p>
          <a:p>
            <a:pPr lvl="1">
              <a:spcBef>
                <a:spcPts val="200"/>
              </a:spcBef>
              <a:spcAft>
                <a:spcPts val="1100"/>
              </a:spcAft>
            </a:pPr>
            <a:r>
              <a:rPr sz="1600" b="0">
                <a:hlinkClick r:id="rId8" tgtFrame="_blank"/>
              </a:rPr>
              <a:t>Is this a scam [paste potential scam text here]?</a:t>
            </a:r>
          </a:p>
          <a:p>
            <a:pPr lvl="1">
              <a:spcBef>
                <a:spcPts val="200"/>
              </a:spcBef>
              <a:spcAft>
                <a:spcPts val="1100"/>
              </a:spcAft>
            </a:pPr>
            <a:r>
              <a:rPr sz="1600" b="0">
                <a:hlinkClick r:id="rId9" tgtFrame="_blank"/>
              </a:rPr>
              <a:t>Where in Champaign/Urbana can I ship out used toner cartridge for recycling?</a:t>
            </a:r>
          </a:p>
        </p:txBody>
      </p:sp>
      <p:sp>
        <p:nvSpPr>
          <p:cNvPr id="4" name="TextBox 3"/>
          <p:cNvSpPr txBox="1"/>
          <p:nvPr/>
        </p:nvSpPr>
        <p:spPr>
          <a:xfrm>
            <a:off x="731520" y="5989320"/>
            <a:ext cx="10728655" cy="457200"/>
          </a:xfrm>
          <a:prstGeom prst="rect">
            <a:avLst/>
          </a:prstGeom>
          <a:noFill/>
        </p:spPr>
        <p:txBody>
          <a:bodyPr wrap="none">
            <a:spAutoFit/>
          </a:bodyPr>
          <a:lstStyle/>
          <a:p>
            <a:r>
              <a:rPr sz="1600">
                <a:solidFill>
                  <a:srgbClr val="0B1D2E"/>
                </a:solidFill>
              </a:rPr>
              <a:t>Try these at:   </a:t>
            </a:r>
            <a:r>
              <a:rPr sz="1600">
                <a:hlinkClick r:id="rId10" tgtFrame="_blank"/>
              </a:rPr>
              <a:t>ChatGPT.com</a:t>
            </a:r>
            <a:r>
              <a:rPr sz="1600"/>
              <a:t>      </a:t>
            </a:r>
            <a:r>
              <a:rPr sz="1600">
                <a:hlinkClick r:id="rId11" tgtFrame="_blank"/>
              </a:rPr>
              <a:t>Claude.ai</a:t>
            </a:r>
            <a:r>
              <a:rPr sz="160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10. Reading and Personal Connections</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1400"/>
              </a:spcBef>
              <a:spcAft>
                <a:spcPts val="300"/>
              </a:spcAft>
            </a:pPr>
            <a:r>
              <a:rPr sz="2100" b="1">
                <a:solidFill>
                  <a:srgbClr val="0B1D2E"/>
                </a:solidFill>
              </a:rPr>
              <a:t>Reading recommendations</a:t>
            </a:r>
          </a:p>
          <a:p>
            <a:pPr lvl="1">
              <a:spcBef>
                <a:spcPts val="200"/>
              </a:spcBef>
              <a:spcAft>
                <a:spcPts val="700"/>
              </a:spcAft>
            </a:pPr>
            <a:r>
              <a:rPr sz="1700" b="0">
                <a:hlinkClick r:id="rId3" tgtFrame="_blank"/>
              </a:rPr>
              <a:t>Sci-Fi titles of books similar to those of Iain M. Banks</a:t>
            </a:r>
          </a:p>
          <a:p>
            <a:pPr lvl="1">
              <a:spcBef>
                <a:spcPts val="200"/>
              </a:spcBef>
              <a:spcAft>
                <a:spcPts val="700"/>
              </a:spcAft>
            </a:pPr>
            <a:r>
              <a:rPr sz="1700" b="0">
                <a:hlinkClick r:id="rId4" tgtFrame="_blank"/>
              </a:rPr>
              <a:t>New York Times and Atlantic articles on AI</a:t>
            </a:r>
          </a:p>
          <a:p>
            <a:pPr lvl="1">
              <a:spcBef>
                <a:spcPts val="200"/>
              </a:spcBef>
              <a:spcAft>
                <a:spcPts val="700"/>
              </a:spcAft>
            </a:pPr>
            <a:r>
              <a:rPr sz="1700" b="0">
                <a:hlinkClick r:id="rId5" tgtFrame="_blank"/>
              </a:rPr>
              <a:t>Create list of biographies of famous people</a:t>
            </a:r>
          </a:p>
          <a:p>
            <a:pPr>
              <a:spcBef>
                <a:spcPts val="1400"/>
              </a:spcBef>
              <a:spcAft>
                <a:spcPts val="300"/>
              </a:spcAft>
            </a:pPr>
            <a:r>
              <a:rPr sz="2100" b="1">
                <a:solidFill>
                  <a:srgbClr val="0B1D2E"/>
                </a:solidFill>
              </a:rPr>
              <a:t>Personal connections</a:t>
            </a:r>
          </a:p>
          <a:p>
            <a:pPr lvl="1">
              <a:spcBef>
                <a:spcPts val="200"/>
              </a:spcBef>
              <a:spcAft>
                <a:spcPts val="700"/>
              </a:spcAft>
            </a:pPr>
            <a:r>
              <a:rPr sz="1700">
                <a:hlinkClick r:id="rId6" tgtFrame="_blank"/>
              </a:rPr>
              <a:t>What are good activities for visiting friends with children in Champaign-Urbana area?</a:t>
            </a:r>
          </a:p>
          <a:p>
            <a:pPr lvl="1">
              <a:spcBef>
                <a:spcPts val="200"/>
              </a:spcBef>
              <a:spcAft>
                <a:spcPts val="700"/>
              </a:spcAft>
            </a:pPr>
            <a:r>
              <a:rPr sz="1700" b="0">
                <a:hlinkClick r:id="rId7" tgtFrame="_blank"/>
              </a:rPr>
              <a:t>How to set up recurring Zoom meeting with friends?</a:t>
            </a:r>
          </a:p>
          <a:p>
            <a:pPr lvl="1">
              <a:spcBef>
                <a:spcPts val="200"/>
              </a:spcBef>
              <a:spcAft>
                <a:spcPts val="700"/>
              </a:spcAft>
            </a:pPr>
            <a:r>
              <a:rPr sz="1700" b="0">
                <a:hlinkClick r:id="rId8" tgtFrame="_blank"/>
              </a:rPr>
              <a:t>Draft wedding toast [add details]</a:t>
            </a:r>
          </a:p>
          <a:p>
            <a:pPr lvl="1">
              <a:spcBef>
                <a:spcPts val="200"/>
              </a:spcBef>
              <a:spcAft>
                <a:spcPts val="700"/>
              </a:spcAft>
            </a:pPr>
            <a:r>
              <a:rPr sz="1700" b="0">
                <a:hlinkClick r:id="rId9" tgtFrame="_blank"/>
              </a:rPr>
              <a:t>Draft letter to reconnect with old friend [add details]</a:t>
            </a:r>
          </a:p>
          <a:p>
            <a:pPr>
              <a:spcBef>
                <a:spcPts val="1400"/>
              </a:spcBef>
              <a:spcAft>
                <a:spcPts val="300"/>
              </a:spcAft>
            </a:pPr>
            <a:r>
              <a:rPr sz="2100" b="1">
                <a:solidFill>
                  <a:srgbClr val="0B1D2E"/>
                </a:solidFill>
              </a:rPr>
              <a:t>A draft is a starting point. The sender still writes the letter.</a:t>
            </a:r>
          </a:p>
        </p:txBody>
      </p:sp>
      <p:sp>
        <p:nvSpPr>
          <p:cNvPr id="4" name="TextBox 3"/>
          <p:cNvSpPr txBox="1"/>
          <p:nvPr/>
        </p:nvSpPr>
        <p:spPr>
          <a:xfrm>
            <a:off x="731520" y="5989320"/>
            <a:ext cx="10728655" cy="457200"/>
          </a:xfrm>
          <a:prstGeom prst="rect">
            <a:avLst/>
          </a:prstGeom>
          <a:noFill/>
        </p:spPr>
        <p:txBody>
          <a:bodyPr wrap="none">
            <a:spAutoFit/>
          </a:bodyPr>
          <a:lstStyle/>
          <a:p>
            <a:r>
              <a:rPr sz="1600">
                <a:solidFill>
                  <a:srgbClr val="0B1D2E"/>
                </a:solidFill>
              </a:rPr>
              <a:t>Try these at:   </a:t>
            </a:r>
            <a:r>
              <a:rPr sz="1600">
                <a:hlinkClick r:id="rId10" tgtFrame="_blank"/>
              </a:rPr>
              <a:t>ChatGPT.com</a:t>
            </a:r>
            <a:r>
              <a:rPr sz="1600"/>
              <a:t>      </a:t>
            </a:r>
            <a:r>
              <a:rPr sz="1600">
                <a:hlinkClick r:id="rId11" tgtFrame="_blank"/>
              </a:rPr>
              <a:t>Claude.ai</a:t>
            </a:r>
            <a:r>
              <a:rPr sz="160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11. ClarkLinsey Use of LLM AIs</a:t>
            </a:r>
          </a:p>
        </p:txBody>
      </p:sp>
      <p:sp>
        <p:nvSpPr>
          <p:cNvPr id="3" name="TextBox 2"/>
          <p:cNvSpPr txBox="1"/>
          <p:nvPr/>
        </p:nvSpPr>
        <p:spPr>
          <a:xfrm>
            <a:off x="731520" y="1188720"/>
            <a:ext cx="10728655" cy="5120640"/>
          </a:xfrm>
          <a:prstGeom prst="rect">
            <a:avLst/>
          </a:prstGeom>
          <a:noFill/>
        </p:spPr>
        <p:txBody>
          <a:bodyPr wrap="square">
            <a:spAutoFit/>
          </a:bodyPr>
          <a:lstStyle/>
          <a:p>
            <a:pPr>
              <a:spcBef>
                <a:spcPts val="600"/>
              </a:spcBef>
              <a:spcAft>
                <a:spcPts val="1000"/>
              </a:spcAft>
            </a:pPr>
            <a:r>
              <a:rPr sz="2000" b="0">
                <a:solidFill>
                  <a:srgbClr val="0B1D2E"/>
                </a:solidFill>
              </a:rPr>
              <a:t>How administrative staff use AI to improve the CLV environment we share.</a:t>
            </a:r>
          </a:p>
        </p:txBody>
      </p:sp>
      <p:pic>
        <p:nvPicPr>
          <p:cNvPr id="4" name="Picture 3" descr="changing_Computers_infographic.png"/>
          <p:cNvPicPr>
            <a:picLocks noChangeAspect="1"/>
          </p:cNvPicPr>
          <p:nvPr/>
        </p:nvPicPr>
        <p:blipFill>
          <a:blip r:embed="rId3"/>
          <a:stretch>
            <a:fillRect/>
          </a:stretch>
        </p:blipFill>
        <p:spPr>
          <a:xfrm>
            <a:off x="3366443" y="2103120"/>
            <a:ext cx="5459113" cy="30723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lang="en-US" sz="3000" b="1" dirty="0">
                <a:solidFill>
                  <a:srgbClr val="EAF6FD"/>
                </a:solidFill>
              </a:rPr>
              <a:t>12. How Large Language Model AI Chat Bots Work</a:t>
            </a:r>
            <a:endParaRPr sz="3000" b="1" dirty="0">
              <a:solidFill>
                <a:srgbClr val="EAF6FD"/>
              </a:solidFill>
            </a:endParaRPr>
          </a:p>
        </p:txBody>
      </p:sp>
      <p:sp>
        <p:nvSpPr>
          <p:cNvPr id="3" name="TextBox 2"/>
          <p:cNvSpPr txBox="1"/>
          <p:nvPr/>
        </p:nvSpPr>
        <p:spPr>
          <a:xfrm>
            <a:off x="731520" y="1188720"/>
            <a:ext cx="10728655" cy="5120640"/>
          </a:xfrm>
          <a:prstGeom prst="rect">
            <a:avLst/>
          </a:prstGeom>
          <a:noFill/>
        </p:spPr>
        <p:txBody>
          <a:bodyPr wrap="square">
            <a:spAutoFit/>
          </a:bodyPr>
          <a:lstStyle/>
          <a:p>
            <a:pPr>
              <a:spcBef>
                <a:spcPts val="600"/>
              </a:spcBef>
              <a:spcAft>
                <a:spcPts val="1000"/>
              </a:spcAft>
            </a:pPr>
            <a:r>
              <a:rPr sz="1800" b="0">
                <a:solidFill>
                  <a:srgbClr val="0B1D2E"/>
                </a:solidFill>
              </a:rPr>
              <a:t>The question leaves your device. The answer comes back from a building you will never see.</a:t>
            </a:r>
          </a:p>
        </p:txBody>
      </p:sp>
      <p:pic>
        <p:nvPicPr>
          <p:cNvPr id="4" name="Picture 3" descr="chat_architecture.png"/>
          <p:cNvPicPr>
            <a:picLocks noChangeAspect="1"/>
          </p:cNvPicPr>
          <p:nvPr/>
        </p:nvPicPr>
        <p:blipFill>
          <a:blip r:embed="rId3"/>
          <a:stretch>
            <a:fillRect/>
          </a:stretch>
        </p:blipFill>
        <p:spPr>
          <a:xfrm>
            <a:off x="2461107" y="1828800"/>
            <a:ext cx="7269480" cy="4846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dirty="0">
                <a:solidFill>
                  <a:srgbClr val="EAF6FD"/>
                </a:solidFill>
              </a:rPr>
              <a:t>13. What the</a:t>
            </a:r>
            <a:r>
              <a:rPr lang="en-US" sz="3000" b="1" dirty="0">
                <a:solidFill>
                  <a:srgbClr val="EAF6FD"/>
                </a:solidFill>
              </a:rPr>
              <a:t> Bot’s</a:t>
            </a:r>
            <a:r>
              <a:rPr sz="3000" b="1" dirty="0">
                <a:solidFill>
                  <a:srgbClr val="EAF6FD"/>
                </a:solidFill>
              </a:rPr>
              <a:t> Browser App Cannot Do</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800"/>
              </a:spcBef>
              <a:spcAft>
                <a:spcPts val="600"/>
              </a:spcAft>
            </a:pPr>
            <a:r>
              <a:rPr sz="2100" b="1">
                <a:solidFill>
                  <a:srgbClr val="0B1D2E"/>
                </a:solidFill>
              </a:rPr>
              <a:t>Web and mobile applications work under security limits:</a:t>
            </a:r>
          </a:p>
          <a:p>
            <a:pPr marL="457200" lvl="1" indent="-228600">
              <a:spcBef>
                <a:spcPts val="200"/>
              </a:spcBef>
              <a:spcAft>
                <a:spcPts val="1400"/>
              </a:spcAft>
              <a:buFont typeface="Arial" pitchFamily="34" charset="0"/>
              <a:buChar char="●"/>
            </a:pPr>
            <a:r>
              <a:rPr sz="1900" b="0">
                <a:solidFill>
                  <a:srgbClr val="1A5C8A"/>
                </a:solidFill>
              </a:rPr>
              <a:t>They cannot edit data on your computer.</a:t>
            </a:r>
          </a:p>
          <a:p>
            <a:pPr marL="457200" lvl="1" indent="-228600">
              <a:spcBef>
                <a:spcPts val="200"/>
              </a:spcBef>
              <a:spcAft>
                <a:spcPts val="1400"/>
              </a:spcAft>
              <a:buFont typeface="Arial" pitchFamily="34" charset="0"/>
              <a:buChar char="●"/>
            </a:pPr>
            <a:r>
              <a:rPr sz="1900" b="0">
                <a:solidFill>
                  <a:srgbClr val="1A5C8A"/>
                </a:solidFill>
              </a:rPr>
              <a:t>They can copy a file, change the copy, and send it to your downloads folder.</a:t>
            </a:r>
          </a:p>
          <a:p>
            <a:pPr marL="457200" lvl="1" indent="-228600">
              <a:spcBef>
                <a:spcPts val="200"/>
              </a:spcBef>
              <a:spcAft>
                <a:spcPts val="1400"/>
              </a:spcAft>
              <a:buFont typeface="Arial" pitchFamily="34" charset="0"/>
              <a:buChar char="●"/>
            </a:pPr>
            <a:r>
              <a:rPr sz="1900" b="0">
                <a:solidFill>
                  <a:srgbClr val="1A5C8A"/>
                </a:solidFill>
              </a:rPr>
              <a:t>To work on several files at once, put them in a zip file and attach it to the prompt.</a:t>
            </a:r>
          </a:p>
          <a:p>
            <a:pPr>
              <a:spcBef>
                <a:spcPts val="2800"/>
              </a:spcBef>
              <a:spcAft>
                <a:spcPts val="600"/>
              </a:spcAft>
            </a:pPr>
            <a:r>
              <a:rPr sz="2100" b="0">
                <a:solidFill>
                  <a:srgbClr val="0B1D2E"/>
                </a:solidFill>
              </a:rPr>
              <a:t>Those limits protect you. They also explain the next two pages.</a:t>
            </a:r>
          </a:p>
          <a:p>
            <a:pPr>
              <a:spcBef>
                <a:spcPts val="2800"/>
              </a:spcBef>
              <a:spcAft>
                <a:spcPts val="600"/>
              </a:spcAft>
            </a:pPr>
            <a:r>
              <a:rPr sz="2100" b="1">
                <a:solidFill>
                  <a:srgbClr val="0B1D2E"/>
                </a:solidFill>
              </a:rPr>
              <a:t>Chat Bots are effective for question and answer conversations.</a:t>
            </a:r>
          </a:p>
          <a:p>
            <a:pPr>
              <a:spcBef>
                <a:spcPts val="2800"/>
              </a:spcBef>
              <a:spcAft>
                <a:spcPts val="600"/>
              </a:spcAft>
            </a:pPr>
            <a:r>
              <a:rPr sz="2100" b="0">
                <a:solidFill>
                  <a:srgbClr val="0B1D2E"/>
                </a:solidFill>
              </a:rPr>
              <a:t>They are awkward for creating multipage presentations and other multi-file 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14. The Command Line Interface</a:t>
            </a:r>
          </a:p>
        </p:txBody>
      </p:sp>
      <p:sp>
        <p:nvSpPr>
          <p:cNvPr id="3" name="TextBox 2"/>
          <p:cNvSpPr txBox="1"/>
          <p:nvPr/>
        </p:nvSpPr>
        <p:spPr>
          <a:xfrm>
            <a:off x="731520" y="1188720"/>
            <a:ext cx="10728655" cy="5120640"/>
          </a:xfrm>
          <a:prstGeom prst="rect">
            <a:avLst/>
          </a:prstGeom>
          <a:noFill/>
        </p:spPr>
        <p:txBody>
          <a:bodyPr wrap="square">
            <a:spAutoFit/>
          </a:bodyPr>
          <a:lstStyle/>
          <a:p>
            <a:pPr>
              <a:spcBef>
                <a:spcPts val="600"/>
              </a:spcBef>
              <a:spcAft>
                <a:spcPts val="1000"/>
              </a:spcAft>
            </a:pPr>
            <a:r>
              <a:rPr sz="1800" b="0">
                <a:solidFill>
                  <a:srgbClr val="0B1D2E"/>
                </a:solidFill>
              </a:rPr>
              <a:t>A terminal window replaces the browser. The user downloads the CLI from OpenAI or Anthropic.</a:t>
            </a:r>
          </a:p>
        </p:txBody>
      </p:sp>
      <p:pic>
        <p:nvPicPr>
          <p:cNvPr id="4" name="Picture 3" descr="LLM Command-Line Workflow Infographic.png"/>
          <p:cNvPicPr>
            <a:picLocks noChangeAspect="1"/>
          </p:cNvPicPr>
          <p:nvPr/>
        </p:nvPicPr>
        <p:blipFill>
          <a:blip r:embed="rId3"/>
          <a:stretch>
            <a:fillRect/>
          </a:stretch>
        </p:blipFill>
        <p:spPr>
          <a:xfrm>
            <a:off x="1249680" y="1828800"/>
            <a:ext cx="9692640" cy="48463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15. What the CLI Adds, and What It Risks</a:t>
            </a:r>
          </a:p>
        </p:txBody>
      </p:sp>
      <p:sp>
        <p:nvSpPr>
          <p:cNvPr id="3" name="TextBox 2"/>
          <p:cNvSpPr txBox="1"/>
          <p:nvPr/>
        </p:nvSpPr>
        <p:spPr>
          <a:xfrm>
            <a:off x="731520" y="1371600"/>
            <a:ext cx="10728655" cy="3452227"/>
          </a:xfrm>
          <a:prstGeom prst="rect">
            <a:avLst/>
          </a:prstGeom>
          <a:noFill/>
        </p:spPr>
        <p:txBody>
          <a:bodyPr wrap="square">
            <a:spAutoFit/>
          </a:bodyPr>
          <a:lstStyle/>
          <a:p>
            <a:pPr>
              <a:spcBef>
                <a:spcPts val="2600"/>
              </a:spcBef>
              <a:spcAft>
                <a:spcPts val="800"/>
              </a:spcAft>
            </a:pPr>
            <a:r>
              <a:rPr sz="2100" b="0" dirty="0">
                <a:solidFill>
                  <a:srgbClr val="0B1D2E"/>
                </a:solidFill>
              </a:rPr>
              <a:t>Unlike a browser, the </a:t>
            </a:r>
            <a:r>
              <a:rPr sz="2100" b="1" dirty="0">
                <a:solidFill>
                  <a:srgbClr val="0B1D2E"/>
                </a:solidFill>
              </a:rPr>
              <a:t>CLI can read, edit, and delete files </a:t>
            </a:r>
            <a:r>
              <a:rPr sz="2100" b="0" dirty="0">
                <a:solidFill>
                  <a:srgbClr val="0B1D2E"/>
                </a:solidFill>
              </a:rPr>
              <a:t>on your computer.</a:t>
            </a:r>
          </a:p>
          <a:p>
            <a:pPr>
              <a:spcBef>
                <a:spcPts val="2600"/>
              </a:spcBef>
              <a:spcAft>
                <a:spcPts val="800"/>
              </a:spcAft>
            </a:pPr>
            <a:r>
              <a:rPr sz="2100" b="0" dirty="0">
                <a:solidFill>
                  <a:srgbClr val="0B1D2E"/>
                </a:solidFill>
              </a:rPr>
              <a:t>People use it to build presentations and to write or assist in writing books.</a:t>
            </a:r>
          </a:p>
          <a:p>
            <a:pPr>
              <a:spcBef>
                <a:spcPts val="2600"/>
              </a:spcBef>
              <a:spcAft>
                <a:spcPts val="800"/>
              </a:spcAft>
            </a:pPr>
            <a:r>
              <a:rPr sz="2100" b="1" dirty="0">
                <a:solidFill>
                  <a:srgbClr val="0B1D2E"/>
                </a:solidFill>
              </a:rPr>
              <a:t>The old rule applies: garbage in</a:t>
            </a:r>
            <a:r>
              <a:rPr lang="en-US" sz="2100" b="1" dirty="0">
                <a:solidFill>
                  <a:srgbClr val="0B1D2E"/>
                </a:solidFill>
              </a:rPr>
              <a:t> =&gt;</a:t>
            </a:r>
            <a:r>
              <a:rPr sz="2100" b="1" dirty="0">
                <a:solidFill>
                  <a:srgbClr val="0B1D2E"/>
                </a:solidFill>
              </a:rPr>
              <a:t> garbage out. The industry calls the result AI slop.</a:t>
            </a:r>
          </a:p>
          <a:p>
            <a:pPr>
              <a:spcBef>
                <a:spcPts val="2600"/>
              </a:spcBef>
              <a:spcAft>
                <a:spcPts val="800"/>
              </a:spcAft>
            </a:pPr>
            <a:r>
              <a:rPr sz="2100" b="0" dirty="0">
                <a:solidFill>
                  <a:srgbClr val="0B1D2E"/>
                </a:solidFill>
              </a:rPr>
              <a:t>Assistance works when the person supplies the structure, the ideas, and the editing.</a:t>
            </a:r>
          </a:p>
          <a:p>
            <a:pPr>
              <a:spcBef>
                <a:spcPts val="2600"/>
              </a:spcBef>
              <a:spcAft>
                <a:spcPts val="800"/>
              </a:spcAft>
            </a:pPr>
            <a:r>
              <a:rPr sz="2100" b="1" dirty="0">
                <a:solidFill>
                  <a:srgbClr val="0B1D2E"/>
                </a:solidFill>
              </a:rPr>
              <a:t>This presentation was built with a lot of assistance from the Claude Code CLI.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16. Autonomous AI Agents</a:t>
            </a:r>
          </a:p>
        </p:txBody>
      </p:sp>
      <p:sp>
        <p:nvSpPr>
          <p:cNvPr id="3" name="TextBox 2"/>
          <p:cNvSpPr txBox="1"/>
          <p:nvPr/>
        </p:nvSpPr>
        <p:spPr>
          <a:xfrm>
            <a:off x="731520" y="1188720"/>
            <a:ext cx="10728655" cy="5120640"/>
          </a:xfrm>
          <a:prstGeom prst="rect">
            <a:avLst/>
          </a:prstGeom>
          <a:noFill/>
        </p:spPr>
        <p:txBody>
          <a:bodyPr wrap="square">
            <a:spAutoFit/>
          </a:bodyPr>
          <a:lstStyle/>
          <a:p>
            <a:pPr>
              <a:spcBef>
                <a:spcPts val="600"/>
              </a:spcBef>
              <a:spcAft>
                <a:spcPts val="1000"/>
              </a:spcAft>
            </a:pPr>
            <a:r>
              <a:rPr sz="1800" b="0">
                <a:solidFill>
                  <a:srgbClr val="0B1D2E"/>
                </a:solidFill>
              </a:rPr>
              <a:t>An agent runs on its own from a starting prompt until it reaches a goal you set.</a:t>
            </a:r>
          </a:p>
        </p:txBody>
      </p:sp>
      <p:pic>
        <p:nvPicPr>
          <p:cNvPr id="4" name="Picture 3" descr="LLM AI Agent Architecture Diagram.png"/>
          <p:cNvPicPr>
            <a:picLocks noChangeAspect="1"/>
          </p:cNvPicPr>
          <p:nvPr/>
        </p:nvPicPr>
        <p:blipFill>
          <a:blip r:embed="rId3"/>
          <a:stretch>
            <a:fillRect/>
          </a:stretch>
        </p:blipFill>
        <p:spPr>
          <a:xfrm>
            <a:off x="2461260" y="1828800"/>
            <a:ext cx="7269480" cy="48463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17. Agents: The Good, the Bad, and the Dangerous</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200"/>
              </a:spcBef>
              <a:spcAft>
                <a:spcPts val="400"/>
              </a:spcAft>
            </a:pPr>
            <a:r>
              <a:rPr sz="2000" b="1">
                <a:solidFill>
                  <a:srgbClr val="0B1D2E"/>
                </a:solidFill>
              </a:rPr>
              <a:t>Good news</a:t>
            </a:r>
          </a:p>
          <a:p>
            <a:pPr marL="457200" lvl="1" indent="-228600">
              <a:spcBef>
                <a:spcPts val="200"/>
              </a:spcBef>
              <a:spcAft>
                <a:spcPts val="1000"/>
              </a:spcAft>
              <a:buFont typeface="Arial" pitchFamily="34" charset="0"/>
              <a:buChar char="●"/>
            </a:pPr>
            <a:r>
              <a:rPr sz="1900" b="0">
                <a:solidFill>
                  <a:srgbClr val="1A5C8A"/>
                </a:solidFill>
              </a:rPr>
              <a:t>When an agent runs well, a lot gets done without your attention.</a:t>
            </a:r>
          </a:p>
          <a:p>
            <a:pPr>
              <a:spcBef>
                <a:spcPts val="2200"/>
              </a:spcBef>
              <a:spcAft>
                <a:spcPts val="400"/>
              </a:spcAft>
            </a:pPr>
            <a:r>
              <a:rPr sz="2000" b="1">
                <a:solidFill>
                  <a:srgbClr val="0B1D2E"/>
                </a:solidFill>
              </a:rPr>
              <a:t>Bad news</a:t>
            </a:r>
          </a:p>
          <a:p>
            <a:pPr marL="457200" lvl="1" indent="-228600">
              <a:spcBef>
                <a:spcPts val="200"/>
              </a:spcBef>
              <a:spcAft>
                <a:spcPts val="1000"/>
              </a:spcAft>
              <a:buFont typeface="Arial" pitchFamily="34" charset="0"/>
              <a:buChar char="●"/>
            </a:pPr>
            <a:r>
              <a:rPr sz="1900" b="0">
                <a:solidFill>
                  <a:srgbClr val="1A5C8A"/>
                </a:solidFill>
              </a:rPr>
              <a:t>A misdirected agent produces junk and deletes good content.</a:t>
            </a:r>
          </a:p>
          <a:p>
            <a:pPr marL="457200" lvl="1" indent="-228600">
              <a:spcBef>
                <a:spcPts val="200"/>
              </a:spcBef>
              <a:spcAft>
                <a:spcPts val="1000"/>
              </a:spcAft>
              <a:buFont typeface="Arial" pitchFamily="34" charset="0"/>
              <a:buChar char="●"/>
            </a:pPr>
            <a:r>
              <a:rPr sz="1900" b="0">
                <a:solidFill>
                  <a:srgbClr val="1A5C8A"/>
                </a:solidFill>
              </a:rPr>
              <a:t>Much of what it does rests on meaning it inferred from your request, so the error is hard to prevent.</a:t>
            </a:r>
          </a:p>
          <a:p>
            <a:pPr marL="457200" lvl="1" indent="-228600">
              <a:spcBef>
                <a:spcPts val="200"/>
              </a:spcBef>
              <a:spcAft>
                <a:spcPts val="1000"/>
              </a:spcAft>
              <a:buFont typeface="Arial" pitchFamily="34" charset="0"/>
              <a:buChar char="●"/>
            </a:pPr>
            <a:r>
              <a:rPr sz="1900" b="0">
                <a:solidFill>
                  <a:srgbClr val="1A5C8A"/>
                </a:solidFill>
              </a:rPr>
              <a:t>Developers test in a sandbox, meaning an isolated copy, and deploy only once it works.</a:t>
            </a:r>
          </a:p>
          <a:p>
            <a:pPr>
              <a:spcBef>
                <a:spcPts val="2200"/>
              </a:spcBef>
              <a:spcAft>
                <a:spcPts val="400"/>
              </a:spcAft>
            </a:pPr>
            <a:r>
              <a:rPr sz="2000" b="1">
                <a:solidFill>
                  <a:srgbClr val="0B1D2E"/>
                </a:solidFill>
              </a:rPr>
              <a:t>Really bad news</a:t>
            </a:r>
          </a:p>
          <a:p>
            <a:pPr marL="457200" lvl="1" indent="-228600">
              <a:spcBef>
                <a:spcPts val="200"/>
              </a:spcBef>
              <a:spcAft>
                <a:spcPts val="1000"/>
              </a:spcAft>
              <a:buFont typeface="Arial" pitchFamily="34" charset="0"/>
              <a:buChar char="●"/>
            </a:pPr>
            <a:r>
              <a:rPr sz="1900" b="0">
                <a:solidFill>
                  <a:srgbClr val="1A5C8A"/>
                </a:solidFill>
              </a:rPr>
              <a:t>Bad actors run swarms of agents against banking security and infrastructure controls, and post misinformation at scale.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gn="l"/>
            <a:r>
              <a:rPr sz="3000" b="1">
                <a:solidFill>
                  <a:srgbClr val="EAF6FD"/>
                </a:solidFill>
              </a:rPr>
              <a:t>18. Compare Chat Bot, CLI, and Agent</a:t>
            </a:r>
          </a:p>
        </p:txBody>
      </p:sp>
      <p:pic>
        <p:nvPicPr>
          <p:cNvPr id="3" name="Picture 2" descr="image.png"/>
          <p:cNvPicPr>
            <a:picLocks noChangeAspect="1"/>
          </p:cNvPicPr>
          <p:nvPr/>
        </p:nvPicPr>
        <p:blipFill>
          <a:blip r:embed="rId3"/>
          <a:stretch>
            <a:fillRect/>
          </a:stretch>
        </p:blipFill>
        <p:spPr>
          <a:xfrm>
            <a:off x="640080" y="1188720"/>
            <a:ext cx="2834640" cy="1889760"/>
          </a:xfrm>
          <a:prstGeom prst="rect">
            <a:avLst/>
          </a:prstGeom>
        </p:spPr>
      </p:pic>
      <p:sp>
        <p:nvSpPr>
          <p:cNvPr id="4" name="TextBox 3"/>
          <p:cNvSpPr txBox="1"/>
          <p:nvPr/>
        </p:nvSpPr>
        <p:spPr>
          <a:xfrm>
            <a:off x="3931920" y="1188720"/>
            <a:ext cx="7711441" cy="1889760"/>
          </a:xfrm>
          <a:prstGeom prst="rect">
            <a:avLst/>
          </a:prstGeom>
          <a:noFill/>
        </p:spPr>
        <p:txBody>
          <a:bodyPr wrap="square" anchor="ctr">
            <a:spAutoFit/>
          </a:bodyPr>
          <a:lstStyle/>
          <a:p>
            <a:pPr>
              <a:spcAft>
                <a:spcPts val="1000"/>
              </a:spcAft>
            </a:pPr>
            <a:r>
              <a:rPr sz="2200">
                <a:solidFill>
                  <a:srgbClr val="0B1D2E"/>
                </a:solidFill>
              </a:rPr>
              <a:t>Works well for question-answer conversations.</a:t>
            </a:r>
          </a:p>
          <a:p>
            <a:pPr>
              <a:spcAft>
                <a:spcPts val="1000"/>
              </a:spcAft>
            </a:pPr>
            <a:r>
              <a:rPr sz="2200">
                <a:solidFill>
                  <a:srgbClr val="0B1D2E"/>
                </a:solidFill>
              </a:rPr>
              <a:t>Awkward for handling multiple files.</a:t>
            </a:r>
          </a:p>
        </p:txBody>
      </p:sp>
      <p:pic>
        <p:nvPicPr>
          <p:cNvPr id="5" name="Picture 4" descr="image.png"/>
          <p:cNvPicPr>
            <a:picLocks noChangeAspect="1"/>
          </p:cNvPicPr>
          <p:nvPr/>
        </p:nvPicPr>
        <p:blipFill>
          <a:blip r:embed="rId4"/>
          <a:stretch>
            <a:fillRect/>
          </a:stretch>
        </p:blipFill>
        <p:spPr>
          <a:xfrm>
            <a:off x="640080" y="3243072"/>
            <a:ext cx="2834640" cy="1417320"/>
          </a:xfrm>
          <a:prstGeom prst="rect">
            <a:avLst/>
          </a:prstGeom>
        </p:spPr>
      </p:pic>
      <p:sp>
        <p:nvSpPr>
          <p:cNvPr id="6" name="TextBox 5"/>
          <p:cNvSpPr txBox="1"/>
          <p:nvPr/>
        </p:nvSpPr>
        <p:spPr>
          <a:xfrm>
            <a:off x="3931920" y="3243072"/>
            <a:ext cx="7711441" cy="1417320"/>
          </a:xfrm>
          <a:prstGeom prst="rect">
            <a:avLst/>
          </a:prstGeom>
          <a:noFill/>
        </p:spPr>
        <p:txBody>
          <a:bodyPr wrap="square" anchor="ctr">
            <a:spAutoFit/>
          </a:bodyPr>
          <a:lstStyle/>
          <a:p>
            <a:pPr>
              <a:spcAft>
                <a:spcPts val="1000"/>
              </a:spcAft>
            </a:pPr>
            <a:r>
              <a:rPr sz="2200">
                <a:solidFill>
                  <a:srgbClr val="0B1D2E"/>
                </a:solidFill>
              </a:rPr>
              <a:t>Works well with user guided development of multi-file projects.</a:t>
            </a:r>
          </a:p>
        </p:txBody>
      </p:sp>
      <p:pic>
        <p:nvPicPr>
          <p:cNvPr id="7" name="Picture 6" descr="image.png"/>
          <p:cNvPicPr>
            <a:picLocks noChangeAspect="1"/>
          </p:cNvPicPr>
          <p:nvPr/>
        </p:nvPicPr>
        <p:blipFill>
          <a:blip r:embed="rId5"/>
          <a:stretch>
            <a:fillRect/>
          </a:stretch>
        </p:blipFill>
        <p:spPr>
          <a:xfrm>
            <a:off x="640080" y="4824984"/>
            <a:ext cx="2834640" cy="1889760"/>
          </a:xfrm>
          <a:prstGeom prst="rect">
            <a:avLst/>
          </a:prstGeom>
        </p:spPr>
      </p:pic>
      <p:sp>
        <p:nvSpPr>
          <p:cNvPr id="8" name="TextBox 7"/>
          <p:cNvSpPr txBox="1"/>
          <p:nvPr/>
        </p:nvSpPr>
        <p:spPr>
          <a:xfrm>
            <a:off x="3931920" y="4824984"/>
            <a:ext cx="7711441" cy="1889760"/>
          </a:xfrm>
          <a:prstGeom prst="rect">
            <a:avLst/>
          </a:prstGeom>
          <a:noFill/>
        </p:spPr>
        <p:txBody>
          <a:bodyPr wrap="square" anchor="ctr">
            <a:spAutoFit/>
          </a:bodyPr>
          <a:lstStyle/>
          <a:p>
            <a:pPr>
              <a:spcAft>
                <a:spcPts val="1000"/>
              </a:spcAft>
            </a:pPr>
            <a:r>
              <a:rPr sz="2200">
                <a:solidFill>
                  <a:srgbClr val="0B1D2E"/>
                </a:solidFill>
              </a:rPr>
              <a:t>Runs autonomously on complex tasks.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19. AI </a:t>
            </a:r>
            <a:r>
              <a:rPr sz="3000" b="1">
                <a:solidFill>
                  <a:srgbClr val="FFC24B"/>
                </a:solidFill>
              </a:rPr>
              <a:t>Benefits</a:t>
            </a:r>
            <a:r>
              <a:rPr sz="3000" b="1">
                <a:solidFill>
                  <a:srgbClr val="EAF6FD"/>
                </a:solidFill>
              </a:rPr>
              <a:t>: Where the Gains Show Up</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3600"/>
              </a:spcBef>
              <a:spcAft>
                <a:spcPts val="800"/>
              </a:spcAft>
            </a:pPr>
            <a:r>
              <a:rPr sz="2200" b="0">
                <a:solidFill>
                  <a:srgbClr val="0B1D2E"/>
                </a:solidFill>
              </a:rPr>
              <a:t>The source document (in Slide 6 References) sorts the gains into seven areas.</a:t>
            </a:r>
          </a:p>
          <a:p>
            <a:pPr>
              <a:spcBef>
                <a:spcPts val="3600"/>
              </a:spcBef>
              <a:spcAft>
                <a:spcPts val="800"/>
              </a:spcAft>
            </a:pPr>
            <a:r>
              <a:rPr sz="2200" b="1">
                <a:solidFill>
                  <a:srgbClr val="0B1D2E"/>
                </a:solidFill>
              </a:rPr>
              <a:t>One pattern runs through all seven:</a:t>
            </a:r>
          </a:p>
          <a:p>
            <a:pPr marL="457200" lvl="1" indent="-228600">
              <a:spcBef>
                <a:spcPts val="400"/>
              </a:spcBef>
              <a:spcAft>
                <a:spcPts val="1800"/>
              </a:spcAft>
              <a:buFont typeface="Arial" pitchFamily="34" charset="0"/>
              <a:buChar char="●"/>
            </a:pPr>
            <a:r>
              <a:rPr sz="1900" b="0">
                <a:solidFill>
                  <a:srgbClr val="1A5C8A"/>
                </a:solidFill>
              </a:rPr>
              <a:t>The model supplies, at low cost and on demand, help that used to require a person's time.</a:t>
            </a:r>
          </a:p>
          <a:p>
            <a:pPr marL="457200" lvl="1" indent="-228600">
              <a:spcBef>
                <a:spcPts val="400"/>
              </a:spcBef>
              <a:spcAft>
                <a:spcPts val="1800"/>
              </a:spcAft>
              <a:buFont typeface="Arial" pitchFamily="34" charset="0"/>
              <a:buChar char="●"/>
            </a:pPr>
            <a:r>
              <a:rPr sz="1900" b="0">
                <a:solidFill>
                  <a:srgbClr val="1A5C8A"/>
                </a:solidFill>
              </a:rPr>
              <a:t>A tutor, a translator, a clerk, a first-draft writer.</a:t>
            </a:r>
          </a:p>
          <a:p>
            <a:pPr>
              <a:spcBef>
                <a:spcPts val="3600"/>
              </a:spcBef>
              <a:spcAft>
                <a:spcPts val="800"/>
              </a:spcAft>
            </a:pPr>
            <a:r>
              <a:rPr sz="2200" b="1">
                <a:solidFill>
                  <a:srgbClr val="0B1D2E"/>
                </a:solidFill>
              </a:rPr>
              <a:t>Where that help was already scarce, the gain is largest.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20. Seven Areas of Gain (1 of 2)</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000"/>
              </a:spcBef>
              <a:spcAft>
                <a:spcPts val="400"/>
              </a:spcAft>
            </a:pPr>
            <a:r>
              <a:rPr sz="2000" b="1">
                <a:solidFill>
                  <a:srgbClr val="0B1D2E"/>
                </a:solidFill>
              </a:rPr>
              <a:t>Education and knowledge access</a:t>
            </a:r>
          </a:p>
          <a:p>
            <a:pPr marL="457200" lvl="1" indent="-228600">
              <a:spcBef>
                <a:spcPts val="200"/>
              </a:spcBef>
              <a:spcAft>
                <a:spcPts val="1000"/>
              </a:spcAft>
              <a:buFont typeface="Arial" pitchFamily="34" charset="0"/>
              <a:buChar char="●"/>
            </a:pPr>
            <a:r>
              <a:rPr sz="1900" b="0">
                <a:solidFill>
                  <a:srgbClr val="1A5C8A"/>
                </a:solidFill>
              </a:rPr>
              <a:t>Tutoring at any hour reaches students where teachers are scarce, in hundreds of languages, at each learner's pace.</a:t>
            </a:r>
          </a:p>
          <a:p>
            <a:pPr>
              <a:spcBef>
                <a:spcPts val="2000"/>
              </a:spcBef>
              <a:spcAft>
                <a:spcPts val="400"/>
              </a:spcAft>
            </a:pPr>
            <a:r>
              <a:rPr sz="2000" b="1">
                <a:solidFill>
                  <a:srgbClr val="0B1D2E"/>
                </a:solidFill>
              </a:rPr>
              <a:t>Healthcare</a:t>
            </a:r>
          </a:p>
          <a:p>
            <a:pPr marL="457200" lvl="1" indent="-228600">
              <a:spcBef>
                <a:spcPts val="200"/>
              </a:spcBef>
              <a:spcAft>
                <a:spcPts val="1000"/>
              </a:spcAft>
              <a:buFont typeface="Arial" pitchFamily="34" charset="0"/>
              <a:buChar char="●"/>
            </a:pPr>
            <a:r>
              <a:rPr sz="1900" b="0">
                <a:solidFill>
                  <a:srgbClr val="1A5C8A"/>
                </a:solidFill>
              </a:rPr>
              <a:t>Drafting and summarizing return clinician time to patients, and restate instructions in plain language.</a:t>
            </a:r>
          </a:p>
          <a:p>
            <a:pPr>
              <a:spcBef>
                <a:spcPts val="2000"/>
              </a:spcBef>
              <a:spcAft>
                <a:spcPts val="400"/>
              </a:spcAft>
            </a:pPr>
            <a:r>
              <a:rPr sz="2000" b="1">
                <a:solidFill>
                  <a:srgbClr val="0B1D2E"/>
                </a:solidFill>
              </a:rPr>
              <a:t>Economic opportunity</a:t>
            </a:r>
          </a:p>
          <a:p>
            <a:pPr marL="457200" lvl="1" indent="-228600">
              <a:spcBef>
                <a:spcPts val="200"/>
              </a:spcBef>
              <a:spcAft>
                <a:spcPts val="1000"/>
              </a:spcAft>
              <a:buFont typeface="Arial" pitchFamily="34" charset="0"/>
              <a:buChar char="●"/>
            </a:pPr>
            <a:r>
              <a:rPr sz="1900" b="0">
                <a:solidFill>
                  <a:srgbClr val="1A5C8A"/>
                </a:solidFill>
              </a:rPr>
              <a:t>A solo operator gets marketing copy, bookkeeping, and customer answers that once required a hire.</a:t>
            </a:r>
          </a:p>
          <a:p>
            <a:pPr>
              <a:spcBef>
                <a:spcPts val="2000"/>
              </a:spcBef>
              <a:spcAft>
                <a:spcPts val="400"/>
              </a:spcAft>
            </a:pPr>
            <a:r>
              <a:rPr sz="2000" b="1">
                <a:solidFill>
                  <a:srgbClr val="0B1D2E"/>
                </a:solidFill>
              </a:rPr>
              <a:t>Science and research</a:t>
            </a:r>
          </a:p>
          <a:p>
            <a:pPr marL="457200" lvl="1" indent="-228600">
              <a:spcBef>
                <a:spcPts val="200"/>
              </a:spcBef>
              <a:spcAft>
                <a:spcPts val="1000"/>
              </a:spcAft>
              <a:buFont typeface="Arial" pitchFamily="34" charset="0"/>
              <a:buChar char="●"/>
            </a:pPr>
            <a:r>
              <a:rPr sz="1900" b="0">
                <a:solidFill>
                  <a:srgbClr val="1A5C8A"/>
                </a:solidFill>
              </a:rPr>
              <a:t>Literature review and routine code move faster, and the model translates the jargon between fields.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21. Seven Areas of Gain (2 of 2)</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2100"/>
              </a:spcBef>
              <a:spcAft>
                <a:spcPts val="500"/>
              </a:spcAft>
            </a:pPr>
            <a:r>
              <a:rPr sz="2000" b="1">
                <a:solidFill>
                  <a:srgbClr val="0B1D2E"/>
                </a:solidFill>
              </a:rPr>
              <a:t>Inclusion and accessibility</a:t>
            </a:r>
          </a:p>
          <a:p>
            <a:pPr marL="457200" lvl="1" indent="-228600">
              <a:spcBef>
                <a:spcPts val="200"/>
              </a:spcBef>
              <a:spcAft>
                <a:spcPts val="1100"/>
              </a:spcAft>
              <a:buFont typeface="Arial" pitchFamily="34" charset="0"/>
              <a:buChar char="●"/>
            </a:pPr>
            <a:r>
              <a:rPr sz="2000" b="0">
                <a:solidFill>
                  <a:srgbClr val="1A5C8A"/>
                </a:solidFill>
              </a:rPr>
              <a:t>People with disabilities read, write, and navigate with less friction. Legal basics, tax forms, and government paperwork reach people who cannot pay professional fees.</a:t>
            </a:r>
          </a:p>
          <a:p>
            <a:pPr>
              <a:spcBef>
                <a:spcPts val="2100"/>
              </a:spcBef>
              <a:spcAft>
                <a:spcPts val="500"/>
              </a:spcAft>
            </a:pPr>
            <a:r>
              <a:rPr sz="2000" b="1">
                <a:solidFill>
                  <a:srgbClr val="0B1D2E"/>
                </a:solidFill>
              </a:rPr>
              <a:t>Public services and crisis response</a:t>
            </a:r>
          </a:p>
          <a:p>
            <a:pPr marL="457200" lvl="1" indent="-228600">
              <a:spcBef>
                <a:spcPts val="200"/>
              </a:spcBef>
              <a:spcAft>
                <a:spcPts val="1100"/>
              </a:spcAft>
              <a:buFont typeface="Arial" pitchFamily="34" charset="0"/>
              <a:buChar char="●"/>
            </a:pPr>
            <a:r>
              <a:rPr sz="2000" b="0">
                <a:solidFill>
                  <a:srgbClr val="1A5C8A"/>
                </a:solidFill>
              </a:rPr>
              <a:t>Agencies simplify public information, and responders summarize reports across languages while the situation moves.</a:t>
            </a:r>
          </a:p>
          <a:p>
            <a:pPr>
              <a:spcBef>
                <a:spcPts val="2100"/>
              </a:spcBef>
              <a:spcAft>
                <a:spcPts val="500"/>
              </a:spcAft>
            </a:pPr>
            <a:r>
              <a:rPr sz="2000" b="1">
                <a:solidFill>
                  <a:srgbClr val="0B1D2E"/>
                </a:solidFill>
              </a:rPr>
              <a:t>Language and culture</a:t>
            </a:r>
          </a:p>
          <a:p>
            <a:pPr marL="457200" lvl="1" indent="-228600">
              <a:spcBef>
                <a:spcPts val="200"/>
              </a:spcBef>
              <a:spcAft>
                <a:spcPts val="1100"/>
              </a:spcAft>
              <a:buFont typeface="Arial" pitchFamily="34" charset="0"/>
              <a:buChar char="●"/>
            </a:pPr>
            <a:r>
              <a:rPr sz="2000" b="0">
                <a:solidFill>
                  <a:srgbClr val="1A5C8A"/>
                </a:solidFill>
              </a:rPr>
              <a:t>Communities document endangered languages, and creative work reaches readers in languages it was never published in.</a:t>
            </a:r>
          </a:p>
          <a:p>
            <a:pPr>
              <a:spcBef>
                <a:spcPts val="2100"/>
              </a:spcBef>
              <a:spcAft>
                <a:spcPts val="500"/>
              </a:spcAft>
            </a:pPr>
            <a:r>
              <a:rPr sz="2000" b="1">
                <a:solidFill>
                  <a:srgbClr val="0B1D2E"/>
                </a:solidFill>
              </a:rPr>
              <a:t>What the gains depend on: access, accuracy safeguards, and deployment choices.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22. AI </a:t>
            </a:r>
            <a:r>
              <a:rPr sz="3000" b="1">
                <a:solidFill>
                  <a:srgbClr val="FFC24B"/>
                </a:solidFill>
              </a:rPr>
              <a:t>Liabilities</a:t>
            </a:r>
            <a:r>
              <a:rPr sz="3000" b="1">
                <a:solidFill>
                  <a:srgbClr val="EAF6FD"/>
                </a:solidFill>
              </a:rPr>
              <a:t>: Where the Damage Lands</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3600"/>
              </a:spcBef>
              <a:spcAft>
                <a:spcPts val="800"/>
              </a:spcAft>
            </a:pPr>
            <a:r>
              <a:rPr sz="2200" b="0">
                <a:solidFill>
                  <a:srgbClr val="0B1D2E"/>
                </a:solidFill>
              </a:rPr>
              <a:t>The companion document (in Slide 6 References) sorts the liabilities into eight areas.</a:t>
            </a:r>
          </a:p>
          <a:p>
            <a:pPr>
              <a:spcBef>
                <a:spcPts val="3600"/>
              </a:spcBef>
              <a:spcAft>
                <a:spcPts val="800"/>
              </a:spcAft>
            </a:pPr>
            <a:r>
              <a:rPr sz="2200" b="1">
                <a:solidFill>
                  <a:srgbClr val="0B1D2E"/>
                </a:solidFill>
              </a:rPr>
              <a:t>One pattern runs through all eight:</a:t>
            </a:r>
          </a:p>
          <a:p>
            <a:pPr marL="457200" lvl="1" indent="-228600">
              <a:spcBef>
                <a:spcPts val="400"/>
              </a:spcBef>
              <a:spcAft>
                <a:spcPts val="1800"/>
              </a:spcAft>
              <a:buFont typeface="Arial" pitchFamily="34" charset="0"/>
              <a:buChar char="●"/>
            </a:pPr>
            <a:r>
              <a:rPr sz="2000" b="0">
                <a:solidFill>
                  <a:srgbClr val="1A5C8A"/>
                </a:solidFill>
              </a:rPr>
              <a:t>The same low cost that puts a tutor in everyone's hands puts a forger, a scammer, and a confident wrong answer there.</a:t>
            </a:r>
          </a:p>
          <a:p>
            <a:pPr>
              <a:spcBef>
                <a:spcPts val="3600"/>
              </a:spcBef>
              <a:spcAft>
                <a:spcPts val="800"/>
              </a:spcAft>
            </a:pPr>
            <a:r>
              <a:rPr sz="2200" b="1">
                <a:solidFill>
                  <a:srgbClr val="0B1D2E"/>
                </a:solidFill>
              </a:rPr>
              <a:t>Scale cuts both ways.</a:t>
            </a:r>
          </a:p>
          <a:p>
            <a:pPr>
              <a:spcBef>
                <a:spcPts val="3600"/>
              </a:spcBef>
              <a:spcAft>
                <a:spcPts val="800"/>
              </a:spcAft>
            </a:pPr>
            <a:r>
              <a:rPr sz="2200" b="1">
                <a:solidFill>
                  <a:srgbClr val="0B1D2E"/>
                </a:solidFill>
              </a:rPr>
              <a:t>The people who absorb the damage are rarely the people who chose to deploy the model.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23. Eight Areas of Liability (1 of 2)</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1700"/>
              </a:spcBef>
              <a:spcAft>
                <a:spcPts val="400"/>
              </a:spcAft>
            </a:pPr>
            <a:r>
              <a:rPr sz="1900" b="1">
                <a:solidFill>
                  <a:srgbClr val="0B1D2E"/>
                </a:solidFill>
              </a:rPr>
              <a:t>Security and misuse</a:t>
            </a:r>
          </a:p>
          <a:p>
            <a:pPr marL="457200" lvl="1" indent="-228600">
              <a:spcBef>
                <a:spcPts val="200"/>
              </a:spcBef>
              <a:spcAft>
                <a:spcPts val="800"/>
              </a:spcAft>
              <a:buFont typeface="Arial" pitchFamily="34" charset="0"/>
              <a:buChar char="●"/>
            </a:pPr>
            <a:r>
              <a:rPr sz="2000" b="0">
                <a:solidFill>
                  <a:srgbClr val="1A5C8A"/>
                </a:solidFill>
              </a:rPr>
              <a:t>Personalized phishing and fraud scale up, and mounting an attack demands less skill than it did.</a:t>
            </a:r>
          </a:p>
          <a:p>
            <a:pPr>
              <a:spcBef>
                <a:spcPts val="1700"/>
              </a:spcBef>
              <a:spcAft>
                <a:spcPts val="400"/>
              </a:spcAft>
            </a:pPr>
            <a:r>
              <a:rPr sz="1900" b="1">
                <a:solidFill>
                  <a:srgbClr val="0B1D2E"/>
                </a:solidFill>
              </a:rPr>
              <a:t>Environmental and resource costs</a:t>
            </a:r>
          </a:p>
          <a:p>
            <a:pPr marL="457200" lvl="1" indent="-228600">
              <a:spcBef>
                <a:spcPts val="200"/>
              </a:spcBef>
              <a:spcAft>
                <a:spcPts val="800"/>
              </a:spcAft>
              <a:buFont typeface="Arial" pitchFamily="34" charset="0"/>
              <a:buChar char="●"/>
            </a:pPr>
            <a:r>
              <a:rPr sz="2000" b="0">
                <a:solidFill>
                  <a:srgbClr val="1A5C8A"/>
                </a:solidFill>
              </a:rPr>
              <a:t>Training and answering both draw large amounts of electricity. Cooling consumes water, and the load strains local grids.</a:t>
            </a:r>
          </a:p>
          <a:p>
            <a:pPr>
              <a:spcBef>
                <a:spcPts val="1700"/>
              </a:spcBef>
              <a:spcAft>
                <a:spcPts val="400"/>
              </a:spcAft>
            </a:pPr>
            <a:r>
              <a:rPr sz="1900" b="1">
                <a:solidFill>
                  <a:srgbClr val="0B1D2E"/>
                </a:solidFill>
              </a:rPr>
              <a:t>Misinformation and trust</a:t>
            </a:r>
          </a:p>
          <a:p>
            <a:pPr marL="457200" lvl="1" indent="-228600">
              <a:spcBef>
                <a:spcPts val="200"/>
              </a:spcBef>
              <a:spcAft>
                <a:spcPts val="800"/>
              </a:spcAft>
              <a:buFont typeface="Arial" pitchFamily="34" charset="0"/>
              <a:buChar char="●"/>
            </a:pPr>
            <a:r>
              <a:rPr sz="2000" b="0">
                <a:solidFill>
                  <a:srgbClr val="1A5C8A"/>
                </a:solidFill>
              </a:rPr>
              <a:t>Fabricated statements arrive in confident wording. The industry calls them hallucinations. Trust in genuine material erodes, since anyone can now dismiss a real document as AI-generated.</a:t>
            </a:r>
          </a:p>
          <a:p>
            <a:pPr>
              <a:spcBef>
                <a:spcPts val="1700"/>
              </a:spcBef>
              <a:spcAft>
                <a:spcPts val="400"/>
              </a:spcAft>
            </a:pPr>
            <a:r>
              <a:rPr sz="1900" b="1">
                <a:solidFill>
                  <a:srgbClr val="0B1D2E"/>
                </a:solidFill>
              </a:rPr>
              <a:t>Economic disruption</a:t>
            </a:r>
          </a:p>
          <a:p>
            <a:pPr marL="457200" lvl="1" indent="-228600">
              <a:spcBef>
                <a:spcPts val="200"/>
              </a:spcBef>
              <a:spcAft>
                <a:spcPts val="800"/>
              </a:spcAft>
              <a:buFont typeface="Arial" pitchFamily="34" charset="0"/>
              <a:buChar char="●"/>
            </a:pPr>
            <a:r>
              <a:rPr sz="2000" b="0">
                <a:solidFill>
                  <a:srgbClr val="1A5C8A"/>
                </a:solidFill>
              </a:rPr>
              <a:t>Writing, support, translation, programming, and administration face job losses or wage pressure, unevenly distributed.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24. Eight Areas of Liability (2 of 2)</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1400"/>
              </a:spcBef>
              <a:spcAft>
                <a:spcPts val="300"/>
              </a:spcAft>
            </a:pPr>
            <a:r>
              <a:rPr sz="1900" b="1">
                <a:solidFill>
                  <a:srgbClr val="0B1D2E"/>
                </a:solidFill>
              </a:rPr>
              <a:t>Inequality and access</a:t>
            </a:r>
          </a:p>
          <a:p>
            <a:pPr marL="457200" lvl="1" indent="-228600">
              <a:spcBef>
                <a:spcPts val="200"/>
              </a:spcBef>
              <a:spcAft>
                <a:spcPts val="700"/>
              </a:spcAft>
              <a:buFont typeface="Arial" pitchFamily="34" charset="0"/>
              <a:buChar char="●"/>
            </a:pPr>
            <a:r>
              <a:rPr sz="1700" b="0">
                <a:solidFill>
                  <a:srgbClr val="1A5C8A"/>
                </a:solidFill>
              </a:rPr>
              <a:t>The models serve the connected first and perform worse in lower-resource languages.</a:t>
            </a:r>
          </a:p>
          <a:p>
            <a:pPr>
              <a:spcBef>
                <a:spcPts val="1400"/>
              </a:spcBef>
              <a:spcAft>
                <a:spcPts val="300"/>
              </a:spcAft>
            </a:pPr>
            <a:r>
              <a:rPr sz="1900" b="1">
                <a:solidFill>
                  <a:srgbClr val="0B1D2E"/>
                </a:solidFill>
              </a:rPr>
              <a:t>Bias and fairness</a:t>
            </a:r>
          </a:p>
          <a:p>
            <a:pPr marL="457200" lvl="1" indent="-228600">
              <a:spcBef>
                <a:spcPts val="200"/>
              </a:spcBef>
              <a:spcAft>
                <a:spcPts val="700"/>
              </a:spcAft>
              <a:buFont typeface="Arial" pitchFamily="34" charset="0"/>
              <a:buChar char="●"/>
            </a:pPr>
            <a:r>
              <a:rPr sz="1700" b="0">
                <a:solidFill>
                  <a:srgbClr val="1A5C8A"/>
                </a:solidFill>
              </a:rPr>
              <a:t>Models restate the stereotypes in their training text, which matters when institutions use them for hiring, lending, or benefits.</a:t>
            </a:r>
          </a:p>
          <a:p>
            <a:pPr>
              <a:spcBef>
                <a:spcPts val="1400"/>
              </a:spcBef>
              <a:spcAft>
                <a:spcPts val="300"/>
              </a:spcAft>
            </a:pPr>
            <a:r>
              <a:rPr sz="1900" b="1">
                <a:solidFill>
                  <a:srgbClr val="0B1D2E"/>
                </a:solidFill>
              </a:rPr>
              <a:t>Privacy and data rights</a:t>
            </a:r>
          </a:p>
          <a:p>
            <a:pPr marL="457200" lvl="1" indent="-228600">
              <a:spcBef>
                <a:spcPts val="200"/>
              </a:spcBef>
              <a:spcAft>
                <a:spcPts val="700"/>
              </a:spcAft>
              <a:buFont typeface="Arial" pitchFamily="34" charset="0"/>
              <a:buChar char="●"/>
            </a:pPr>
            <a:r>
              <a:rPr sz="1700" b="0">
                <a:solidFill>
                  <a:srgbClr val="1A5C8A"/>
                </a:solidFill>
              </a:rPr>
              <a:t>Text typed into a prompt gets stored. Training used copyrighted and personal material without clear consent, and the courts have not settled ownership.</a:t>
            </a:r>
          </a:p>
          <a:p>
            <a:pPr>
              <a:spcBef>
                <a:spcPts val="1400"/>
              </a:spcBef>
              <a:spcAft>
                <a:spcPts val="300"/>
              </a:spcAft>
            </a:pPr>
            <a:r>
              <a:rPr sz="1900" b="1">
                <a:solidFill>
                  <a:srgbClr val="0B1D2E"/>
                </a:solidFill>
              </a:rPr>
              <a:t>Human and social effects, governance and accountability</a:t>
            </a:r>
          </a:p>
          <a:p>
            <a:pPr marL="457200" lvl="1" indent="-228600">
              <a:spcBef>
                <a:spcPts val="200"/>
              </a:spcBef>
              <a:spcAft>
                <a:spcPts val="700"/>
              </a:spcAft>
              <a:buFont typeface="Arial" pitchFamily="34" charset="0"/>
              <a:buChar char="●"/>
            </a:pPr>
            <a:r>
              <a:rPr sz="1700" b="0">
                <a:solidFill>
                  <a:srgbClr val="1A5C8A"/>
                </a:solidFill>
              </a:rPr>
              <a:t>Skills people stop exercising weaken. When a model causes harm, no one has settled who answers for it.</a:t>
            </a:r>
          </a:p>
          <a:p>
            <a:pPr>
              <a:spcBef>
                <a:spcPts val="1400"/>
              </a:spcBef>
              <a:spcAft>
                <a:spcPts val="300"/>
              </a:spcAft>
            </a:pPr>
            <a:r>
              <a:rPr sz="1900" b="1">
                <a:solidFill>
                  <a:srgbClr val="0B1D2E"/>
                </a:solidFill>
              </a:rPr>
              <a:t>Safeguards, regulation, transparency, and oversight each cut these risks. How much depends on deployment.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25. Data Centers: Power Is the Unit</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3500"/>
              </a:spcBef>
              <a:spcAft>
                <a:spcPts val="700"/>
              </a:spcAft>
            </a:pPr>
            <a:r>
              <a:rPr sz="2000" b="0">
                <a:solidFill>
                  <a:srgbClr val="0B1D2E"/>
                </a:solidFill>
              </a:rPr>
              <a:t>Every answer a chatbot gives arrives from a building that holds racks of computers, the power to run them, and the cooling to carry away their heat.</a:t>
            </a:r>
          </a:p>
          <a:p>
            <a:pPr>
              <a:spcBef>
                <a:spcPts val="3500"/>
              </a:spcBef>
              <a:spcAft>
                <a:spcPts val="700"/>
              </a:spcAft>
            </a:pPr>
            <a:r>
              <a:rPr sz="2000" b="1">
                <a:solidFill>
                  <a:srgbClr val="0B1D2E"/>
                </a:solidFill>
              </a:rPr>
              <a:t>Capacity gets measured in power, not in floor space, because power binds:</a:t>
            </a:r>
          </a:p>
          <a:p>
            <a:pPr marL="457200" lvl="1" indent="-228600">
              <a:spcBef>
                <a:spcPts val="400"/>
              </a:spcBef>
              <a:spcAft>
                <a:spcPts val="1700"/>
              </a:spcAft>
              <a:buFont typeface="Arial" pitchFamily="34" charset="0"/>
              <a:buChar char="●"/>
            </a:pPr>
            <a:r>
              <a:rPr sz="2000" b="0">
                <a:solidFill>
                  <a:srgbClr val="1A5C8A"/>
                </a:solidFill>
              </a:rPr>
              <a:t>A megawatt (MW) is one million watts.</a:t>
            </a:r>
          </a:p>
          <a:p>
            <a:pPr marL="457200" lvl="1" indent="-228600">
              <a:spcBef>
                <a:spcPts val="400"/>
              </a:spcBef>
              <a:spcAft>
                <a:spcPts val="1700"/>
              </a:spcAft>
              <a:buFont typeface="Arial" pitchFamily="34" charset="0"/>
              <a:buChar char="●"/>
            </a:pPr>
            <a:r>
              <a:rPr sz="2000" b="0">
                <a:solidFill>
                  <a:srgbClr val="1A5C8A"/>
                </a:solidFill>
              </a:rPr>
              <a:t>A 100 MW campus draws about what 80,000 American homes draw on average.</a:t>
            </a:r>
          </a:p>
          <a:p>
            <a:pPr marL="457200" lvl="1" indent="-228600">
              <a:spcBef>
                <a:spcPts val="400"/>
              </a:spcBef>
              <a:spcAft>
                <a:spcPts val="1700"/>
              </a:spcAft>
              <a:buFont typeface="Arial" pitchFamily="34" charset="0"/>
              <a:buChar char="●"/>
            </a:pPr>
            <a:r>
              <a:rPr sz="2000" b="0">
                <a:solidFill>
                  <a:srgbClr val="1A5C8A"/>
                </a:solidFill>
              </a:rPr>
              <a:t>A gigawatt (GW) is one thousand megawatts, roughly one large nuclear reactor.</a:t>
            </a:r>
          </a:p>
          <a:p>
            <a:pPr>
              <a:spcBef>
                <a:spcPts val="3500"/>
              </a:spcBef>
              <a:spcAft>
                <a:spcPts val="700"/>
              </a:spcAft>
            </a:pPr>
            <a:r>
              <a:rPr sz="2000" b="1">
                <a:solidFill>
                  <a:srgbClr val="0B1D2E"/>
                </a:solidFill>
              </a:rPr>
              <a:t>Treat every percentage that follows as an estimate. Sources disagree, and construction outruns the tables.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26. Sixty Years, Ten Thousand Times the Power</a:t>
            </a:r>
          </a:p>
        </p:txBody>
      </p:sp>
      <p:sp>
        <p:nvSpPr>
          <p:cNvPr id="3" name="TextBox 2"/>
          <p:cNvSpPr txBox="1"/>
          <p:nvPr/>
        </p:nvSpPr>
        <p:spPr>
          <a:xfrm>
            <a:off x="731520" y="1234440"/>
            <a:ext cx="10728655" cy="5074920"/>
          </a:xfrm>
          <a:prstGeom prst="rect">
            <a:avLst/>
          </a:prstGeom>
          <a:noFill/>
        </p:spPr>
        <p:txBody>
          <a:bodyPr wrap="square">
            <a:spAutoFit/>
          </a:bodyPr>
          <a:lstStyle/>
          <a:p>
            <a:pPr>
              <a:spcBef>
                <a:spcPts val="600"/>
              </a:spcBef>
              <a:spcAft>
                <a:spcPts val="1000"/>
              </a:spcAft>
            </a:pPr>
            <a:r>
              <a:rPr sz="1700" b="0">
                <a:solidFill>
                  <a:srgbClr val="0B1D2E"/>
                </a:solidFill>
              </a:rPr>
              <a:t>Operators site these buildings for power, fibre, workforce, tax terms, and a cool climate.</a:t>
            </a:r>
          </a:p>
        </p:txBody>
      </p:sp>
      <p:graphicFrame>
        <p:nvGraphicFramePr>
          <p:cNvPr id="4" name="Table 3"/>
          <p:cNvGraphicFramePr>
            <a:graphicFrameLocks noGrp="1"/>
          </p:cNvGraphicFramePr>
          <p:nvPr/>
        </p:nvGraphicFramePr>
        <p:xfrm>
          <a:off x="640080" y="1920240"/>
          <a:ext cx="10911533" cy="2304288"/>
        </p:xfrm>
        <a:graphic>
          <a:graphicData uri="http://schemas.openxmlformats.org/drawingml/2006/table">
            <a:tbl>
              <a:tblPr firstRow="1" bandRow="1">
                <a:tableStyleId>{5C22544A-7EE6-4342-B048-85BDC9FD1C3A}</a:tableStyleId>
              </a:tblPr>
              <a:tblGrid>
                <a:gridCol w="1983915">
                  <a:extLst>
                    <a:ext uri="{9D8B030D-6E8A-4147-A177-3AD203B41FA5}">
                      <a16:colId xmlns:a16="http://schemas.microsoft.com/office/drawing/2014/main" val="20000"/>
                    </a:ext>
                  </a:extLst>
                </a:gridCol>
                <a:gridCol w="4959788">
                  <a:extLst>
                    <a:ext uri="{9D8B030D-6E8A-4147-A177-3AD203B41FA5}">
                      <a16:colId xmlns:a16="http://schemas.microsoft.com/office/drawing/2014/main" val="20001"/>
                    </a:ext>
                  </a:extLst>
                </a:gridCol>
                <a:gridCol w="3967830">
                  <a:extLst>
                    <a:ext uri="{9D8B030D-6E8A-4147-A177-3AD203B41FA5}">
                      <a16:colId xmlns:a16="http://schemas.microsoft.com/office/drawing/2014/main" val="20002"/>
                    </a:ext>
                  </a:extLst>
                </a:gridCol>
              </a:tblGrid>
              <a:tr h="329184">
                <a:tc>
                  <a:txBody>
                    <a:bodyPr/>
                    <a:lstStyle/>
                    <a:p>
                      <a:r>
                        <a:rPr sz="1400" b="1">
                          <a:solidFill>
                            <a:srgbClr val="EAF6FD"/>
                          </a:solidFill>
                        </a:rPr>
                        <a:t>Era</a:t>
                      </a:r>
                    </a:p>
                  </a:txBody>
                  <a:tcPr>
                    <a:solidFill>
                      <a:srgbClr val="1A5C8A"/>
                    </a:solidFill>
                  </a:tcPr>
                </a:tc>
                <a:tc>
                  <a:txBody>
                    <a:bodyPr/>
                    <a:lstStyle/>
                    <a:p>
                      <a:r>
                        <a:rPr sz="1400" b="1">
                          <a:solidFill>
                            <a:srgbClr val="EAF6FD"/>
                          </a:solidFill>
                        </a:rPr>
                        <a:t>Dominant driver</a:t>
                      </a:r>
                    </a:p>
                  </a:txBody>
                  <a:tcPr>
                    <a:solidFill>
                      <a:srgbClr val="1A5C8A"/>
                    </a:solidFill>
                  </a:tcPr>
                </a:tc>
                <a:tc>
                  <a:txBody>
                    <a:bodyPr/>
                    <a:lstStyle/>
                    <a:p>
                      <a:r>
                        <a:rPr sz="1400" b="1">
                          <a:solidFill>
                            <a:srgbClr val="EAF6FD"/>
                          </a:solidFill>
                        </a:rPr>
                        <a:t>Scale</a:t>
                      </a:r>
                    </a:p>
                  </a:txBody>
                  <a:tcPr>
                    <a:solidFill>
                      <a:srgbClr val="1A5C8A"/>
                    </a:solidFill>
                  </a:tcPr>
                </a:tc>
                <a:extLst>
                  <a:ext uri="{0D108BD9-81ED-4DB2-BD59-A6C34878D82A}">
                    <a16:rowId xmlns:a16="http://schemas.microsoft.com/office/drawing/2014/main" val="10000"/>
                  </a:ext>
                </a:extLst>
              </a:tr>
              <a:tr h="329184">
                <a:tc>
                  <a:txBody>
                    <a:bodyPr/>
                    <a:lstStyle/>
                    <a:p>
                      <a:r>
                        <a:rPr sz="1400">
                          <a:solidFill>
                            <a:srgbClr val="0B1D2E"/>
                          </a:solidFill>
                        </a:rPr>
                        <a:t>1960s-1980s</a:t>
                      </a:r>
                    </a:p>
                  </a:txBody>
                  <a:tcPr>
                    <a:solidFill>
                      <a:srgbClr val="FFFFFF"/>
                    </a:solidFill>
                  </a:tcPr>
                </a:tc>
                <a:tc>
                  <a:txBody>
                    <a:bodyPr/>
                    <a:lstStyle/>
                    <a:p>
                      <a:r>
                        <a:rPr sz="1400">
                          <a:solidFill>
                            <a:srgbClr val="0B1D2E"/>
                          </a:solidFill>
                        </a:rPr>
                        <a:t>Mainframe computing</a:t>
                      </a:r>
                    </a:p>
                  </a:txBody>
                  <a:tcPr>
                    <a:solidFill>
                      <a:srgbClr val="FFFFFF"/>
                    </a:solidFill>
                  </a:tcPr>
                </a:tc>
                <a:tc>
                  <a:txBody>
                    <a:bodyPr/>
                    <a:lstStyle/>
                    <a:p>
                      <a:r>
                        <a:rPr sz="1400">
                          <a:solidFill>
                            <a:srgbClr val="0B1D2E"/>
                          </a:solidFill>
                        </a:rPr>
                        <a:t>10-100 kW</a:t>
                      </a:r>
                    </a:p>
                  </a:txBody>
                  <a:tcPr>
                    <a:solidFill>
                      <a:srgbClr val="FFFFFF"/>
                    </a:solidFill>
                  </a:tcPr>
                </a:tc>
                <a:extLst>
                  <a:ext uri="{0D108BD9-81ED-4DB2-BD59-A6C34878D82A}">
                    <a16:rowId xmlns:a16="http://schemas.microsoft.com/office/drawing/2014/main" val="10001"/>
                  </a:ext>
                </a:extLst>
              </a:tr>
              <a:tr h="329184">
                <a:tc>
                  <a:txBody>
                    <a:bodyPr/>
                    <a:lstStyle/>
                    <a:p>
                      <a:r>
                        <a:rPr sz="1400">
                          <a:solidFill>
                            <a:srgbClr val="0B1D2E"/>
                          </a:solidFill>
                        </a:rPr>
                        <a:t>1990s</a:t>
                      </a:r>
                    </a:p>
                  </a:txBody>
                  <a:tcPr>
                    <a:solidFill>
                      <a:srgbClr val="D6E8F4"/>
                    </a:solidFill>
                  </a:tcPr>
                </a:tc>
                <a:tc>
                  <a:txBody>
                    <a:bodyPr/>
                    <a:lstStyle/>
                    <a:p>
                      <a:r>
                        <a:rPr sz="1400">
                          <a:solidFill>
                            <a:srgbClr val="0B1D2E"/>
                          </a:solidFill>
                        </a:rPr>
                        <a:t>Client/server and early web hosting</a:t>
                      </a:r>
                    </a:p>
                  </a:txBody>
                  <a:tcPr>
                    <a:solidFill>
                      <a:srgbClr val="D6E8F4"/>
                    </a:solidFill>
                  </a:tcPr>
                </a:tc>
                <a:tc>
                  <a:txBody>
                    <a:bodyPr/>
                    <a:lstStyle/>
                    <a:p>
                      <a:r>
                        <a:rPr sz="1400">
                          <a:solidFill>
                            <a:srgbClr val="0B1D2E"/>
                          </a:solidFill>
                        </a:rPr>
                        <a:t>100 kW to 1 MW</a:t>
                      </a:r>
                    </a:p>
                  </a:txBody>
                  <a:tcPr>
                    <a:solidFill>
                      <a:srgbClr val="D6E8F4"/>
                    </a:solidFill>
                  </a:tcPr>
                </a:tc>
                <a:extLst>
                  <a:ext uri="{0D108BD9-81ED-4DB2-BD59-A6C34878D82A}">
                    <a16:rowId xmlns:a16="http://schemas.microsoft.com/office/drawing/2014/main" val="10002"/>
                  </a:ext>
                </a:extLst>
              </a:tr>
              <a:tr h="329184">
                <a:tc>
                  <a:txBody>
                    <a:bodyPr/>
                    <a:lstStyle/>
                    <a:p>
                      <a:r>
                        <a:rPr sz="1400">
                          <a:solidFill>
                            <a:srgbClr val="0B1D2E"/>
                          </a:solidFill>
                        </a:rPr>
                        <a:t>2000s</a:t>
                      </a:r>
                    </a:p>
                  </a:txBody>
                  <a:tcPr>
                    <a:solidFill>
                      <a:srgbClr val="FFFFFF"/>
                    </a:solidFill>
                  </a:tcPr>
                </a:tc>
                <a:tc>
                  <a:txBody>
                    <a:bodyPr/>
                    <a:lstStyle/>
                    <a:p>
                      <a:r>
                        <a:rPr sz="1400">
                          <a:solidFill>
                            <a:srgbClr val="0B1D2E"/>
                          </a:solidFill>
                        </a:rPr>
                        <a:t>Dot-com boom, search, early SaaS</a:t>
                      </a:r>
                    </a:p>
                  </a:txBody>
                  <a:tcPr>
                    <a:solidFill>
                      <a:srgbClr val="FFFFFF"/>
                    </a:solidFill>
                  </a:tcPr>
                </a:tc>
                <a:tc>
                  <a:txBody>
                    <a:bodyPr/>
                    <a:lstStyle/>
                    <a:p>
                      <a:r>
                        <a:rPr sz="1400">
                          <a:solidFill>
                            <a:srgbClr val="0B1D2E"/>
                          </a:solidFill>
                        </a:rPr>
                        <a:t>1-10 MW per facility</a:t>
                      </a:r>
                    </a:p>
                  </a:txBody>
                  <a:tcPr>
                    <a:solidFill>
                      <a:srgbClr val="FFFFFF"/>
                    </a:solidFill>
                  </a:tcPr>
                </a:tc>
                <a:extLst>
                  <a:ext uri="{0D108BD9-81ED-4DB2-BD59-A6C34878D82A}">
                    <a16:rowId xmlns:a16="http://schemas.microsoft.com/office/drawing/2014/main" val="10003"/>
                  </a:ext>
                </a:extLst>
              </a:tr>
              <a:tr h="329184">
                <a:tc>
                  <a:txBody>
                    <a:bodyPr/>
                    <a:lstStyle/>
                    <a:p>
                      <a:r>
                        <a:rPr sz="1400">
                          <a:solidFill>
                            <a:srgbClr val="0B1D2E"/>
                          </a:solidFill>
                        </a:rPr>
                        <a:t>2010s</a:t>
                      </a:r>
                    </a:p>
                  </a:txBody>
                  <a:tcPr>
                    <a:solidFill>
                      <a:srgbClr val="D6E8F4"/>
                    </a:solidFill>
                  </a:tcPr>
                </a:tc>
                <a:tc>
                  <a:txBody>
                    <a:bodyPr/>
                    <a:lstStyle/>
                    <a:p>
                      <a:r>
                        <a:rPr sz="1400">
                          <a:solidFill>
                            <a:srgbClr val="0B1D2E"/>
                          </a:solidFill>
                        </a:rPr>
                        <a:t>Cloud, mobile, video streaming</a:t>
                      </a:r>
                    </a:p>
                  </a:txBody>
                  <a:tcPr>
                    <a:solidFill>
                      <a:srgbClr val="D6E8F4"/>
                    </a:solidFill>
                  </a:tcPr>
                </a:tc>
                <a:tc>
                  <a:txBody>
                    <a:bodyPr/>
                    <a:lstStyle/>
                    <a:p>
                      <a:r>
                        <a:rPr sz="1400">
                          <a:solidFill>
                            <a:srgbClr val="0B1D2E"/>
                          </a:solidFill>
                        </a:rPr>
                        <a:t>10-200 MW per campus</a:t>
                      </a:r>
                    </a:p>
                  </a:txBody>
                  <a:tcPr>
                    <a:solidFill>
                      <a:srgbClr val="D6E8F4"/>
                    </a:solidFill>
                  </a:tcPr>
                </a:tc>
                <a:extLst>
                  <a:ext uri="{0D108BD9-81ED-4DB2-BD59-A6C34878D82A}">
                    <a16:rowId xmlns:a16="http://schemas.microsoft.com/office/drawing/2014/main" val="10004"/>
                  </a:ext>
                </a:extLst>
              </a:tr>
              <a:tr h="329184">
                <a:tc>
                  <a:txBody>
                    <a:bodyPr/>
                    <a:lstStyle/>
                    <a:p>
                      <a:r>
                        <a:rPr sz="1400">
                          <a:solidFill>
                            <a:srgbClr val="0B1D2E"/>
                          </a:solidFill>
                        </a:rPr>
                        <a:t>2020-2024</a:t>
                      </a:r>
                    </a:p>
                  </a:txBody>
                  <a:tcPr>
                    <a:solidFill>
                      <a:srgbClr val="FFFFFF"/>
                    </a:solidFill>
                  </a:tcPr>
                </a:tc>
                <a:tc>
                  <a:txBody>
                    <a:bodyPr/>
                    <a:lstStyle/>
                    <a:p>
                      <a:r>
                        <a:rPr sz="1400">
                          <a:solidFill>
                            <a:srgbClr val="0B1D2E"/>
                          </a:solidFill>
                        </a:rPr>
                        <a:t>Pandemic cloud migration, early AI</a:t>
                      </a:r>
                    </a:p>
                  </a:txBody>
                  <a:tcPr>
                    <a:solidFill>
                      <a:srgbClr val="FFFFFF"/>
                    </a:solidFill>
                  </a:tcPr>
                </a:tc>
                <a:tc>
                  <a:txBody>
                    <a:bodyPr/>
                    <a:lstStyle/>
                    <a:p>
                      <a:r>
                        <a:rPr sz="1400">
                          <a:solidFill>
                            <a:srgbClr val="0B1D2E"/>
                          </a:solidFill>
                        </a:rPr>
                        <a:t>100-500 MW per campus</a:t>
                      </a:r>
                    </a:p>
                  </a:txBody>
                  <a:tcPr>
                    <a:solidFill>
                      <a:srgbClr val="FFFFFF"/>
                    </a:solidFill>
                  </a:tcPr>
                </a:tc>
                <a:extLst>
                  <a:ext uri="{0D108BD9-81ED-4DB2-BD59-A6C34878D82A}">
                    <a16:rowId xmlns:a16="http://schemas.microsoft.com/office/drawing/2014/main" val="10005"/>
                  </a:ext>
                </a:extLst>
              </a:tr>
              <a:tr h="329184">
                <a:tc>
                  <a:txBody>
                    <a:bodyPr/>
                    <a:lstStyle/>
                    <a:p>
                      <a:r>
                        <a:rPr sz="1400">
                          <a:solidFill>
                            <a:srgbClr val="0B1D2E"/>
                          </a:solidFill>
                        </a:rPr>
                        <a:t>2025+</a:t>
                      </a:r>
                    </a:p>
                  </a:txBody>
                  <a:tcPr>
                    <a:solidFill>
                      <a:srgbClr val="D6E8F4"/>
                    </a:solidFill>
                  </a:tcPr>
                </a:tc>
                <a:tc>
                  <a:txBody>
                    <a:bodyPr/>
                    <a:lstStyle/>
                    <a:p>
                      <a:r>
                        <a:rPr sz="1400">
                          <a:solidFill>
                            <a:srgbClr val="0B1D2E"/>
                          </a:solidFill>
                        </a:rPr>
                        <a:t>Large-scale AI training and inference</a:t>
                      </a:r>
                    </a:p>
                  </a:txBody>
                  <a:tcPr>
                    <a:solidFill>
                      <a:srgbClr val="D6E8F4"/>
                    </a:solidFill>
                  </a:tcPr>
                </a:tc>
                <a:tc>
                  <a:txBody>
                    <a:bodyPr/>
                    <a:lstStyle/>
                    <a:p>
                      <a:r>
                        <a:rPr sz="1400">
                          <a:solidFill>
                            <a:srgbClr val="0B1D2E"/>
                          </a:solidFill>
                        </a:rPr>
                        <a:t>500 MW to 1+ GW per campus</a:t>
                      </a:r>
                    </a:p>
                  </a:txBody>
                  <a:tcPr>
                    <a:solidFill>
                      <a:srgbClr val="D6E8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27. Where the Buildings Stand</a:t>
            </a:r>
          </a:p>
        </p:txBody>
      </p:sp>
      <p:sp>
        <p:nvSpPr>
          <p:cNvPr id="3" name="TextBox 2"/>
          <p:cNvSpPr txBox="1"/>
          <p:nvPr/>
        </p:nvSpPr>
        <p:spPr>
          <a:xfrm>
            <a:off x="731520" y="1234440"/>
            <a:ext cx="10728655" cy="5074920"/>
          </a:xfrm>
          <a:prstGeom prst="rect">
            <a:avLst/>
          </a:prstGeom>
          <a:noFill/>
        </p:spPr>
        <p:txBody>
          <a:bodyPr wrap="square">
            <a:spAutoFit/>
          </a:bodyPr>
          <a:lstStyle/>
          <a:p>
            <a:pPr>
              <a:spcBef>
                <a:spcPts val="600"/>
              </a:spcBef>
              <a:spcAft>
                <a:spcPts val="1000"/>
              </a:spcAft>
            </a:pPr>
            <a:r>
              <a:rPr sz="1700" b="0">
                <a:solidFill>
                  <a:srgbClr val="0B1D2E"/>
                </a:solidFill>
              </a:rPr>
              <a:t>Operators follow power, fibre, workforce, political stability, tax terms, and cool air.</a:t>
            </a:r>
          </a:p>
        </p:txBody>
      </p:sp>
      <p:graphicFrame>
        <p:nvGraphicFramePr>
          <p:cNvPr id="4" name="Table 3"/>
          <p:cNvGraphicFramePr>
            <a:graphicFrameLocks noGrp="1"/>
          </p:cNvGraphicFramePr>
          <p:nvPr/>
        </p:nvGraphicFramePr>
        <p:xfrm>
          <a:off x="640080" y="1920240"/>
          <a:ext cx="10911533" cy="3291840"/>
        </p:xfrm>
        <a:graphic>
          <a:graphicData uri="http://schemas.openxmlformats.org/drawingml/2006/table">
            <a:tbl>
              <a:tblPr firstRow="1" bandRow="1">
                <a:tableStyleId>{5C22544A-7EE6-4342-B048-85BDC9FD1C3A}</a:tableStyleId>
              </a:tblPr>
              <a:tblGrid>
                <a:gridCol w="2364165">
                  <a:extLst>
                    <a:ext uri="{9D8B030D-6E8A-4147-A177-3AD203B41FA5}">
                      <a16:colId xmlns:a16="http://schemas.microsoft.com/office/drawing/2014/main" val="20000"/>
                    </a:ext>
                  </a:extLst>
                </a:gridCol>
                <a:gridCol w="909294">
                  <a:extLst>
                    <a:ext uri="{9D8B030D-6E8A-4147-A177-3AD203B41FA5}">
                      <a16:colId xmlns:a16="http://schemas.microsoft.com/office/drawing/2014/main" val="20001"/>
                    </a:ext>
                  </a:extLst>
                </a:gridCol>
                <a:gridCol w="7638074">
                  <a:extLst>
                    <a:ext uri="{9D8B030D-6E8A-4147-A177-3AD203B41FA5}">
                      <a16:colId xmlns:a16="http://schemas.microsoft.com/office/drawing/2014/main" val="20002"/>
                    </a:ext>
                  </a:extLst>
                </a:gridCol>
              </a:tblGrid>
              <a:tr h="329184">
                <a:tc>
                  <a:txBody>
                    <a:bodyPr/>
                    <a:lstStyle/>
                    <a:p>
                      <a:r>
                        <a:rPr sz="1200" b="1">
                          <a:solidFill>
                            <a:srgbClr val="EAF6FD"/>
                          </a:solidFill>
                        </a:rPr>
                        <a:t>Region</a:t>
                      </a:r>
                    </a:p>
                  </a:txBody>
                  <a:tcPr>
                    <a:solidFill>
                      <a:srgbClr val="1A5C8A"/>
                    </a:solidFill>
                  </a:tcPr>
                </a:tc>
                <a:tc>
                  <a:txBody>
                    <a:bodyPr/>
                    <a:lstStyle/>
                    <a:p>
                      <a:r>
                        <a:rPr sz="1200" b="1">
                          <a:solidFill>
                            <a:srgbClr val="EAF6FD"/>
                          </a:solidFill>
                        </a:rPr>
                        <a:t>Share</a:t>
                      </a:r>
                    </a:p>
                  </a:txBody>
                  <a:tcPr>
                    <a:solidFill>
                      <a:srgbClr val="1A5C8A"/>
                    </a:solidFill>
                  </a:tcPr>
                </a:tc>
                <a:tc>
                  <a:txBody>
                    <a:bodyPr/>
                    <a:lstStyle/>
                    <a:p>
                      <a:r>
                        <a:rPr sz="1200" b="1">
                          <a:solidFill>
                            <a:srgbClr val="EAF6FD"/>
                          </a:solidFill>
                        </a:rPr>
                        <a:t>Key concentrations</a:t>
                      </a:r>
                    </a:p>
                  </a:txBody>
                  <a:tcPr>
                    <a:solidFill>
                      <a:srgbClr val="1A5C8A"/>
                    </a:solidFill>
                  </a:tcPr>
                </a:tc>
                <a:extLst>
                  <a:ext uri="{0D108BD9-81ED-4DB2-BD59-A6C34878D82A}">
                    <a16:rowId xmlns:a16="http://schemas.microsoft.com/office/drawing/2014/main" val="10000"/>
                  </a:ext>
                </a:extLst>
              </a:tr>
              <a:tr h="329184">
                <a:tc>
                  <a:txBody>
                    <a:bodyPr/>
                    <a:lstStyle/>
                    <a:p>
                      <a:r>
                        <a:rPr sz="1200">
                          <a:solidFill>
                            <a:srgbClr val="0B1D2E"/>
                          </a:solidFill>
                        </a:rPr>
                        <a:t>United States</a:t>
                      </a:r>
                    </a:p>
                  </a:txBody>
                  <a:tcPr>
                    <a:solidFill>
                      <a:srgbClr val="FFFFFF"/>
                    </a:solidFill>
                  </a:tcPr>
                </a:tc>
                <a:tc>
                  <a:txBody>
                    <a:bodyPr/>
                    <a:lstStyle/>
                    <a:p>
                      <a:r>
                        <a:rPr sz="1200">
                          <a:solidFill>
                            <a:srgbClr val="0B1D2E"/>
                          </a:solidFill>
                        </a:rPr>
                        <a:t>~35%</a:t>
                      </a:r>
                    </a:p>
                  </a:txBody>
                  <a:tcPr>
                    <a:solidFill>
                      <a:srgbClr val="FFFFFF"/>
                    </a:solidFill>
                  </a:tcPr>
                </a:tc>
                <a:tc>
                  <a:txBody>
                    <a:bodyPr/>
                    <a:lstStyle/>
                    <a:p>
                      <a:r>
                        <a:rPr sz="1200">
                          <a:solidFill>
                            <a:srgbClr val="0B1D2E"/>
                          </a:solidFill>
                        </a:rPr>
                        <a:t>Northern Virginia (Ashburn) is the largest market on earth; also Dallas, Silicon Valley, Chicago, Phoenix, Atlanta</a:t>
                      </a:r>
                    </a:p>
                  </a:txBody>
                  <a:tcPr>
                    <a:solidFill>
                      <a:srgbClr val="FFFFFF"/>
                    </a:solidFill>
                  </a:tcPr>
                </a:tc>
                <a:extLst>
                  <a:ext uri="{0D108BD9-81ED-4DB2-BD59-A6C34878D82A}">
                    <a16:rowId xmlns:a16="http://schemas.microsoft.com/office/drawing/2014/main" val="10001"/>
                  </a:ext>
                </a:extLst>
              </a:tr>
              <a:tr h="329184">
                <a:tc>
                  <a:txBody>
                    <a:bodyPr/>
                    <a:lstStyle/>
                    <a:p>
                      <a:r>
                        <a:rPr sz="1200">
                          <a:solidFill>
                            <a:srgbClr val="0B1D2E"/>
                          </a:solidFill>
                        </a:rPr>
                        <a:t>European Union and UK</a:t>
                      </a:r>
                    </a:p>
                  </a:txBody>
                  <a:tcPr>
                    <a:solidFill>
                      <a:srgbClr val="D6E8F4"/>
                    </a:solidFill>
                  </a:tcPr>
                </a:tc>
                <a:tc>
                  <a:txBody>
                    <a:bodyPr/>
                    <a:lstStyle/>
                    <a:p>
                      <a:r>
                        <a:rPr sz="1200">
                          <a:solidFill>
                            <a:srgbClr val="0B1D2E"/>
                          </a:solidFill>
                        </a:rPr>
                        <a:t>~22%</a:t>
                      </a:r>
                    </a:p>
                  </a:txBody>
                  <a:tcPr>
                    <a:solidFill>
                      <a:srgbClr val="D6E8F4"/>
                    </a:solidFill>
                  </a:tcPr>
                </a:tc>
                <a:tc>
                  <a:txBody>
                    <a:bodyPr/>
                    <a:lstStyle/>
                    <a:p>
                      <a:r>
                        <a:rPr sz="1200">
                          <a:solidFill>
                            <a:srgbClr val="0B1D2E"/>
                          </a:solidFill>
                        </a:rPr>
                        <a:t>Amsterdam, Frankfurt, Dublin, London, Paris; the Nordics add cold climate and renewable power</a:t>
                      </a:r>
                    </a:p>
                  </a:txBody>
                  <a:tcPr>
                    <a:solidFill>
                      <a:srgbClr val="D6E8F4"/>
                    </a:solidFill>
                  </a:tcPr>
                </a:tc>
                <a:extLst>
                  <a:ext uri="{0D108BD9-81ED-4DB2-BD59-A6C34878D82A}">
                    <a16:rowId xmlns:a16="http://schemas.microsoft.com/office/drawing/2014/main" val="10002"/>
                  </a:ext>
                </a:extLst>
              </a:tr>
              <a:tr h="329184">
                <a:tc>
                  <a:txBody>
                    <a:bodyPr/>
                    <a:lstStyle/>
                    <a:p>
                      <a:r>
                        <a:rPr sz="1200">
                          <a:solidFill>
                            <a:srgbClr val="0B1D2E"/>
                          </a:solidFill>
                        </a:rPr>
                        <a:t>China</a:t>
                      </a:r>
                    </a:p>
                  </a:txBody>
                  <a:tcPr>
                    <a:solidFill>
                      <a:srgbClr val="FFFFFF"/>
                    </a:solidFill>
                  </a:tcPr>
                </a:tc>
                <a:tc>
                  <a:txBody>
                    <a:bodyPr/>
                    <a:lstStyle/>
                    <a:p>
                      <a:r>
                        <a:rPr sz="1200">
                          <a:solidFill>
                            <a:srgbClr val="0B1D2E"/>
                          </a:solidFill>
                        </a:rPr>
                        <a:t>~15%</a:t>
                      </a:r>
                    </a:p>
                  </a:txBody>
                  <a:tcPr>
                    <a:solidFill>
                      <a:srgbClr val="FFFFFF"/>
                    </a:solidFill>
                  </a:tcPr>
                </a:tc>
                <a:tc>
                  <a:txBody>
                    <a:bodyPr/>
                    <a:lstStyle/>
                    <a:p>
                      <a:r>
                        <a:rPr sz="1200">
                          <a:solidFill>
                            <a:srgbClr val="0B1D2E"/>
                          </a:solidFill>
                        </a:rPr>
                        <a:t>Beijing, Shanghai, Shenzhen, Guangzhou; new capacity moves west to Guizhou and Inner Mongolia</a:t>
                      </a:r>
                    </a:p>
                  </a:txBody>
                  <a:tcPr>
                    <a:solidFill>
                      <a:srgbClr val="FFFFFF"/>
                    </a:solidFill>
                  </a:tcPr>
                </a:tc>
                <a:extLst>
                  <a:ext uri="{0D108BD9-81ED-4DB2-BD59-A6C34878D82A}">
                    <a16:rowId xmlns:a16="http://schemas.microsoft.com/office/drawing/2014/main" val="10003"/>
                  </a:ext>
                </a:extLst>
              </a:tr>
              <a:tr h="329184">
                <a:tc>
                  <a:txBody>
                    <a:bodyPr/>
                    <a:lstStyle/>
                    <a:p>
                      <a:r>
                        <a:rPr sz="1200">
                          <a:solidFill>
                            <a:srgbClr val="0B1D2E"/>
                          </a:solidFill>
                        </a:rPr>
                        <a:t>India and Australia</a:t>
                      </a:r>
                    </a:p>
                  </a:txBody>
                  <a:tcPr>
                    <a:solidFill>
                      <a:srgbClr val="D6E8F4"/>
                    </a:solidFill>
                  </a:tcPr>
                </a:tc>
                <a:tc>
                  <a:txBody>
                    <a:bodyPr/>
                    <a:lstStyle/>
                    <a:p>
                      <a:r>
                        <a:rPr sz="1200">
                          <a:solidFill>
                            <a:srgbClr val="0B1D2E"/>
                          </a:solidFill>
                        </a:rPr>
                        <a:t>~7%</a:t>
                      </a:r>
                    </a:p>
                  </a:txBody>
                  <a:tcPr>
                    <a:solidFill>
                      <a:srgbClr val="D6E8F4"/>
                    </a:solidFill>
                  </a:tcPr>
                </a:tc>
                <a:tc>
                  <a:txBody>
                    <a:bodyPr/>
                    <a:lstStyle/>
                    <a:p>
                      <a:r>
                        <a:rPr sz="1200">
                          <a:solidFill>
                            <a:srgbClr val="0B1D2E"/>
                          </a:solidFill>
                        </a:rPr>
                        <a:t>Mumbai, Chennai, Hyderabad, Pune grow fastest; Sydney and Melbourne serve the Pacific</a:t>
                      </a:r>
                    </a:p>
                  </a:txBody>
                  <a:tcPr>
                    <a:solidFill>
                      <a:srgbClr val="D6E8F4"/>
                    </a:solidFill>
                  </a:tcPr>
                </a:tc>
                <a:extLst>
                  <a:ext uri="{0D108BD9-81ED-4DB2-BD59-A6C34878D82A}">
                    <a16:rowId xmlns:a16="http://schemas.microsoft.com/office/drawing/2014/main" val="10004"/>
                  </a:ext>
                </a:extLst>
              </a:tr>
              <a:tr h="329184">
                <a:tc>
                  <a:txBody>
                    <a:bodyPr/>
                    <a:lstStyle/>
                    <a:p>
                      <a:r>
                        <a:rPr sz="1200">
                          <a:solidFill>
                            <a:srgbClr val="0B1D2E"/>
                          </a:solidFill>
                        </a:rPr>
                        <a:t>Southeast Asia</a:t>
                      </a:r>
                    </a:p>
                  </a:txBody>
                  <a:tcPr>
                    <a:solidFill>
                      <a:srgbClr val="FFFFFF"/>
                    </a:solidFill>
                  </a:tcPr>
                </a:tc>
                <a:tc>
                  <a:txBody>
                    <a:bodyPr/>
                    <a:lstStyle/>
                    <a:p>
                      <a:r>
                        <a:rPr sz="1200">
                          <a:solidFill>
                            <a:srgbClr val="0B1D2E"/>
                          </a:solidFill>
                        </a:rPr>
                        <a:t>~6%</a:t>
                      </a:r>
                    </a:p>
                  </a:txBody>
                  <a:tcPr>
                    <a:solidFill>
                      <a:srgbClr val="FFFFFF"/>
                    </a:solidFill>
                  </a:tcPr>
                </a:tc>
                <a:tc>
                  <a:txBody>
                    <a:bodyPr/>
                    <a:lstStyle/>
                    <a:p>
                      <a:r>
                        <a:rPr sz="1200">
                          <a:solidFill>
                            <a:srgbClr val="0B1D2E"/>
                          </a:solidFill>
                        </a:rPr>
                        <a:t>Singapore is the hub; land and power limits push growth to Johor Bahru, Jakarta, Bangkok</a:t>
                      </a:r>
                    </a:p>
                  </a:txBody>
                  <a:tcPr>
                    <a:solidFill>
                      <a:srgbClr val="FFFFFF"/>
                    </a:solidFill>
                  </a:tcPr>
                </a:tc>
                <a:extLst>
                  <a:ext uri="{0D108BD9-81ED-4DB2-BD59-A6C34878D82A}">
                    <a16:rowId xmlns:a16="http://schemas.microsoft.com/office/drawing/2014/main" val="10005"/>
                  </a:ext>
                </a:extLst>
              </a:tr>
              <a:tr h="329184">
                <a:tc>
                  <a:txBody>
                    <a:bodyPr/>
                    <a:lstStyle/>
                    <a:p>
                      <a:r>
                        <a:rPr sz="1200">
                          <a:solidFill>
                            <a:srgbClr val="0B1D2E"/>
                          </a:solidFill>
                        </a:rPr>
                        <a:t>Rest of world</a:t>
                      </a:r>
                    </a:p>
                  </a:txBody>
                  <a:tcPr>
                    <a:solidFill>
                      <a:srgbClr val="D6E8F4"/>
                    </a:solidFill>
                  </a:tcPr>
                </a:tc>
                <a:tc>
                  <a:txBody>
                    <a:bodyPr/>
                    <a:lstStyle/>
                    <a:p>
                      <a:r>
                        <a:rPr sz="1200">
                          <a:solidFill>
                            <a:srgbClr val="0B1D2E"/>
                          </a:solidFill>
                        </a:rPr>
                        <a:t>~6%</a:t>
                      </a:r>
                    </a:p>
                  </a:txBody>
                  <a:tcPr>
                    <a:solidFill>
                      <a:srgbClr val="D6E8F4"/>
                    </a:solidFill>
                  </a:tcPr>
                </a:tc>
                <a:tc>
                  <a:txBody>
                    <a:bodyPr/>
                    <a:lstStyle/>
                    <a:p>
                      <a:r>
                        <a:rPr sz="1200">
                          <a:solidFill>
                            <a:srgbClr val="0B1D2E"/>
                          </a:solidFill>
                        </a:rPr>
                        <a:t>UAE and Saudi Arabia invest in AI-scale campuses; also South Africa, Japan, South Korea</a:t>
                      </a:r>
                    </a:p>
                  </a:txBody>
                  <a:tcPr>
                    <a:solidFill>
                      <a:srgbClr val="D6E8F4"/>
                    </a:solidFill>
                  </a:tcPr>
                </a:tc>
                <a:extLst>
                  <a:ext uri="{0D108BD9-81ED-4DB2-BD59-A6C34878D82A}">
                    <a16:rowId xmlns:a16="http://schemas.microsoft.com/office/drawing/2014/main" val="10006"/>
                  </a:ext>
                </a:extLst>
              </a:tr>
              <a:tr h="329184">
                <a:tc>
                  <a:txBody>
                    <a:bodyPr/>
                    <a:lstStyle/>
                    <a:p>
                      <a:r>
                        <a:rPr sz="1200">
                          <a:solidFill>
                            <a:srgbClr val="0B1D2E"/>
                          </a:solidFill>
                        </a:rPr>
                        <a:t>Canada and Mexico</a:t>
                      </a:r>
                    </a:p>
                  </a:txBody>
                  <a:tcPr>
                    <a:solidFill>
                      <a:srgbClr val="FFFFFF"/>
                    </a:solidFill>
                  </a:tcPr>
                </a:tc>
                <a:tc>
                  <a:txBody>
                    <a:bodyPr/>
                    <a:lstStyle/>
                    <a:p>
                      <a:r>
                        <a:rPr sz="1200">
                          <a:solidFill>
                            <a:srgbClr val="0B1D2E"/>
                          </a:solidFill>
                        </a:rPr>
                        <a:t>~4%</a:t>
                      </a:r>
                    </a:p>
                  </a:txBody>
                  <a:tcPr>
                    <a:solidFill>
                      <a:srgbClr val="FFFFFF"/>
                    </a:solidFill>
                  </a:tcPr>
                </a:tc>
                <a:tc>
                  <a:txBody>
                    <a:bodyPr/>
                    <a:lstStyle/>
                    <a:p>
                      <a:r>
                        <a:rPr sz="1200">
                          <a:solidFill>
                            <a:srgbClr val="0B1D2E"/>
                          </a:solidFill>
                        </a:rPr>
                        <a:t>Toronto, Montreal (cheap hydro), Vancouver; Queretaro, Mexico City, Monterrey</a:t>
                      </a:r>
                    </a:p>
                  </a:txBody>
                  <a:tcPr>
                    <a:solidFill>
                      <a:srgbClr val="FFFFFF"/>
                    </a:solidFill>
                  </a:tcPr>
                </a:tc>
                <a:extLst>
                  <a:ext uri="{0D108BD9-81ED-4DB2-BD59-A6C34878D82A}">
                    <a16:rowId xmlns:a16="http://schemas.microsoft.com/office/drawing/2014/main" val="10007"/>
                  </a:ext>
                </a:extLst>
              </a:tr>
              <a:tr h="329184">
                <a:tc>
                  <a:txBody>
                    <a:bodyPr/>
                    <a:lstStyle/>
                    <a:p>
                      <a:r>
                        <a:rPr sz="1200">
                          <a:solidFill>
                            <a:srgbClr val="0B1D2E"/>
                          </a:solidFill>
                        </a:rPr>
                        <a:t>Central and South America</a:t>
                      </a:r>
                    </a:p>
                  </a:txBody>
                  <a:tcPr>
                    <a:solidFill>
                      <a:srgbClr val="D6E8F4"/>
                    </a:solidFill>
                  </a:tcPr>
                </a:tc>
                <a:tc>
                  <a:txBody>
                    <a:bodyPr/>
                    <a:lstStyle/>
                    <a:p>
                      <a:r>
                        <a:rPr sz="1200">
                          <a:solidFill>
                            <a:srgbClr val="0B1D2E"/>
                          </a:solidFill>
                        </a:rPr>
                        <a:t>~3%</a:t>
                      </a:r>
                    </a:p>
                  </a:txBody>
                  <a:tcPr>
                    <a:solidFill>
                      <a:srgbClr val="D6E8F4"/>
                    </a:solidFill>
                  </a:tcPr>
                </a:tc>
                <a:tc>
                  <a:txBody>
                    <a:bodyPr/>
                    <a:lstStyle/>
                    <a:p>
                      <a:r>
                        <a:rPr sz="1200">
                          <a:solidFill>
                            <a:srgbClr val="0B1D2E"/>
                          </a:solidFill>
                        </a:rPr>
                        <a:t>Brazil (Sao Paulo) dominates, with growth in Chile, Colombia, and Argentina</a:t>
                      </a:r>
                    </a:p>
                  </a:txBody>
                  <a:tcPr>
                    <a:solidFill>
                      <a:srgbClr val="D6E8F4"/>
                    </a:solidFill>
                  </a:tcPr>
                </a:tc>
                <a:extLst>
                  <a:ext uri="{0D108BD9-81ED-4DB2-BD59-A6C34878D82A}">
                    <a16:rowId xmlns:a16="http://schemas.microsoft.com/office/drawing/2014/main" val="10008"/>
                  </a:ext>
                </a:extLst>
              </a:tr>
              <a:tr h="329184">
                <a:tc>
                  <a:txBody>
                    <a:bodyPr/>
                    <a:lstStyle/>
                    <a:p>
                      <a:r>
                        <a:rPr sz="1200">
                          <a:solidFill>
                            <a:srgbClr val="0B1D2E"/>
                          </a:solidFill>
                        </a:rPr>
                        <a:t>Russia</a:t>
                      </a:r>
                    </a:p>
                  </a:txBody>
                  <a:tcPr>
                    <a:solidFill>
                      <a:srgbClr val="FFFFFF"/>
                    </a:solidFill>
                  </a:tcPr>
                </a:tc>
                <a:tc>
                  <a:txBody>
                    <a:bodyPr/>
                    <a:lstStyle/>
                    <a:p>
                      <a:r>
                        <a:rPr sz="1200">
                          <a:solidFill>
                            <a:srgbClr val="0B1D2E"/>
                          </a:solidFill>
                        </a:rPr>
                        <a:t>~2%</a:t>
                      </a:r>
                    </a:p>
                  </a:txBody>
                  <a:tcPr>
                    <a:solidFill>
                      <a:srgbClr val="FFFFFF"/>
                    </a:solidFill>
                  </a:tcPr>
                </a:tc>
                <a:tc>
                  <a:txBody>
                    <a:bodyPr/>
                    <a:lstStyle/>
                    <a:p>
                      <a:r>
                        <a:rPr sz="1200">
                          <a:solidFill>
                            <a:srgbClr val="0B1D2E"/>
                          </a:solidFill>
                        </a:rPr>
                        <a:t>Moscow dominates; law requires Russian user data to stay on Russian soil</a:t>
                      </a:r>
                    </a:p>
                  </a:txBody>
                  <a:tcP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28. What the Machines Actually Do</a:t>
            </a:r>
          </a:p>
        </p:txBody>
      </p:sp>
      <p:sp>
        <p:nvSpPr>
          <p:cNvPr id="3" name="TextBox 2"/>
          <p:cNvSpPr txBox="1"/>
          <p:nvPr/>
        </p:nvSpPr>
        <p:spPr>
          <a:xfrm>
            <a:off x="731520" y="1234440"/>
            <a:ext cx="10728655" cy="5074920"/>
          </a:xfrm>
          <a:prstGeom prst="rect">
            <a:avLst/>
          </a:prstGeom>
          <a:noFill/>
        </p:spPr>
        <p:txBody>
          <a:bodyPr wrap="square">
            <a:spAutoFit/>
          </a:bodyPr>
          <a:lstStyle/>
          <a:p>
            <a:pPr>
              <a:spcBef>
                <a:spcPts val="600"/>
              </a:spcBef>
              <a:spcAft>
                <a:spcPts val="1000"/>
              </a:spcAft>
            </a:pPr>
            <a:r>
              <a:rPr sz="1700" b="0">
                <a:solidFill>
                  <a:srgbClr val="0B1D2E"/>
                </a:solidFill>
              </a:rPr>
              <a:t>Approximate shares of global data center computing, 2024 and 2025.</a:t>
            </a:r>
          </a:p>
        </p:txBody>
      </p:sp>
      <p:graphicFrame>
        <p:nvGraphicFramePr>
          <p:cNvPr id="4" name="Table 3"/>
          <p:cNvGraphicFramePr>
            <a:graphicFrameLocks noGrp="1"/>
          </p:cNvGraphicFramePr>
          <p:nvPr/>
        </p:nvGraphicFramePr>
        <p:xfrm>
          <a:off x="640080" y="1920240"/>
          <a:ext cx="10911534" cy="2633472"/>
        </p:xfrm>
        <a:graphic>
          <a:graphicData uri="http://schemas.openxmlformats.org/drawingml/2006/table">
            <a:tbl>
              <a:tblPr firstRow="1" bandRow="1">
                <a:tableStyleId>{5C22544A-7EE6-4342-B048-85BDC9FD1C3A}</a:tableStyleId>
              </a:tblPr>
              <a:tblGrid>
                <a:gridCol w="3519850">
                  <a:extLst>
                    <a:ext uri="{9D8B030D-6E8A-4147-A177-3AD203B41FA5}">
                      <a16:colId xmlns:a16="http://schemas.microsoft.com/office/drawing/2014/main" val="20000"/>
                    </a:ext>
                  </a:extLst>
                </a:gridCol>
                <a:gridCol w="1231947">
                  <a:extLst>
                    <a:ext uri="{9D8B030D-6E8A-4147-A177-3AD203B41FA5}">
                      <a16:colId xmlns:a16="http://schemas.microsoft.com/office/drawing/2014/main" val="20001"/>
                    </a:ext>
                  </a:extLst>
                </a:gridCol>
                <a:gridCol w="6159737">
                  <a:extLst>
                    <a:ext uri="{9D8B030D-6E8A-4147-A177-3AD203B41FA5}">
                      <a16:colId xmlns:a16="http://schemas.microsoft.com/office/drawing/2014/main" val="20002"/>
                    </a:ext>
                  </a:extLst>
                </a:gridCol>
              </a:tblGrid>
              <a:tr h="329184">
                <a:tc>
                  <a:txBody>
                    <a:bodyPr/>
                    <a:lstStyle/>
                    <a:p>
                      <a:r>
                        <a:rPr sz="1400" b="1">
                          <a:solidFill>
                            <a:srgbClr val="EAF6FD"/>
                          </a:solidFill>
                        </a:rPr>
                        <a:t>Category</a:t>
                      </a:r>
                    </a:p>
                  </a:txBody>
                  <a:tcPr>
                    <a:solidFill>
                      <a:srgbClr val="1A5C8A"/>
                    </a:solidFill>
                  </a:tcPr>
                </a:tc>
                <a:tc>
                  <a:txBody>
                    <a:bodyPr/>
                    <a:lstStyle/>
                    <a:p>
                      <a:r>
                        <a:rPr sz="1400" b="1">
                          <a:solidFill>
                            <a:srgbClr val="EAF6FD"/>
                          </a:solidFill>
                        </a:rPr>
                        <a:t>Share</a:t>
                      </a:r>
                    </a:p>
                  </a:txBody>
                  <a:tcPr>
                    <a:solidFill>
                      <a:srgbClr val="1A5C8A"/>
                    </a:solidFill>
                  </a:tcPr>
                </a:tc>
                <a:tc>
                  <a:txBody>
                    <a:bodyPr/>
                    <a:lstStyle/>
                    <a:p>
                      <a:r>
                        <a:rPr sz="1400" b="1">
                          <a:solidFill>
                            <a:srgbClr val="EAF6FD"/>
                          </a:solidFill>
                        </a:rPr>
                        <a:t>What runs there</a:t>
                      </a:r>
                    </a:p>
                  </a:txBody>
                  <a:tcPr>
                    <a:solidFill>
                      <a:srgbClr val="1A5C8A"/>
                    </a:solidFill>
                  </a:tcPr>
                </a:tc>
                <a:extLst>
                  <a:ext uri="{0D108BD9-81ED-4DB2-BD59-A6C34878D82A}">
                    <a16:rowId xmlns:a16="http://schemas.microsoft.com/office/drawing/2014/main" val="10000"/>
                  </a:ext>
                </a:extLst>
              </a:tr>
              <a:tr h="329184">
                <a:tc>
                  <a:txBody>
                    <a:bodyPr/>
                    <a:lstStyle/>
                    <a:p>
                      <a:r>
                        <a:rPr sz="1400">
                          <a:solidFill>
                            <a:srgbClr val="0B1D2E"/>
                          </a:solidFill>
                        </a:rPr>
                        <a:t>Enterprise and business IT</a:t>
                      </a:r>
                    </a:p>
                  </a:txBody>
                  <a:tcPr>
                    <a:solidFill>
                      <a:srgbClr val="FFFFFF"/>
                    </a:solidFill>
                  </a:tcPr>
                </a:tc>
                <a:tc>
                  <a:txBody>
                    <a:bodyPr/>
                    <a:lstStyle/>
                    <a:p>
                      <a:r>
                        <a:rPr sz="1400">
                          <a:solidFill>
                            <a:srgbClr val="0B1D2E"/>
                          </a:solidFill>
                        </a:rPr>
                        <a:t>~25%</a:t>
                      </a:r>
                    </a:p>
                  </a:txBody>
                  <a:tcPr>
                    <a:solidFill>
                      <a:srgbClr val="FFFFFF"/>
                    </a:solidFill>
                  </a:tcPr>
                </a:tc>
                <a:tc>
                  <a:txBody>
                    <a:bodyPr/>
                    <a:lstStyle/>
                    <a:p>
                      <a:r>
                        <a:rPr sz="1400">
                          <a:solidFill>
                            <a:srgbClr val="0B1D2E"/>
                          </a:solidFill>
                        </a:rPr>
                        <a:t>Accounting, sales, email, internal applications</a:t>
                      </a:r>
                    </a:p>
                  </a:txBody>
                  <a:tcPr>
                    <a:solidFill>
                      <a:srgbClr val="FFFFFF"/>
                    </a:solidFill>
                  </a:tcPr>
                </a:tc>
                <a:extLst>
                  <a:ext uri="{0D108BD9-81ED-4DB2-BD59-A6C34878D82A}">
                    <a16:rowId xmlns:a16="http://schemas.microsoft.com/office/drawing/2014/main" val="10001"/>
                  </a:ext>
                </a:extLst>
              </a:tr>
              <a:tr h="329184">
                <a:tc>
                  <a:txBody>
                    <a:bodyPr/>
                    <a:lstStyle/>
                    <a:p>
                      <a:r>
                        <a:rPr sz="1400">
                          <a:solidFill>
                            <a:srgbClr val="0B1D2E"/>
                          </a:solidFill>
                        </a:rPr>
                        <a:t>AI and machine learning</a:t>
                      </a:r>
                    </a:p>
                  </a:txBody>
                  <a:tcPr>
                    <a:solidFill>
                      <a:srgbClr val="D6E8F4"/>
                    </a:solidFill>
                  </a:tcPr>
                </a:tc>
                <a:tc>
                  <a:txBody>
                    <a:bodyPr/>
                    <a:lstStyle/>
                    <a:p>
                      <a:r>
                        <a:rPr sz="1400">
                          <a:solidFill>
                            <a:srgbClr val="0B1D2E"/>
                          </a:solidFill>
                        </a:rPr>
                        <a:t>~18%</a:t>
                      </a:r>
                    </a:p>
                  </a:txBody>
                  <a:tcPr>
                    <a:solidFill>
                      <a:srgbClr val="D6E8F4"/>
                    </a:solidFill>
                  </a:tcPr>
                </a:tc>
                <a:tc>
                  <a:txBody>
                    <a:bodyPr/>
                    <a:lstStyle/>
                    <a:p>
                      <a:r>
                        <a:rPr sz="1400">
                          <a:solidFill>
                            <a:srgbClr val="0B1D2E"/>
                          </a:solidFill>
                        </a:rPr>
                        <a:t>Training models and answering queries; up from 10% in 2022</a:t>
                      </a:r>
                    </a:p>
                  </a:txBody>
                  <a:tcPr>
                    <a:solidFill>
                      <a:srgbClr val="D6E8F4"/>
                    </a:solidFill>
                  </a:tcPr>
                </a:tc>
                <a:extLst>
                  <a:ext uri="{0D108BD9-81ED-4DB2-BD59-A6C34878D82A}">
                    <a16:rowId xmlns:a16="http://schemas.microsoft.com/office/drawing/2014/main" val="10002"/>
                  </a:ext>
                </a:extLst>
              </a:tr>
              <a:tr h="329184">
                <a:tc>
                  <a:txBody>
                    <a:bodyPr/>
                    <a:lstStyle/>
                    <a:p>
                      <a:r>
                        <a:rPr sz="1400">
                          <a:solidFill>
                            <a:srgbClr val="0B1D2E"/>
                          </a:solidFill>
                        </a:rPr>
                        <a:t>Video streaming</a:t>
                      </a:r>
                    </a:p>
                  </a:txBody>
                  <a:tcPr>
                    <a:solidFill>
                      <a:srgbClr val="FFFFFF"/>
                    </a:solidFill>
                  </a:tcPr>
                </a:tc>
                <a:tc>
                  <a:txBody>
                    <a:bodyPr/>
                    <a:lstStyle/>
                    <a:p>
                      <a:r>
                        <a:rPr sz="1400">
                          <a:solidFill>
                            <a:srgbClr val="0B1D2E"/>
                          </a:solidFill>
                        </a:rPr>
                        <a:t>~15%</a:t>
                      </a:r>
                    </a:p>
                  </a:txBody>
                  <a:tcPr>
                    <a:solidFill>
                      <a:srgbClr val="FFFFFF"/>
                    </a:solidFill>
                  </a:tcPr>
                </a:tc>
                <a:tc>
                  <a:txBody>
                    <a:bodyPr/>
                    <a:lstStyle/>
                    <a:p>
                      <a:r>
                        <a:rPr sz="1400">
                          <a:solidFill>
                            <a:srgbClr val="0B1D2E"/>
                          </a:solidFill>
                        </a:rPr>
                        <a:t>Netflix, YouTube, TikTok: storage and format conversion</a:t>
                      </a:r>
                    </a:p>
                  </a:txBody>
                  <a:tcPr>
                    <a:solidFill>
                      <a:srgbClr val="FFFFFF"/>
                    </a:solidFill>
                  </a:tcPr>
                </a:tc>
                <a:extLst>
                  <a:ext uri="{0D108BD9-81ED-4DB2-BD59-A6C34878D82A}">
                    <a16:rowId xmlns:a16="http://schemas.microsoft.com/office/drawing/2014/main" val="10003"/>
                  </a:ext>
                </a:extLst>
              </a:tr>
              <a:tr h="329184">
                <a:tc>
                  <a:txBody>
                    <a:bodyPr/>
                    <a:lstStyle/>
                    <a:p>
                      <a:r>
                        <a:rPr sz="1400">
                          <a:solidFill>
                            <a:srgbClr val="0B1D2E"/>
                          </a:solidFill>
                        </a:rPr>
                        <a:t>Social media</a:t>
                      </a:r>
                    </a:p>
                  </a:txBody>
                  <a:tcPr>
                    <a:solidFill>
                      <a:srgbClr val="D6E8F4"/>
                    </a:solidFill>
                  </a:tcPr>
                </a:tc>
                <a:tc>
                  <a:txBody>
                    <a:bodyPr/>
                    <a:lstStyle/>
                    <a:p>
                      <a:r>
                        <a:rPr sz="1400">
                          <a:solidFill>
                            <a:srgbClr val="0B1D2E"/>
                          </a:solidFill>
                        </a:rPr>
                        <a:t>~8%</a:t>
                      </a:r>
                    </a:p>
                  </a:txBody>
                  <a:tcPr>
                    <a:solidFill>
                      <a:srgbClr val="D6E8F4"/>
                    </a:solidFill>
                  </a:tcPr>
                </a:tc>
                <a:tc>
                  <a:txBody>
                    <a:bodyPr/>
                    <a:lstStyle/>
                    <a:p>
                      <a:r>
                        <a:rPr sz="1400">
                          <a:solidFill>
                            <a:srgbClr val="0B1D2E"/>
                          </a:solidFill>
                        </a:rPr>
                        <a:t>Feed ranking, content storage, ad targeting</a:t>
                      </a:r>
                    </a:p>
                  </a:txBody>
                  <a:tcPr>
                    <a:solidFill>
                      <a:srgbClr val="D6E8F4"/>
                    </a:solidFill>
                  </a:tcPr>
                </a:tc>
                <a:extLst>
                  <a:ext uri="{0D108BD9-81ED-4DB2-BD59-A6C34878D82A}">
                    <a16:rowId xmlns:a16="http://schemas.microsoft.com/office/drawing/2014/main" val="10004"/>
                  </a:ext>
                </a:extLst>
              </a:tr>
              <a:tr h="329184">
                <a:tc>
                  <a:txBody>
                    <a:bodyPr/>
                    <a:lstStyle/>
                    <a:p>
                      <a:r>
                        <a:rPr sz="1400">
                          <a:solidFill>
                            <a:srgbClr val="0B1D2E"/>
                          </a:solidFill>
                        </a:rPr>
                        <a:t>E-commerce and search</a:t>
                      </a:r>
                    </a:p>
                  </a:txBody>
                  <a:tcPr>
                    <a:solidFill>
                      <a:srgbClr val="FFFFFF"/>
                    </a:solidFill>
                  </a:tcPr>
                </a:tc>
                <a:tc>
                  <a:txBody>
                    <a:bodyPr/>
                    <a:lstStyle/>
                    <a:p>
                      <a:r>
                        <a:rPr sz="1400">
                          <a:solidFill>
                            <a:srgbClr val="0B1D2E"/>
                          </a:solidFill>
                        </a:rPr>
                        <a:t>~11%</a:t>
                      </a:r>
                    </a:p>
                  </a:txBody>
                  <a:tcPr>
                    <a:solidFill>
                      <a:srgbClr val="FFFFFF"/>
                    </a:solidFill>
                  </a:tcPr>
                </a:tc>
                <a:tc>
                  <a:txBody>
                    <a:bodyPr/>
                    <a:lstStyle/>
                    <a:p>
                      <a:r>
                        <a:rPr sz="1400">
                          <a:solidFill>
                            <a:srgbClr val="0B1D2E"/>
                          </a:solidFill>
                        </a:rPr>
                        <a:t>Transactions, logistics, crawling, indexing</a:t>
                      </a:r>
                    </a:p>
                  </a:txBody>
                  <a:tcPr>
                    <a:solidFill>
                      <a:srgbClr val="FFFFFF"/>
                    </a:solidFill>
                  </a:tcPr>
                </a:tc>
                <a:extLst>
                  <a:ext uri="{0D108BD9-81ED-4DB2-BD59-A6C34878D82A}">
                    <a16:rowId xmlns:a16="http://schemas.microsoft.com/office/drawing/2014/main" val="10005"/>
                  </a:ext>
                </a:extLst>
              </a:tr>
              <a:tr h="329184">
                <a:tc>
                  <a:txBody>
                    <a:bodyPr/>
                    <a:lstStyle/>
                    <a:p>
                      <a:r>
                        <a:rPr sz="1400">
                          <a:solidFill>
                            <a:srgbClr val="0B1D2E"/>
                          </a:solidFill>
                        </a:rPr>
                        <a:t>Financial services</a:t>
                      </a:r>
                    </a:p>
                  </a:txBody>
                  <a:tcPr>
                    <a:solidFill>
                      <a:srgbClr val="D6E8F4"/>
                    </a:solidFill>
                  </a:tcPr>
                </a:tc>
                <a:tc>
                  <a:txBody>
                    <a:bodyPr/>
                    <a:lstStyle/>
                    <a:p>
                      <a:r>
                        <a:rPr sz="1400">
                          <a:solidFill>
                            <a:srgbClr val="0B1D2E"/>
                          </a:solidFill>
                        </a:rPr>
                        <a:t>~5%</a:t>
                      </a:r>
                    </a:p>
                  </a:txBody>
                  <a:tcPr>
                    <a:solidFill>
                      <a:srgbClr val="D6E8F4"/>
                    </a:solidFill>
                  </a:tcPr>
                </a:tc>
                <a:tc>
                  <a:txBody>
                    <a:bodyPr/>
                    <a:lstStyle/>
                    <a:p>
                      <a:r>
                        <a:rPr sz="1400">
                          <a:solidFill>
                            <a:srgbClr val="0B1D2E"/>
                          </a:solidFill>
                        </a:rPr>
                        <a:t>Trading, fraud detection, payments, reporting</a:t>
                      </a:r>
                    </a:p>
                  </a:txBody>
                  <a:tcPr>
                    <a:solidFill>
                      <a:srgbClr val="D6E8F4"/>
                    </a:solidFill>
                  </a:tcPr>
                </a:tc>
                <a:extLst>
                  <a:ext uri="{0D108BD9-81ED-4DB2-BD59-A6C34878D82A}">
                    <a16:rowId xmlns:a16="http://schemas.microsoft.com/office/drawing/2014/main" val="10006"/>
                  </a:ext>
                </a:extLst>
              </a:tr>
              <a:tr h="329184">
                <a:tc>
                  <a:txBody>
                    <a:bodyPr/>
                    <a:lstStyle/>
                    <a:p>
                      <a:r>
                        <a:rPr sz="1400">
                          <a:solidFill>
                            <a:srgbClr val="0B1D2E"/>
                          </a:solidFill>
                        </a:rPr>
                        <a:t>Everything else</a:t>
                      </a:r>
                    </a:p>
                  </a:txBody>
                  <a:tcPr>
                    <a:solidFill>
                      <a:srgbClr val="FFFFFF"/>
                    </a:solidFill>
                  </a:tcPr>
                </a:tc>
                <a:tc>
                  <a:txBody>
                    <a:bodyPr/>
                    <a:lstStyle/>
                    <a:p>
                      <a:r>
                        <a:rPr sz="1400">
                          <a:solidFill>
                            <a:srgbClr val="0B1D2E"/>
                          </a:solidFill>
                        </a:rPr>
                        <a:t>~18%</a:t>
                      </a:r>
                    </a:p>
                  </a:txBody>
                  <a:tcPr>
                    <a:solidFill>
                      <a:srgbClr val="FFFFFF"/>
                    </a:solidFill>
                  </a:tcPr>
                </a:tc>
                <a:tc>
                  <a:txBody>
                    <a:bodyPr/>
                    <a:lstStyle/>
                    <a:p>
                      <a:r>
                        <a:rPr sz="1400">
                          <a:solidFill>
                            <a:srgbClr val="0B1D2E"/>
                          </a:solidFill>
                        </a:rPr>
                        <a:t>Communications, gaming, science, government, health, security</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a:solidFill>
                  <a:srgbClr val="EAF6FD"/>
                </a:solidFill>
              </a:rPr>
              <a:t>29. Economics: Neither Company Makes Money</a:t>
            </a:r>
          </a:p>
        </p:txBody>
      </p:sp>
      <p:sp>
        <p:nvSpPr>
          <p:cNvPr id="3" name="TextBox 2"/>
          <p:cNvSpPr txBox="1"/>
          <p:nvPr/>
        </p:nvSpPr>
        <p:spPr>
          <a:xfrm>
            <a:off x="731520" y="1371600"/>
            <a:ext cx="10728655" cy="4937760"/>
          </a:xfrm>
          <a:prstGeom prst="rect">
            <a:avLst/>
          </a:prstGeom>
          <a:noFill/>
        </p:spPr>
        <p:txBody>
          <a:bodyPr wrap="square">
            <a:spAutoFit/>
          </a:bodyPr>
          <a:lstStyle/>
          <a:p>
            <a:pPr>
              <a:spcBef>
                <a:spcPts val="600"/>
              </a:spcBef>
              <a:spcAft>
                <a:spcPts val="1000"/>
              </a:spcAft>
            </a:pPr>
            <a:r>
              <a:rPr sz="1900" b="0">
                <a:solidFill>
                  <a:srgbClr val="0B1D2E"/>
                </a:solidFill>
              </a:rPr>
              <a:t>Two companies dominate the chatbots in this presentation. Both grow revenue several times over each year, and both spend far more than they take in. Investors cover the gap.</a:t>
            </a:r>
          </a:p>
          <a:p>
            <a:pPr>
              <a:spcBef>
                <a:spcPts val="600"/>
              </a:spcBef>
              <a:spcAft>
                <a:spcPts val="1000"/>
              </a:spcAft>
            </a:pPr>
            <a:r>
              <a:rPr sz="1900" b="1">
                <a:solidFill>
                  <a:srgbClr val="0B1D2E"/>
                </a:solidFill>
              </a:rPr>
              <a:t>Three terms carry the numbers:</a:t>
            </a:r>
          </a:p>
          <a:p>
            <a:pPr lvl="1">
              <a:spcAft>
                <a:spcPts val="500"/>
              </a:spcAft>
            </a:pPr>
            <a:r>
              <a:rPr sz="1600" b="0">
                <a:solidFill>
                  <a:srgbClr val="1A5C8A"/>
                </a:solidFill>
              </a:rPr>
              <a:t>Revenue is what customers pay.</a:t>
            </a:r>
          </a:p>
          <a:p>
            <a:pPr lvl="1">
              <a:spcAft>
                <a:spcPts val="500"/>
              </a:spcAft>
            </a:pPr>
            <a:r>
              <a:rPr sz="1600" b="0">
                <a:solidFill>
                  <a:srgbClr val="1A5C8A"/>
                </a:solidFill>
              </a:rPr>
              <a:t>Operating loss is revenue minus the cost of running the business.</a:t>
            </a:r>
          </a:p>
          <a:p>
            <a:pPr lvl="1">
              <a:spcAft>
                <a:spcPts val="500"/>
              </a:spcAft>
            </a:pPr>
            <a:r>
              <a:rPr sz="1600" b="0">
                <a:solidFill>
                  <a:srgbClr val="1A5C8A"/>
                </a:solidFill>
              </a:rPr>
              <a:t>Net loss adds accounting charges that move no cash, so it can dwarf the operating loss.</a:t>
            </a:r>
          </a:p>
          <a:p>
            <a:pPr>
              <a:spcBef>
                <a:spcPts val="600"/>
              </a:spcBef>
              <a:spcAft>
                <a:spcPts val="1000"/>
              </a:spcAft>
            </a:pPr>
            <a:r>
              <a:rPr sz="1900" b="1">
                <a:solidFill>
                  <a:srgbClr val="0B1D2E"/>
                </a:solidFill>
              </a:rPr>
              <a:t>In 2025 the two together reported about 18 billion dollars of revenue and about 29 billion of operating loss. For every dollar a customer paid, they spent roughly 2.60 dollars.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dirty="0">
                <a:solidFill>
                  <a:srgbClr val="EAF6FD"/>
                </a:solidFill>
              </a:rPr>
              <a:t>30. </a:t>
            </a:r>
            <a:r>
              <a:rPr lang="en-US" sz="3000" b="1" dirty="0">
                <a:solidFill>
                  <a:srgbClr val="EAF6FD"/>
                </a:solidFill>
              </a:rPr>
              <a:t>Financials: </a:t>
            </a:r>
            <a:r>
              <a:rPr sz="3000" b="1" dirty="0">
                <a:solidFill>
                  <a:srgbClr val="EAF6FD"/>
                </a:solidFill>
              </a:rPr>
              <a:t>OpenAI, 2022 to 2025</a:t>
            </a:r>
          </a:p>
        </p:txBody>
      </p:sp>
      <p:sp>
        <p:nvSpPr>
          <p:cNvPr id="3" name="TextBox 2"/>
          <p:cNvSpPr txBox="1"/>
          <p:nvPr/>
        </p:nvSpPr>
        <p:spPr>
          <a:xfrm>
            <a:off x="731520" y="1234440"/>
            <a:ext cx="10728655" cy="5074920"/>
          </a:xfrm>
          <a:prstGeom prst="rect">
            <a:avLst/>
          </a:prstGeom>
          <a:noFill/>
        </p:spPr>
        <p:txBody>
          <a:bodyPr wrap="square">
            <a:spAutoFit/>
          </a:bodyPr>
          <a:lstStyle/>
          <a:p>
            <a:pPr>
              <a:spcBef>
                <a:spcPts val="600"/>
              </a:spcBef>
              <a:spcAft>
                <a:spcPts val="1000"/>
              </a:spcAft>
            </a:pPr>
            <a:r>
              <a:rPr sz="1700" b="0">
                <a:solidFill>
                  <a:srgbClr val="0B1D2E"/>
                </a:solidFill>
              </a:rPr>
              <a:t>A nonprofit with a billion dollars in pledges reached 13 billion in revenue ten years later.</a:t>
            </a:r>
          </a:p>
        </p:txBody>
      </p:sp>
      <p:graphicFrame>
        <p:nvGraphicFramePr>
          <p:cNvPr id="4" name="Table 3"/>
          <p:cNvGraphicFramePr>
            <a:graphicFrameLocks noGrp="1"/>
          </p:cNvGraphicFramePr>
          <p:nvPr/>
        </p:nvGraphicFramePr>
        <p:xfrm>
          <a:off x="640080" y="1920240"/>
          <a:ext cx="10911533" cy="1645920"/>
        </p:xfrm>
        <a:graphic>
          <a:graphicData uri="http://schemas.openxmlformats.org/drawingml/2006/table">
            <a:tbl>
              <a:tblPr firstRow="1" bandRow="1">
                <a:tableStyleId>{5C22544A-7EE6-4342-B048-85BDC9FD1C3A}</a:tableStyleId>
              </a:tblPr>
              <a:tblGrid>
                <a:gridCol w="1392961">
                  <a:extLst>
                    <a:ext uri="{9D8B030D-6E8A-4147-A177-3AD203B41FA5}">
                      <a16:colId xmlns:a16="http://schemas.microsoft.com/office/drawing/2014/main" val="20000"/>
                    </a:ext>
                  </a:extLst>
                </a:gridCol>
                <a:gridCol w="2321603">
                  <a:extLst>
                    <a:ext uri="{9D8B030D-6E8A-4147-A177-3AD203B41FA5}">
                      <a16:colId xmlns:a16="http://schemas.microsoft.com/office/drawing/2014/main" val="20001"/>
                    </a:ext>
                  </a:extLst>
                </a:gridCol>
                <a:gridCol w="2321603">
                  <a:extLst>
                    <a:ext uri="{9D8B030D-6E8A-4147-A177-3AD203B41FA5}">
                      <a16:colId xmlns:a16="http://schemas.microsoft.com/office/drawing/2014/main" val="20002"/>
                    </a:ext>
                  </a:extLst>
                </a:gridCol>
                <a:gridCol w="2553763">
                  <a:extLst>
                    <a:ext uri="{9D8B030D-6E8A-4147-A177-3AD203B41FA5}">
                      <a16:colId xmlns:a16="http://schemas.microsoft.com/office/drawing/2014/main" val="20003"/>
                    </a:ext>
                  </a:extLst>
                </a:gridCol>
                <a:gridCol w="2321603">
                  <a:extLst>
                    <a:ext uri="{9D8B030D-6E8A-4147-A177-3AD203B41FA5}">
                      <a16:colId xmlns:a16="http://schemas.microsoft.com/office/drawing/2014/main" val="20004"/>
                    </a:ext>
                  </a:extLst>
                </a:gridCol>
              </a:tblGrid>
              <a:tr h="329184">
                <a:tc>
                  <a:txBody>
                    <a:bodyPr/>
                    <a:lstStyle/>
                    <a:p>
                      <a:r>
                        <a:rPr sz="1500" b="1">
                          <a:solidFill>
                            <a:srgbClr val="EAF6FD"/>
                          </a:solidFill>
                        </a:rPr>
                        <a:t>Year</a:t>
                      </a:r>
                    </a:p>
                  </a:txBody>
                  <a:tcPr>
                    <a:solidFill>
                      <a:srgbClr val="1A5C8A"/>
                    </a:solidFill>
                  </a:tcPr>
                </a:tc>
                <a:tc>
                  <a:txBody>
                    <a:bodyPr/>
                    <a:lstStyle/>
                    <a:p>
                      <a:r>
                        <a:rPr sz="1500" b="1">
                          <a:solidFill>
                            <a:srgbClr val="EAF6FD"/>
                          </a:solidFill>
                        </a:rPr>
                        <a:t>Revenue</a:t>
                      </a:r>
                    </a:p>
                  </a:txBody>
                  <a:tcPr>
                    <a:solidFill>
                      <a:srgbClr val="1A5C8A"/>
                    </a:solidFill>
                  </a:tcPr>
                </a:tc>
                <a:tc>
                  <a:txBody>
                    <a:bodyPr/>
                    <a:lstStyle/>
                    <a:p>
                      <a:r>
                        <a:rPr sz="1500" b="1">
                          <a:solidFill>
                            <a:srgbClr val="EAF6FD"/>
                          </a:solidFill>
                        </a:rPr>
                        <a:t>Compute</a:t>
                      </a:r>
                    </a:p>
                  </a:txBody>
                  <a:tcPr>
                    <a:solidFill>
                      <a:srgbClr val="1A5C8A"/>
                    </a:solidFill>
                  </a:tcPr>
                </a:tc>
                <a:tc>
                  <a:txBody>
                    <a:bodyPr/>
                    <a:lstStyle/>
                    <a:p>
                      <a:r>
                        <a:rPr sz="1500" b="1">
                          <a:solidFill>
                            <a:srgbClr val="EAF6FD"/>
                          </a:solidFill>
                        </a:rPr>
                        <a:t>Operating loss</a:t>
                      </a:r>
                    </a:p>
                  </a:txBody>
                  <a:tcPr>
                    <a:solidFill>
                      <a:srgbClr val="1A5C8A"/>
                    </a:solidFill>
                  </a:tcPr>
                </a:tc>
                <a:tc>
                  <a:txBody>
                    <a:bodyPr/>
                    <a:lstStyle/>
                    <a:p>
                      <a:r>
                        <a:rPr sz="1500" b="1">
                          <a:solidFill>
                            <a:srgbClr val="EAF6FD"/>
                          </a:solidFill>
                        </a:rPr>
                        <a:t>Net loss</a:t>
                      </a:r>
                    </a:p>
                  </a:txBody>
                  <a:tcPr>
                    <a:solidFill>
                      <a:srgbClr val="1A5C8A"/>
                    </a:solidFill>
                  </a:tcPr>
                </a:tc>
                <a:extLst>
                  <a:ext uri="{0D108BD9-81ED-4DB2-BD59-A6C34878D82A}">
                    <a16:rowId xmlns:a16="http://schemas.microsoft.com/office/drawing/2014/main" val="10000"/>
                  </a:ext>
                </a:extLst>
              </a:tr>
              <a:tr h="329184">
                <a:tc>
                  <a:txBody>
                    <a:bodyPr/>
                    <a:lstStyle/>
                    <a:p>
                      <a:r>
                        <a:rPr sz="1500">
                          <a:solidFill>
                            <a:srgbClr val="0B1D2E"/>
                          </a:solidFill>
                        </a:rPr>
                        <a:t>2022</a:t>
                      </a:r>
                    </a:p>
                  </a:txBody>
                  <a:tcPr>
                    <a:solidFill>
                      <a:srgbClr val="FFFFFF"/>
                    </a:solidFill>
                  </a:tcPr>
                </a:tc>
                <a:tc>
                  <a:txBody>
                    <a:bodyPr/>
                    <a:lstStyle/>
                    <a:p>
                      <a:r>
                        <a:rPr sz="1500">
                          <a:solidFill>
                            <a:srgbClr val="0B1D2E"/>
                          </a:solidFill>
                        </a:rPr>
                        <a:t>~$28M</a:t>
                      </a:r>
                    </a:p>
                  </a:txBody>
                  <a:tcPr>
                    <a:solidFill>
                      <a:srgbClr val="FFFFFF"/>
                    </a:solidFill>
                  </a:tcPr>
                </a:tc>
                <a:tc>
                  <a:txBody>
                    <a:bodyPr/>
                    <a:lstStyle/>
                    <a:p>
                      <a:r>
                        <a:rPr sz="1500">
                          <a:solidFill>
                            <a:srgbClr val="0B1D2E"/>
                          </a:solidFill>
                        </a:rPr>
                        <a:t>n/d</a:t>
                      </a:r>
                    </a:p>
                  </a:txBody>
                  <a:tcPr>
                    <a:solidFill>
                      <a:srgbClr val="FFFFFF"/>
                    </a:solidFill>
                  </a:tcPr>
                </a:tc>
                <a:tc>
                  <a:txBody>
                    <a:bodyPr/>
                    <a:lstStyle/>
                    <a:p>
                      <a:r>
                        <a:rPr sz="1500">
                          <a:solidFill>
                            <a:srgbClr val="0B1D2E"/>
                          </a:solidFill>
                        </a:rPr>
                        <a:t>n/d</a:t>
                      </a:r>
                    </a:p>
                  </a:txBody>
                  <a:tcPr>
                    <a:solidFill>
                      <a:srgbClr val="FFFFFF"/>
                    </a:solidFill>
                  </a:tcPr>
                </a:tc>
                <a:tc>
                  <a:txBody>
                    <a:bodyPr/>
                    <a:lstStyle/>
                    <a:p>
                      <a:r>
                        <a:rPr sz="1500">
                          <a:solidFill>
                            <a:srgbClr val="0B1D2E"/>
                          </a:solidFill>
                        </a:rPr>
                        <a:t>~$0.54B</a:t>
                      </a:r>
                    </a:p>
                  </a:txBody>
                  <a:tcPr>
                    <a:solidFill>
                      <a:srgbClr val="FFFFFF"/>
                    </a:solidFill>
                  </a:tcPr>
                </a:tc>
                <a:extLst>
                  <a:ext uri="{0D108BD9-81ED-4DB2-BD59-A6C34878D82A}">
                    <a16:rowId xmlns:a16="http://schemas.microsoft.com/office/drawing/2014/main" val="10001"/>
                  </a:ext>
                </a:extLst>
              </a:tr>
              <a:tr h="329184">
                <a:tc>
                  <a:txBody>
                    <a:bodyPr/>
                    <a:lstStyle/>
                    <a:p>
                      <a:r>
                        <a:rPr sz="1500">
                          <a:solidFill>
                            <a:srgbClr val="0B1D2E"/>
                          </a:solidFill>
                        </a:rPr>
                        <a:t>2023</a:t>
                      </a:r>
                    </a:p>
                  </a:txBody>
                  <a:tcPr>
                    <a:solidFill>
                      <a:srgbClr val="D6E8F4"/>
                    </a:solidFill>
                  </a:tcPr>
                </a:tc>
                <a:tc>
                  <a:txBody>
                    <a:bodyPr/>
                    <a:lstStyle/>
                    <a:p>
                      <a:r>
                        <a:rPr sz="1500">
                          <a:solidFill>
                            <a:srgbClr val="0B1D2E"/>
                          </a:solidFill>
                        </a:rPr>
                        <a:t>~$1B est.</a:t>
                      </a:r>
                    </a:p>
                  </a:txBody>
                  <a:tcPr>
                    <a:solidFill>
                      <a:srgbClr val="D6E8F4"/>
                    </a:solidFill>
                  </a:tcPr>
                </a:tc>
                <a:tc>
                  <a:txBody>
                    <a:bodyPr/>
                    <a:lstStyle/>
                    <a:p>
                      <a:r>
                        <a:rPr sz="1500">
                          <a:solidFill>
                            <a:srgbClr val="0B1D2E"/>
                          </a:solidFill>
                        </a:rPr>
                        <a:t>n/d</a:t>
                      </a:r>
                    </a:p>
                  </a:txBody>
                  <a:tcPr>
                    <a:solidFill>
                      <a:srgbClr val="D6E8F4"/>
                    </a:solidFill>
                  </a:tcPr>
                </a:tc>
                <a:tc>
                  <a:txBody>
                    <a:bodyPr/>
                    <a:lstStyle/>
                    <a:p>
                      <a:r>
                        <a:rPr sz="1500">
                          <a:solidFill>
                            <a:srgbClr val="0B1D2E"/>
                          </a:solidFill>
                        </a:rPr>
                        <a:t>n/d</a:t>
                      </a:r>
                    </a:p>
                  </a:txBody>
                  <a:tcPr>
                    <a:solidFill>
                      <a:srgbClr val="D6E8F4"/>
                    </a:solidFill>
                  </a:tcPr>
                </a:tc>
                <a:tc>
                  <a:txBody>
                    <a:bodyPr/>
                    <a:lstStyle/>
                    <a:p>
                      <a:r>
                        <a:rPr sz="1500">
                          <a:solidFill>
                            <a:srgbClr val="0B1D2E"/>
                          </a:solidFill>
                        </a:rPr>
                        <a:t>n/d</a:t>
                      </a:r>
                    </a:p>
                  </a:txBody>
                  <a:tcPr>
                    <a:solidFill>
                      <a:srgbClr val="D6E8F4"/>
                    </a:solidFill>
                  </a:tcPr>
                </a:tc>
                <a:extLst>
                  <a:ext uri="{0D108BD9-81ED-4DB2-BD59-A6C34878D82A}">
                    <a16:rowId xmlns:a16="http://schemas.microsoft.com/office/drawing/2014/main" val="10002"/>
                  </a:ext>
                </a:extLst>
              </a:tr>
              <a:tr h="329184">
                <a:tc>
                  <a:txBody>
                    <a:bodyPr/>
                    <a:lstStyle/>
                    <a:p>
                      <a:r>
                        <a:rPr sz="1500">
                          <a:solidFill>
                            <a:srgbClr val="0B1D2E"/>
                          </a:solidFill>
                        </a:rPr>
                        <a:t>2024</a:t>
                      </a:r>
                    </a:p>
                  </a:txBody>
                  <a:tcPr>
                    <a:solidFill>
                      <a:srgbClr val="FFFFFF"/>
                    </a:solidFill>
                  </a:tcPr>
                </a:tc>
                <a:tc>
                  <a:txBody>
                    <a:bodyPr/>
                    <a:lstStyle/>
                    <a:p>
                      <a:r>
                        <a:rPr sz="1500">
                          <a:solidFill>
                            <a:srgbClr val="0B1D2E"/>
                          </a:solidFill>
                        </a:rPr>
                        <a:t>$3.7B</a:t>
                      </a:r>
                    </a:p>
                  </a:txBody>
                  <a:tcPr>
                    <a:solidFill>
                      <a:srgbClr val="FFFFFF"/>
                    </a:solidFill>
                  </a:tcPr>
                </a:tc>
                <a:tc>
                  <a:txBody>
                    <a:bodyPr/>
                    <a:lstStyle/>
                    <a:p>
                      <a:r>
                        <a:rPr sz="1500">
                          <a:solidFill>
                            <a:srgbClr val="0B1D2E"/>
                          </a:solidFill>
                        </a:rPr>
                        <a:t>~$7B est.</a:t>
                      </a:r>
                    </a:p>
                  </a:txBody>
                  <a:tcPr>
                    <a:solidFill>
                      <a:srgbClr val="FFFFFF"/>
                    </a:solidFill>
                  </a:tcPr>
                </a:tc>
                <a:tc>
                  <a:txBody>
                    <a:bodyPr/>
                    <a:lstStyle/>
                    <a:p>
                      <a:r>
                        <a:rPr sz="1500">
                          <a:solidFill>
                            <a:srgbClr val="0B1D2E"/>
                          </a:solidFill>
                        </a:rPr>
                        <a:t>$8.78B</a:t>
                      </a:r>
                    </a:p>
                  </a:txBody>
                  <a:tcPr>
                    <a:solidFill>
                      <a:srgbClr val="FFFFFF"/>
                    </a:solidFill>
                  </a:tcPr>
                </a:tc>
                <a:tc>
                  <a:txBody>
                    <a:bodyPr/>
                    <a:lstStyle/>
                    <a:p>
                      <a:r>
                        <a:rPr sz="1500">
                          <a:solidFill>
                            <a:srgbClr val="0B1D2E"/>
                          </a:solidFill>
                        </a:rPr>
                        <a:t>~$5B</a:t>
                      </a:r>
                    </a:p>
                  </a:txBody>
                  <a:tcPr>
                    <a:solidFill>
                      <a:srgbClr val="FFFFFF"/>
                    </a:solidFill>
                  </a:tcPr>
                </a:tc>
                <a:extLst>
                  <a:ext uri="{0D108BD9-81ED-4DB2-BD59-A6C34878D82A}">
                    <a16:rowId xmlns:a16="http://schemas.microsoft.com/office/drawing/2014/main" val="10003"/>
                  </a:ext>
                </a:extLst>
              </a:tr>
              <a:tr h="329184">
                <a:tc>
                  <a:txBody>
                    <a:bodyPr/>
                    <a:lstStyle/>
                    <a:p>
                      <a:r>
                        <a:rPr sz="1500">
                          <a:solidFill>
                            <a:srgbClr val="0B1D2E"/>
                          </a:solidFill>
                        </a:rPr>
                        <a:t>2025</a:t>
                      </a:r>
                    </a:p>
                  </a:txBody>
                  <a:tcPr>
                    <a:solidFill>
                      <a:srgbClr val="D6E8F4"/>
                    </a:solidFill>
                  </a:tcPr>
                </a:tc>
                <a:tc>
                  <a:txBody>
                    <a:bodyPr/>
                    <a:lstStyle/>
                    <a:p>
                      <a:r>
                        <a:rPr sz="1500">
                          <a:solidFill>
                            <a:srgbClr val="0B1D2E"/>
                          </a:solidFill>
                        </a:rPr>
                        <a:t>$13.07B</a:t>
                      </a:r>
                    </a:p>
                  </a:txBody>
                  <a:tcPr>
                    <a:solidFill>
                      <a:srgbClr val="D6E8F4"/>
                    </a:solidFill>
                  </a:tcPr>
                </a:tc>
                <a:tc>
                  <a:txBody>
                    <a:bodyPr/>
                    <a:lstStyle/>
                    <a:p>
                      <a:r>
                        <a:rPr sz="1500">
                          <a:solidFill>
                            <a:srgbClr val="0B1D2E"/>
                          </a:solidFill>
                        </a:rPr>
                        <a:t>~$17.2B</a:t>
                      </a:r>
                    </a:p>
                  </a:txBody>
                  <a:tcPr>
                    <a:solidFill>
                      <a:srgbClr val="D6E8F4"/>
                    </a:solidFill>
                  </a:tcPr>
                </a:tc>
                <a:tc>
                  <a:txBody>
                    <a:bodyPr/>
                    <a:lstStyle/>
                    <a:p>
                      <a:r>
                        <a:rPr sz="1500">
                          <a:solidFill>
                            <a:srgbClr val="0B1D2E"/>
                          </a:solidFill>
                        </a:rPr>
                        <a:t>$20.92B</a:t>
                      </a:r>
                    </a:p>
                  </a:txBody>
                  <a:tcPr>
                    <a:solidFill>
                      <a:srgbClr val="D6E8F4"/>
                    </a:solidFill>
                  </a:tcPr>
                </a:tc>
                <a:tc>
                  <a:txBody>
                    <a:bodyPr/>
                    <a:lstStyle/>
                    <a:p>
                      <a:r>
                        <a:rPr sz="1500">
                          <a:solidFill>
                            <a:srgbClr val="0B1D2E"/>
                          </a:solidFill>
                        </a:rPr>
                        <a:t>$38.53B</a:t>
                      </a:r>
                    </a:p>
                  </a:txBody>
                  <a:tcPr>
                    <a:solidFill>
                      <a:srgbClr val="D6E8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dirty="0">
                <a:solidFill>
                  <a:srgbClr val="EAF6FD"/>
                </a:solidFill>
              </a:rPr>
              <a:t>31. </a:t>
            </a:r>
            <a:r>
              <a:rPr lang="en-US" sz="3000" b="1" dirty="0">
                <a:solidFill>
                  <a:srgbClr val="EAF6FD"/>
                </a:solidFill>
              </a:rPr>
              <a:t>Financials: </a:t>
            </a:r>
            <a:r>
              <a:rPr sz="3000" b="1" dirty="0">
                <a:solidFill>
                  <a:srgbClr val="EAF6FD"/>
                </a:solidFill>
              </a:rPr>
              <a:t>Anthropic, 2022 to 2025</a:t>
            </a:r>
          </a:p>
        </p:txBody>
      </p:sp>
      <p:sp>
        <p:nvSpPr>
          <p:cNvPr id="3" name="TextBox 2"/>
          <p:cNvSpPr txBox="1"/>
          <p:nvPr/>
        </p:nvSpPr>
        <p:spPr>
          <a:xfrm>
            <a:off x="731520" y="1234440"/>
            <a:ext cx="10728655" cy="5074920"/>
          </a:xfrm>
          <a:prstGeom prst="rect">
            <a:avLst/>
          </a:prstGeom>
          <a:noFill/>
        </p:spPr>
        <p:txBody>
          <a:bodyPr wrap="square">
            <a:spAutoFit/>
          </a:bodyPr>
          <a:lstStyle/>
          <a:p>
            <a:pPr>
              <a:spcBef>
                <a:spcPts val="600"/>
              </a:spcBef>
              <a:spcAft>
                <a:spcPts val="1000"/>
              </a:spcAft>
            </a:pPr>
            <a:r>
              <a:rPr sz="1700" b="0">
                <a:solidFill>
                  <a:srgbClr val="0B1D2E"/>
                </a:solidFill>
              </a:rPr>
              <a:t>Started five years later, at a smaller scale, and shows the same pattern.</a:t>
            </a:r>
          </a:p>
        </p:txBody>
      </p:sp>
      <p:graphicFrame>
        <p:nvGraphicFramePr>
          <p:cNvPr id="4" name="Table 3"/>
          <p:cNvGraphicFramePr>
            <a:graphicFrameLocks noGrp="1"/>
          </p:cNvGraphicFramePr>
          <p:nvPr/>
        </p:nvGraphicFramePr>
        <p:xfrm>
          <a:off x="640080" y="1920240"/>
          <a:ext cx="10911533" cy="1645920"/>
        </p:xfrm>
        <a:graphic>
          <a:graphicData uri="http://schemas.openxmlformats.org/drawingml/2006/table">
            <a:tbl>
              <a:tblPr firstRow="1" bandRow="1">
                <a:tableStyleId>{5C22544A-7EE6-4342-B048-85BDC9FD1C3A}</a:tableStyleId>
              </a:tblPr>
              <a:tblGrid>
                <a:gridCol w="1392961">
                  <a:extLst>
                    <a:ext uri="{9D8B030D-6E8A-4147-A177-3AD203B41FA5}">
                      <a16:colId xmlns:a16="http://schemas.microsoft.com/office/drawing/2014/main" val="20000"/>
                    </a:ext>
                  </a:extLst>
                </a:gridCol>
                <a:gridCol w="2321603">
                  <a:extLst>
                    <a:ext uri="{9D8B030D-6E8A-4147-A177-3AD203B41FA5}">
                      <a16:colId xmlns:a16="http://schemas.microsoft.com/office/drawing/2014/main" val="20001"/>
                    </a:ext>
                  </a:extLst>
                </a:gridCol>
                <a:gridCol w="2321603">
                  <a:extLst>
                    <a:ext uri="{9D8B030D-6E8A-4147-A177-3AD203B41FA5}">
                      <a16:colId xmlns:a16="http://schemas.microsoft.com/office/drawing/2014/main" val="20002"/>
                    </a:ext>
                  </a:extLst>
                </a:gridCol>
                <a:gridCol w="2553763">
                  <a:extLst>
                    <a:ext uri="{9D8B030D-6E8A-4147-A177-3AD203B41FA5}">
                      <a16:colId xmlns:a16="http://schemas.microsoft.com/office/drawing/2014/main" val="20003"/>
                    </a:ext>
                  </a:extLst>
                </a:gridCol>
                <a:gridCol w="2321603">
                  <a:extLst>
                    <a:ext uri="{9D8B030D-6E8A-4147-A177-3AD203B41FA5}">
                      <a16:colId xmlns:a16="http://schemas.microsoft.com/office/drawing/2014/main" val="20004"/>
                    </a:ext>
                  </a:extLst>
                </a:gridCol>
              </a:tblGrid>
              <a:tr h="329184">
                <a:tc>
                  <a:txBody>
                    <a:bodyPr/>
                    <a:lstStyle/>
                    <a:p>
                      <a:r>
                        <a:rPr sz="1500" b="1">
                          <a:solidFill>
                            <a:srgbClr val="EAF6FD"/>
                          </a:solidFill>
                        </a:rPr>
                        <a:t>Year</a:t>
                      </a:r>
                    </a:p>
                  </a:txBody>
                  <a:tcPr>
                    <a:solidFill>
                      <a:srgbClr val="1A5C8A"/>
                    </a:solidFill>
                  </a:tcPr>
                </a:tc>
                <a:tc>
                  <a:txBody>
                    <a:bodyPr/>
                    <a:lstStyle/>
                    <a:p>
                      <a:r>
                        <a:rPr sz="1500" b="1">
                          <a:solidFill>
                            <a:srgbClr val="EAF6FD"/>
                          </a:solidFill>
                        </a:rPr>
                        <a:t>Revenue</a:t>
                      </a:r>
                    </a:p>
                  </a:txBody>
                  <a:tcPr>
                    <a:solidFill>
                      <a:srgbClr val="1A5C8A"/>
                    </a:solidFill>
                  </a:tcPr>
                </a:tc>
                <a:tc>
                  <a:txBody>
                    <a:bodyPr/>
                    <a:lstStyle/>
                    <a:p>
                      <a:r>
                        <a:rPr sz="1500" b="1">
                          <a:solidFill>
                            <a:srgbClr val="EAF6FD"/>
                          </a:solidFill>
                        </a:rPr>
                        <a:t>Compute</a:t>
                      </a:r>
                    </a:p>
                  </a:txBody>
                  <a:tcPr>
                    <a:solidFill>
                      <a:srgbClr val="1A5C8A"/>
                    </a:solidFill>
                  </a:tcPr>
                </a:tc>
                <a:tc>
                  <a:txBody>
                    <a:bodyPr/>
                    <a:lstStyle/>
                    <a:p>
                      <a:r>
                        <a:rPr sz="1500" b="1">
                          <a:solidFill>
                            <a:srgbClr val="EAF6FD"/>
                          </a:solidFill>
                        </a:rPr>
                        <a:t>Operating loss</a:t>
                      </a:r>
                    </a:p>
                  </a:txBody>
                  <a:tcPr>
                    <a:solidFill>
                      <a:srgbClr val="1A5C8A"/>
                    </a:solidFill>
                  </a:tcPr>
                </a:tc>
                <a:tc>
                  <a:txBody>
                    <a:bodyPr/>
                    <a:lstStyle/>
                    <a:p>
                      <a:r>
                        <a:rPr sz="1500" b="1">
                          <a:solidFill>
                            <a:srgbClr val="EAF6FD"/>
                          </a:solidFill>
                        </a:rPr>
                        <a:t>Net loss</a:t>
                      </a:r>
                    </a:p>
                  </a:txBody>
                  <a:tcPr>
                    <a:solidFill>
                      <a:srgbClr val="1A5C8A"/>
                    </a:solidFill>
                  </a:tcPr>
                </a:tc>
                <a:extLst>
                  <a:ext uri="{0D108BD9-81ED-4DB2-BD59-A6C34878D82A}">
                    <a16:rowId xmlns:a16="http://schemas.microsoft.com/office/drawing/2014/main" val="10000"/>
                  </a:ext>
                </a:extLst>
              </a:tr>
              <a:tr h="329184">
                <a:tc>
                  <a:txBody>
                    <a:bodyPr/>
                    <a:lstStyle/>
                    <a:p>
                      <a:r>
                        <a:rPr sz="1500">
                          <a:solidFill>
                            <a:srgbClr val="0B1D2E"/>
                          </a:solidFill>
                        </a:rPr>
                        <a:t>2022</a:t>
                      </a:r>
                    </a:p>
                  </a:txBody>
                  <a:tcPr>
                    <a:solidFill>
                      <a:srgbClr val="FFFFFF"/>
                    </a:solidFill>
                  </a:tcPr>
                </a:tc>
                <a:tc>
                  <a:txBody>
                    <a:bodyPr/>
                    <a:lstStyle/>
                    <a:p>
                      <a:r>
                        <a:rPr sz="1500">
                          <a:solidFill>
                            <a:srgbClr val="0B1D2E"/>
                          </a:solidFill>
                        </a:rPr>
                        <a:t>~$10M est.</a:t>
                      </a:r>
                    </a:p>
                  </a:txBody>
                  <a:tcPr>
                    <a:solidFill>
                      <a:srgbClr val="FFFFFF"/>
                    </a:solidFill>
                  </a:tcPr>
                </a:tc>
                <a:tc>
                  <a:txBody>
                    <a:bodyPr/>
                    <a:lstStyle/>
                    <a:p>
                      <a:r>
                        <a:rPr sz="1500">
                          <a:solidFill>
                            <a:srgbClr val="0B1D2E"/>
                          </a:solidFill>
                        </a:rPr>
                        <a:t>n/d</a:t>
                      </a:r>
                    </a:p>
                  </a:txBody>
                  <a:tcPr>
                    <a:solidFill>
                      <a:srgbClr val="FFFFFF"/>
                    </a:solidFill>
                  </a:tcPr>
                </a:tc>
                <a:tc>
                  <a:txBody>
                    <a:bodyPr/>
                    <a:lstStyle/>
                    <a:p>
                      <a:r>
                        <a:rPr sz="1500">
                          <a:solidFill>
                            <a:srgbClr val="0B1D2E"/>
                          </a:solidFill>
                        </a:rPr>
                        <a:t>n/d</a:t>
                      </a:r>
                    </a:p>
                  </a:txBody>
                  <a:tcPr>
                    <a:solidFill>
                      <a:srgbClr val="FFFFFF"/>
                    </a:solidFill>
                  </a:tcPr>
                </a:tc>
                <a:tc>
                  <a:txBody>
                    <a:bodyPr/>
                    <a:lstStyle/>
                    <a:p>
                      <a:r>
                        <a:rPr sz="1500">
                          <a:solidFill>
                            <a:srgbClr val="0B1D2E"/>
                          </a:solidFill>
                        </a:rPr>
                        <a:t>n/d</a:t>
                      </a:r>
                    </a:p>
                  </a:txBody>
                  <a:tcPr>
                    <a:solidFill>
                      <a:srgbClr val="FFFFFF"/>
                    </a:solidFill>
                  </a:tcPr>
                </a:tc>
                <a:extLst>
                  <a:ext uri="{0D108BD9-81ED-4DB2-BD59-A6C34878D82A}">
                    <a16:rowId xmlns:a16="http://schemas.microsoft.com/office/drawing/2014/main" val="10001"/>
                  </a:ext>
                </a:extLst>
              </a:tr>
              <a:tr h="329184">
                <a:tc>
                  <a:txBody>
                    <a:bodyPr/>
                    <a:lstStyle/>
                    <a:p>
                      <a:r>
                        <a:rPr sz="1500">
                          <a:solidFill>
                            <a:srgbClr val="0B1D2E"/>
                          </a:solidFill>
                        </a:rPr>
                        <a:t>2023</a:t>
                      </a:r>
                    </a:p>
                  </a:txBody>
                  <a:tcPr>
                    <a:solidFill>
                      <a:srgbClr val="D6E8F4"/>
                    </a:solidFill>
                  </a:tcPr>
                </a:tc>
                <a:tc>
                  <a:txBody>
                    <a:bodyPr/>
                    <a:lstStyle/>
                    <a:p>
                      <a:r>
                        <a:rPr sz="1500">
                          <a:solidFill>
                            <a:srgbClr val="0B1D2E"/>
                          </a:solidFill>
                        </a:rPr>
                        <a:t>~$100M</a:t>
                      </a:r>
                    </a:p>
                  </a:txBody>
                  <a:tcPr>
                    <a:solidFill>
                      <a:srgbClr val="D6E8F4"/>
                    </a:solidFill>
                  </a:tcPr>
                </a:tc>
                <a:tc>
                  <a:txBody>
                    <a:bodyPr/>
                    <a:lstStyle/>
                    <a:p>
                      <a:r>
                        <a:rPr sz="1500">
                          <a:solidFill>
                            <a:srgbClr val="0B1D2E"/>
                          </a:solidFill>
                        </a:rPr>
                        <a:t>n/d</a:t>
                      </a:r>
                    </a:p>
                  </a:txBody>
                  <a:tcPr>
                    <a:solidFill>
                      <a:srgbClr val="D6E8F4"/>
                    </a:solidFill>
                  </a:tcPr>
                </a:tc>
                <a:tc>
                  <a:txBody>
                    <a:bodyPr/>
                    <a:lstStyle/>
                    <a:p>
                      <a:r>
                        <a:rPr sz="1500">
                          <a:solidFill>
                            <a:srgbClr val="0B1D2E"/>
                          </a:solidFill>
                        </a:rPr>
                        <a:t>n/d</a:t>
                      </a:r>
                    </a:p>
                  </a:txBody>
                  <a:tcPr>
                    <a:solidFill>
                      <a:srgbClr val="D6E8F4"/>
                    </a:solidFill>
                  </a:tcPr>
                </a:tc>
                <a:tc>
                  <a:txBody>
                    <a:bodyPr/>
                    <a:lstStyle/>
                    <a:p>
                      <a:r>
                        <a:rPr sz="1500">
                          <a:solidFill>
                            <a:srgbClr val="0B1D2E"/>
                          </a:solidFill>
                        </a:rPr>
                        <a:t>n/d</a:t>
                      </a:r>
                    </a:p>
                  </a:txBody>
                  <a:tcPr>
                    <a:solidFill>
                      <a:srgbClr val="D6E8F4"/>
                    </a:solidFill>
                  </a:tcPr>
                </a:tc>
                <a:extLst>
                  <a:ext uri="{0D108BD9-81ED-4DB2-BD59-A6C34878D82A}">
                    <a16:rowId xmlns:a16="http://schemas.microsoft.com/office/drawing/2014/main" val="10002"/>
                  </a:ext>
                </a:extLst>
              </a:tr>
              <a:tr h="329184">
                <a:tc>
                  <a:txBody>
                    <a:bodyPr/>
                    <a:lstStyle/>
                    <a:p>
                      <a:r>
                        <a:rPr sz="1500">
                          <a:solidFill>
                            <a:srgbClr val="0B1D2E"/>
                          </a:solidFill>
                        </a:rPr>
                        <a:t>2024</a:t>
                      </a:r>
                    </a:p>
                  </a:txBody>
                  <a:tcPr>
                    <a:solidFill>
                      <a:srgbClr val="FFFFFF"/>
                    </a:solidFill>
                  </a:tcPr>
                </a:tc>
                <a:tc>
                  <a:txBody>
                    <a:bodyPr/>
                    <a:lstStyle/>
                    <a:p>
                      <a:r>
                        <a:rPr sz="1500">
                          <a:solidFill>
                            <a:srgbClr val="0B1D2E"/>
                          </a:solidFill>
                        </a:rPr>
                        <a:t>$386M</a:t>
                      </a:r>
                    </a:p>
                  </a:txBody>
                  <a:tcPr>
                    <a:solidFill>
                      <a:srgbClr val="FFFFFF"/>
                    </a:solidFill>
                  </a:tcPr>
                </a:tc>
                <a:tc>
                  <a:txBody>
                    <a:bodyPr/>
                    <a:lstStyle/>
                    <a:p>
                      <a:r>
                        <a:rPr sz="1500">
                          <a:solidFill>
                            <a:srgbClr val="0B1D2E"/>
                          </a:solidFill>
                        </a:rPr>
                        <a:t>~$2.5B</a:t>
                      </a:r>
                    </a:p>
                  </a:txBody>
                  <a:tcPr>
                    <a:solidFill>
                      <a:srgbClr val="FFFFFF"/>
                    </a:solidFill>
                  </a:tcPr>
                </a:tc>
                <a:tc>
                  <a:txBody>
                    <a:bodyPr/>
                    <a:lstStyle/>
                    <a:p>
                      <a:r>
                        <a:rPr sz="1500">
                          <a:solidFill>
                            <a:srgbClr val="0B1D2E"/>
                          </a:solidFill>
                        </a:rPr>
                        <a:t>$2.98B</a:t>
                      </a:r>
                    </a:p>
                  </a:txBody>
                  <a:tcPr>
                    <a:solidFill>
                      <a:srgbClr val="FFFFFF"/>
                    </a:solidFill>
                  </a:tcPr>
                </a:tc>
                <a:tc>
                  <a:txBody>
                    <a:bodyPr/>
                    <a:lstStyle/>
                    <a:p>
                      <a:r>
                        <a:rPr sz="1500">
                          <a:solidFill>
                            <a:srgbClr val="0B1D2E"/>
                          </a:solidFill>
                        </a:rPr>
                        <a:t>$8.31B</a:t>
                      </a:r>
                    </a:p>
                  </a:txBody>
                  <a:tcPr>
                    <a:solidFill>
                      <a:srgbClr val="FFFFFF"/>
                    </a:solidFill>
                  </a:tcPr>
                </a:tc>
                <a:extLst>
                  <a:ext uri="{0D108BD9-81ED-4DB2-BD59-A6C34878D82A}">
                    <a16:rowId xmlns:a16="http://schemas.microsoft.com/office/drawing/2014/main" val="10003"/>
                  </a:ext>
                </a:extLst>
              </a:tr>
              <a:tr h="329184">
                <a:tc>
                  <a:txBody>
                    <a:bodyPr/>
                    <a:lstStyle/>
                    <a:p>
                      <a:r>
                        <a:rPr sz="1500">
                          <a:solidFill>
                            <a:srgbClr val="0B1D2E"/>
                          </a:solidFill>
                        </a:rPr>
                        <a:t>2025</a:t>
                      </a:r>
                    </a:p>
                  </a:txBody>
                  <a:tcPr>
                    <a:solidFill>
                      <a:srgbClr val="D6E8F4"/>
                    </a:solidFill>
                  </a:tcPr>
                </a:tc>
                <a:tc>
                  <a:txBody>
                    <a:bodyPr/>
                    <a:lstStyle/>
                    <a:p>
                      <a:r>
                        <a:rPr sz="1500">
                          <a:solidFill>
                            <a:srgbClr val="0B1D2E"/>
                          </a:solidFill>
                        </a:rPr>
                        <a:t>$4.59B</a:t>
                      </a:r>
                    </a:p>
                  </a:txBody>
                  <a:tcPr>
                    <a:solidFill>
                      <a:srgbClr val="D6E8F4"/>
                    </a:solidFill>
                  </a:tcPr>
                </a:tc>
                <a:tc>
                  <a:txBody>
                    <a:bodyPr/>
                    <a:lstStyle/>
                    <a:p>
                      <a:r>
                        <a:rPr sz="1500">
                          <a:solidFill>
                            <a:srgbClr val="0B1D2E"/>
                          </a:solidFill>
                        </a:rPr>
                        <a:t>$7.33B</a:t>
                      </a:r>
                    </a:p>
                  </a:txBody>
                  <a:tcPr>
                    <a:solidFill>
                      <a:srgbClr val="D6E8F4"/>
                    </a:solidFill>
                  </a:tcPr>
                </a:tc>
                <a:tc>
                  <a:txBody>
                    <a:bodyPr/>
                    <a:lstStyle/>
                    <a:p>
                      <a:r>
                        <a:rPr sz="1500">
                          <a:solidFill>
                            <a:srgbClr val="0B1D2E"/>
                          </a:solidFill>
                        </a:rPr>
                        <a:t>$8.06B</a:t>
                      </a:r>
                    </a:p>
                  </a:txBody>
                  <a:tcPr>
                    <a:solidFill>
                      <a:srgbClr val="D6E8F4"/>
                    </a:solidFill>
                  </a:tcPr>
                </a:tc>
                <a:tc>
                  <a:txBody>
                    <a:bodyPr/>
                    <a:lstStyle/>
                    <a:p>
                      <a:r>
                        <a:rPr sz="1500">
                          <a:solidFill>
                            <a:srgbClr val="0B1D2E"/>
                          </a:solidFill>
                        </a:rPr>
                        <a:t>$41.97B</a:t>
                      </a:r>
                    </a:p>
                  </a:txBody>
                  <a:tcPr>
                    <a:solidFill>
                      <a:srgbClr val="D6E8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dirty="0">
                <a:solidFill>
                  <a:srgbClr val="EAF6FD"/>
                </a:solidFill>
              </a:rPr>
              <a:t>32. Human Brain and L</a:t>
            </a:r>
            <a:r>
              <a:rPr lang="en-US" sz="3000" b="1" dirty="0">
                <a:solidFill>
                  <a:srgbClr val="EAF6FD"/>
                </a:solidFill>
              </a:rPr>
              <a:t>arge Language Model</a:t>
            </a:r>
            <a:r>
              <a:rPr sz="3000" b="1" dirty="0">
                <a:solidFill>
                  <a:srgbClr val="EAF6FD"/>
                </a:solidFill>
              </a:rPr>
              <a:t>, Side by Side Analogy</a:t>
            </a:r>
          </a:p>
        </p:txBody>
      </p:sp>
      <p:sp>
        <p:nvSpPr>
          <p:cNvPr id="3" name="TextBox 2"/>
          <p:cNvSpPr txBox="1"/>
          <p:nvPr/>
        </p:nvSpPr>
        <p:spPr>
          <a:xfrm>
            <a:off x="731520" y="1188720"/>
            <a:ext cx="10728655" cy="5120640"/>
          </a:xfrm>
          <a:prstGeom prst="rect">
            <a:avLst/>
          </a:prstGeom>
          <a:noFill/>
        </p:spPr>
        <p:txBody>
          <a:bodyPr wrap="square">
            <a:spAutoFit/>
          </a:bodyPr>
          <a:lstStyle/>
          <a:p>
            <a:pPr>
              <a:spcBef>
                <a:spcPts val="600"/>
              </a:spcBef>
              <a:spcAft>
                <a:spcPts val="1000"/>
              </a:spcAft>
            </a:pPr>
            <a:r>
              <a:rPr sz="1800" b="0">
                <a:solidFill>
                  <a:srgbClr val="0B1D2E"/>
                </a:solidFill>
              </a:rPr>
              <a:t>The same path runs down both columns: learn, store, recall, answer.</a:t>
            </a:r>
          </a:p>
        </p:txBody>
      </p:sp>
      <p:pic>
        <p:nvPicPr>
          <p:cNvPr id="4" name="Picture 3" descr="Human Brain vs LLM_ Learning and Reasoning Flow.png"/>
          <p:cNvPicPr>
            <a:picLocks noChangeAspect="1"/>
          </p:cNvPicPr>
          <p:nvPr/>
        </p:nvPicPr>
        <p:blipFill>
          <a:blip r:embed="rId3"/>
          <a:stretch>
            <a:fillRect/>
          </a:stretch>
        </p:blipFill>
        <p:spPr>
          <a:xfrm>
            <a:off x="2735427" y="1828800"/>
            <a:ext cx="6720840" cy="44805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Ins="365760" rtlCol="0" anchor="ctr"/>
          <a:lstStyle/>
          <a:p>
            <a:pPr algn="l"/>
            <a:r>
              <a:rPr sz="3000" b="1" dirty="0">
                <a:solidFill>
                  <a:srgbClr val="EAF6FD"/>
                </a:solidFill>
              </a:rPr>
              <a:t>33. Significant Difference</a:t>
            </a:r>
            <a:r>
              <a:rPr lang="en-US" sz="3000" b="1" dirty="0">
                <a:solidFill>
                  <a:srgbClr val="EAF6FD"/>
                </a:solidFill>
              </a:rPr>
              <a:t>s</a:t>
            </a:r>
            <a:endParaRPr sz="3000" b="1" dirty="0">
              <a:solidFill>
                <a:srgbClr val="EAF6FD"/>
              </a:solidFill>
            </a:endParaRPr>
          </a:p>
        </p:txBody>
      </p:sp>
      <p:sp>
        <p:nvSpPr>
          <p:cNvPr id="3" name="TextBox 2"/>
          <p:cNvSpPr txBox="1"/>
          <p:nvPr/>
        </p:nvSpPr>
        <p:spPr>
          <a:xfrm>
            <a:off x="731520" y="1371600"/>
            <a:ext cx="10728655" cy="3193182"/>
          </a:xfrm>
          <a:prstGeom prst="rect">
            <a:avLst/>
          </a:prstGeom>
          <a:noFill/>
        </p:spPr>
        <p:txBody>
          <a:bodyPr wrap="square">
            <a:spAutoFit/>
          </a:bodyPr>
          <a:lstStyle/>
          <a:p>
            <a:pPr>
              <a:spcBef>
                <a:spcPts val="600"/>
              </a:spcBef>
              <a:spcAft>
                <a:spcPts val="1000"/>
              </a:spcAft>
            </a:pPr>
            <a:r>
              <a:rPr sz="2000" b="0" dirty="0">
                <a:solidFill>
                  <a:srgbClr val="0B1D2E"/>
                </a:solidFill>
              </a:rPr>
              <a:t>The human brain writes parts of its short term memory into long term memory.</a:t>
            </a:r>
          </a:p>
          <a:p>
            <a:pPr>
              <a:spcBef>
                <a:spcPts val="600"/>
              </a:spcBef>
              <a:spcAft>
                <a:spcPts val="1000"/>
              </a:spcAft>
            </a:pPr>
            <a:r>
              <a:rPr sz="2000" b="1" dirty="0">
                <a:solidFill>
                  <a:srgbClr val="0B1D2E"/>
                </a:solidFill>
              </a:rPr>
              <a:t>LLM models do not do that.</a:t>
            </a:r>
          </a:p>
          <a:p>
            <a:pPr lvl="1">
              <a:spcAft>
                <a:spcPts val="500"/>
              </a:spcAft>
            </a:pPr>
            <a:r>
              <a:rPr sz="1700" b="0" dirty="0">
                <a:solidFill>
                  <a:srgbClr val="1A5C8A"/>
                </a:solidFill>
              </a:rPr>
              <a:t>Letting query context modify trained data would open the door to corrupting the training data with bad information, by accident or on purpose.</a:t>
            </a:r>
            <a:endParaRPr lang="en-US" sz="2000" b="0" dirty="0">
              <a:solidFill>
                <a:srgbClr val="0B1D2E"/>
              </a:solidFill>
            </a:endParaRPr>
          </a:p>
          <a:p>
            <a:pPr>
              <a:spcBef>
                <a:spcPts val="600"/>
              </a:spcBef>
              <a:spcAft>
                <a:spcPts val="1000"/>
              </a:spcAft>
            </a:pPr>
            <a:r>
              <a:rPr sz="2000" b="0" dirty="0">
                <a:solidFill>
                  <a:srgbClr val="0B1D2E"/>
                </a:solidFill>
              </a:rPr>
              <a:t>That</a:t>
            </a:r>
            <a:r>
              <a:rPr lang="en-US" sz="2000" b="0" dirty="0">
                <a:solidFill>
                  <a:srgbClr val="0B1D2E"/>
                </a:solidFill>
              </a:rPr>
              <a:t> corruption</a:t>
            </a:r>
            <a:r>
              <a:rPr lang="en-US" sz="2000" dirty="0">
                <a:solidFill>
                  <a:srgbClr val="0B1D2E"/>
                </a:solidFill>
              </a:rPr>
              <a:t> may</a:t>
            </a:r>
            <a:r>
              <a:rPr sz="2000" b="0" dirty="0">
                <a:solidFill>
                  <a:srgbClr val="0B1D2E"/>
                </a:solidFill>
              </a:rPr>
              <a:t> happen with humans too. </a:t>
            </a:r>
            <a:r>
              <a:rPr lang="en-US" sz="2000" dirty="0">
                <a:solidFill>
                  <a:srgbClr val="0B1D2E"/>
                </a:solidFill>
              </a:rPr>
              <a:t>Perhaps that’s</a:t>
            </a:r>
            <a:r>
              <a:rPr sz="2000" b="0" dirty="0">
                <a:solidFill>
                  <a:srgbClr val="0B1D2E"/>
                </a:solidFill>
              </a:rPr>
              <a:t> why we have cults and misinformation.</a:t>
            </a:r>
          </a:p>
          <a:p>
            <a:pPr>
              <a:spcBef>
                <a:spcPts val="3400"/>
              </a:spcBef>
              <a:spcAft>
                <a:spcPts val="1000"/>
              </a:spcAft>
            </a:pPr>
            <a:r>
              <a:rPr sz="2000" b="0" dirty="0">
                <a:solidFill>
                  <a:srgbClr val="0B1D2E"/>
                </a:solidFill>
              </a:rPr>
              <a:t>In an LLM Chat Bot conversation, all of the context travels with every request. The remote model stores nothing between requests.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6012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gn="l"/>
            <a:r>
              <a:rPr sz="3000" b="1" dirty="0">
                <a:solidFill>
                  <a:srgbClr val="EAF6FD"/>
                </a:solidFill>
              </a:rPr>
              <a:t>34. </a:t>
            </a:r>
            <a:r>
              <a:rPr lang="en-US" sz="3000" b="1" dirty="0">
                <a:solidFill>
                  <a:srgbClr val="EAF6FD"/>
                </a:solidFill>
              </a:rPr>
              <a:t>Large Language Model AI - </a:t>
            </a:r>
            <a:r>
              <a:rPr sz="3000" b="1" dirty="0">
                <a:solidFill>
                  <a:srgbClr val="EAF6FD"/>
                </a:solidFill>
              </a:rPr>
              <a:t>Take Aways</a:t>
            </a:r>
          </a:p>
        </p:txBody>
      </p:sp>
      <p:sp>
        <p:nvSpPr>
          <p:cNvPr id="3" name="TextBox 2"/>
          <p:cNvSpPr txBox="1"/>
          <p:nvPr/>
        </p:nvSpPr>
        <p:spPr>
          <a:xfrm>
            <a:off x="731520" y="1737360"/>
            <a:ext cx="10728960" cy="2949525"/>
          </a:xfrm>
          <a:prstGeom prst="rect">
            <a:avLst/>
          </a:prstGeom>
          <a:noFill/>
        </p:spPr>
        <p:txBody>
          <a:bodyPr wrap="square">
            <a:spAutoFit/>
          </a:bodyPr>
          <a:lstStyle/>
          <a:p>
            <a:pPr marL="0" indent="0">
              <a:spcBef>
                <a:spcPts val="2200"/>
              </a:spcBef>
              <a:spcAft>
                <a:spcPts val="400"/>
              </a:spcAft>
              <a:buNone/>
            </a:pPr>
            <a:r>
              <a:rPr sz="2400" dirty="0">
                <a:solidFill>
                  <a:srgbClr val="0B1D2E"/>
                </a:solidFill>
              </a:rPr>
              <a:t>Chat Bots provide useful answers - just ask the questions</a:t>
            </a:r>
            <a:endParaRPr lang="en-US" sz="2400" dirty="0">
              <a:solidFill>
                <a:srgbClr val="0B1D2E"/>
              </a:solidFill>
            </a:endParaRPr>
          </a:p>
          <a:p>
            <a:pPr marL="800100" lvl="1" indent="-342900">
              <a:spcBef>
                <a:spcPts val="200"/>
              </a:spcBef>
              <a:spcAft>
                <a:spcPts val="400"/>
              </a:spcAft>
              <a:buFont typeface="Arial" pitchFamily="34" charset="0"/>
              <a:buChar char="●"/>
            </a:pPr>
            <a:r>
              <a:rPr lang="en-US" sz="2400" dirty="0">
                <a:solidFill>
                  <a:srgbClr val="0B1D2E"/>
                </a:solidFill>
              </a:rPr>
              <a:t>Technology, health care, things to do</a:t>
            </a:r>
            <a:endParaRPr sz="2400" dirty="0">
              <a:solidFill>
                <a:srgbClr val="0B1D2E"/>
              </a:solidFill>
            </a:endParaRPr>
          </a:p>
          <a:p>
            <a:pPr marL="0" indent="0">
              <a:spcBef>
                <a:spcPts val="2200"/>
              </a:spcBef>
              <a:spcAft>
                <a:spcPts val="400"/>
              </a:spcAft>
              <a:buNone/>
            </a:pPr>
            <a:r>
              <a:rPr sz="2400" dirty="0">
                <a:solidFill>
                  <a:srgbClr val="0B1D2E"/>
                </a:solidFill>
              </a:rPr>
              <a:t>LLM AI Technologies have big benefits and even bigger liabilities</a:t>
            </a:r>
            <a:endParaRPr lang="en-US" sz="2400" dirty="0">
              <a:solidFill>
                <a:srgbClr val="0B1D2E"/>
              </a:solidFill>
            </a:endParaRPr>
          </a:p>
          <a:p>
            <a:pPr marL="800100" lvl="1" indent="-342900">
              <a:spcBef>
                <a:spcPts val="200"/>
              </a:spcBef>
              <a:spcAft>
                <a:spcPts val="400"/>
              </a:spcAft>
              <a:buFont typeface="Arial" pitchFamily="34" charset="0"/>
              <a:buChar char="●"/>
            </a:pPr>
            <a:r>
              <a:rPr lang="en-US" sz="2400" dirty="0">
                <a:solidFill>
                  <a:srgbClr val="0B1D2E"/>
                </a:solidFill>
              </a:rPr>
              <a:t>Read AI articles and share</a:t>
            </a:r>
          </a:p>
          <a:p>
            <a:pPr marL="800100" lvl="1" indent="-342900">
              <a:spcBef>
                <a:spcPts val="200"/>
              </a:spcBef>
              <a:spcAft>
                <a:spcPts val="400"/>
              </a:spcAft>
              <a:buFont typeface="Arial" pitchFamily="34" charset="0"/>
              <a:buChar char="●"/>
            </a:pPr>
            <a:r>
              <a:rPr lang="en-US" sz="2400" dirty="0">
                <a:solidFill>
                  <a:srgbClr val="0B1D2E"/>
                </a:solidFill>
              </a:rPr>
              <a:t>Talk about AI over dinner</a:t>
            </a:r>
          </a:p>
          <a:p>
            <a:pPr marL="800100" lvl="1" indent="-342900">
              <a:spcBef>
                <a:spcPts val="200"/>
              </a:spcBef>
              <a:spcAft>
                <a:spcPts val="400"/>
              </a:spcAft>
              <a:buFont typeface="Arial" pitchFamily="34" charset="0"/>
              <a:buChar char="●"/>
            </a:pPr>
            <a:r>
              <a:rPr lang="en-US" sz="2400" dirty="0">
                <a:solidFill>
                  <a:srgbClr val="0B1D2E"/>
                </a:solidFill>
              </a:rPr>
              <a:t>Vote with purpose</a:t>
            </a:r>
            <a:endParaRPr sz="2400" dirty="0">
              <a:solidFill>
                <a:srgbClr val="0B1D2E"/>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8F3FA"/>
        </a:solidFill>
        <a:effectLst/>
      </p:bgPr>
    </p:bg>
    <p:spTree>
      <p:nvGrpSpPr>
        <p:cNvPr id="1" name=""/>
        <p:cNvGrpSpPr/>
        <p:nvPr/>
      </p:nvGrpSpPr>
      <p:grpSpPr>
        <a:xfrm>
          <a:off x="0" y="0"/>
          <a:ext cx="0" cy="0"/>
          <a:chOff x="0" y="0"/>
          <a:chExt cx="0" cy="0"/>
        </a:xfrm>
      </p:grpSpPr>
      <p:sp>
        <p:nvSpPr>
          <p:cNvPr id="2" name="Rectangle 1"/>
          <p:cNvSpPr/>
          <p:nvPr/>
        </p:nvSpPr>
        <p:spPr>
          <a:xfrm>
            <a:off x="0" y="2103120"/>
            <a:ext cx="12192000" cy="2377440"/>
          </a:xfrm>
          <a:prstGeom prst="rect">
            <a:avLst/>
          </a:prstGeom>
          <a:solidFill>
            <a:srgbClr val="1A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800" b="1" dirty="0">
                <a:solidFill>
                  <a:srgbClr val="EAF6FD"/>
                </a:solidFill>
              </a:rPr>
              <a:t>That’s All Folks!</a:t>
            </a:r>
            <a:endParaRPr sz="4800" b="1" dirty="0">
              <a:solidFill>
                <a:srgbClr val="EAF6FD"/>
              </a:solidFill>
            </a:endParaRPr>
          </a:p>
          <a:p>
            <a:pPr algn="ctr">
              <a:spcBef>
                <a:spcPts val="1600"/>
              </a:spcBef>
            </a:pPr>
            <a:r>
              <a:rPr sz="3000" dirty="0">
                <a:solidFill>
                  <a:srgbClr val="EAF6FD"/>
                </a:solidFill>
              </a:rPr>
              <a:t>Thanks for Coming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5524</Words>
  <Application>Microsoft Office PowerPoint</Application>
  <PresentationFormat>Widescreen</PresentationFormat>
  <Paragraphs>360</Paragraphs>
  <Slides>35</Slides>
  <Notes>35</Notes>
  <HiddenSlides>7</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James Fawcett</cp:lastModifiedBy>
  <cp:revision>14</cp:revision>
  <dcterms:created xsi:type="dcterms:W3CDTF">2013-01-27T09:14:16Z</dcterms:created>
  <dcterms:modified xsi:type="dcterms:W3CDTF">2026-10-31T01:56:05Z</dcterms:modified>
  <cp:category/>
</cp:coreProperties>
</file>