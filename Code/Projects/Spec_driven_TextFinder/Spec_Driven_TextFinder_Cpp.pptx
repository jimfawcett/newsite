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913632"/>
            <a:ext cx="12191695" cy="64008"/>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362895" cy="1828800"/>
          </a:xfrm>
          <a:prstGeom prst="rect">
            <a:avLst/>
          </a:prstGeom>
          <a:noFill/>
        </p:spPr>
        <p:txBody>
          <a:bodyPr wrap="square">
            <a:spAutoFit/>
          </a:bodyPr>
          <a:lstStyle/>
          <a:p>
            <a:pPr>
              <a:defRPr sz="5400" b="1">
                <a:solidFill>
                  <a:srgbClr val="FFFFFF"/>
                </a:solidFill>
              </a:defRPr>
            </a:pPr>
            <a:r>
              <a:t>Spec-Driven Design: C++</a:t>
            </a:r>
          </a:p>
          <a:p>
            <a:pPr>
              <a:spcBef>
                <a:spcPts val="800"/>
              </a:spcBef>
              <a:defRPr sz="2200">
                <a:solidFill>
                  <a:srgbClr val="A9B8C6"/>
                </a:solidFill>
              </a:defRPr>
            </a:pPr>
            <a:r>
              <a:t>The first implementation, and the one the specifications were tested against</a:t>
            </a:r>
          </a:p>
        </p:txBody>
      </p:sp>
      <p:sp>
        <p:nvSpPr>
          <p:cNvPr id="5" name="TextBox 4"/>
          <p:cNvSpPr txBox="1"/>
          <p:nvPr/>
        </p:nvSpPr>
        <p:spPr>
          <a:xfrm>
            <a:off x="914400" y="4206240"/>
            <a:ext cx="10362895" cy="1280160"/>
          </a:xfrm>
          <a:prstGeom prst="rect">
            <a:avLst/>
          </a:prstGeom>
          <a:noFill/>
        </p:spPr>
        <p:txBody>
          <a:bodyPr wrap="square">
            <a:spAutoFit/>
          </a:bodyPr>
          <a:lstStyle/>
          <a:p>
            <a:pPr>
              <a:defRPr sz="1800">
                <a:solidFill>
                  <a:srgbClr val="8EB4D4"/>
                </a:solidFill>
              </a:defRPr>
            </a:pPr>
            <a:r>
              <a:t>A condensed view of the eight-page C++ thread</a:t>
            </a:r>
          </a:p>
          <a:p>
            <a:pPr>
              <a:spcBef>
                <a:spcPts val="1400"/>
              </a:spcBef>
              <a:defRPr sz="1500">
                <a:solidFill>
                  <a:srgbClr val="7A8A9A"/>
                </a:solidFill>
              </a:defRPr>
            </a:pPr>
            <a:r>
              <a:t>Jim Fawcett  ·  Spec_driven_TextFinder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defRPr sz="3000" b="1">
                <a:solidFill>
                  <a:srgbClr val="FFFFFF"/>
                </a:solidFill>
              </a:defRPr>
            </a:pPr>
            <a:r>
              <a:t>The C++ Thread at a Glance</a:t>
            </a:r>
          </a:p>
        </p:txBody>
      </p:sp>
      <p:sp>
        <p:nvSpPr>
          <p:cNvPr id="5" name="TextBox 4"/>
          <p:cNvSpPr txBox="1"/>
          <p:nvPr/>
        </p:nvSpPr>
        <p:spPr>
          <a:xfrm>
            <a:off x="640080" y="1417320"/>
            <a:ext cx="10911535" cy="5074920"/>
          </a:xfrm>
          <a:prstGeom prst="rect">
            <a:avLst/>
          </a:prstGeom>
          <a:noFill/>
        </p:spPr>
        <p:txBody>
          <a:bodyPr wrap="square">
            <a:spAutoFit/>
          </a:bodyPr>
          <a:lstStyle/>
          <a:p>
            <a:pPr>
              <a:lnSpc>
                <a:spcPct val="108000"/>
              </a:lnSpc>
              <a:spcBef>
                <a:spcPts val="1000"/>
              </a:spcBef>
              <a:spcAft>
                <a:spcPts val="0"/>
              </a:spcAft>
            </a:pPr>
            <a:r>
              <a:rPr sz="1800">
                <a:solidFill>
                  <a:srgbClr val="202020"/>
                </a:solidFill>
              </a:rPr>
              <a:t>▪  Eight pages: the process applied to C++, then the structure, the binary, the three libraries, the test suites, and the executable run against this project's own tree.</a:t>
            </a:r>
          </a:p>
          <a:p>
            <a:pPr>
              <a:lnSpc>
                <a:spcPct val="108000"/>
              </a:lnSpc>
              <a:spcBef>
                <a:spcPts val="1000"/>
              </a:spcBef>
              <a:spcAft>
                <a:spcPts val="0"/>
              </a:spcAft>
            </a:pPr>
            <a:r>
              <a:rPr sz="1800">
                <a:solidFill>
                  <a:srgbClr val="202020"/>
                </a:solidFill>
              </a:rPr>
              <a:t>▪  Three modules and one translation unit. Everything harder than wiring lives in a library - the binary is 86 lines against an 87-line specification.</a:t>
            </a:r>
          </a:p>
          <a:p>
            <a:pPr>
              <a:lnSpc>
                <a:spcPct val="108000"/>
              </a:lnSpc>
              <a:spcBef>
                <a:spcPts val="1000"/>
              </a:spcBef>
              <a:spcAft>
                <a:spcPts val="0"/>
              </a:spcAft>
            </a:pPr>
            <a:r>
              <a:rPr sz="1800">
                <a:solidFill>
                  <a:srgbClr val="202020"/>
                </a:solidFill>
              </a:rPr>
              <a:t>▪  The sources were written in one turn, from the five specifications and nothing else.</a:t>
            </a:r>
          </a:p>
        </p:txBody>
      </p:sp>
      <p:graphicFrame>
        <p:nvGraphicFramePr>
          <p:cNvPr id="6" name="Table 5"/>
          <p:cNvGraphicFramePr>
            <a:graphicFrameLocks noGrp="1"/>
          </p:cNvGraphicFramePr>
          <p:nvPr/>
        </p:nvGraphicFramePr>
        <p:xfrm>
          <a:off x="640080" y="3429000"/>
          <a:ext cx="10881360" cy="2880360"/>
        </p:xfrm>
        <a:graphic>
          <a:graphicData uri="http://schemas.openxmlformats.org/drawingml/2006/table">
            <a:tbl>
              <a:tblPr firstRow="1" bandRow="1">
                <a:tableStyleId>{5C22544A-7EE6-4342-B048-85BDC9FD1C3A}</a:tableStyleId>
              </a:tblPr>
              <a:tblGrid>
                <a:gridCol w="2103120"/>
                <a:gridCol w="8778240"/>
              </a:tblGrid>
              <a:tr h="320040">
                <a:tc>
                  <a:txBody>
                    <a:bodyPr/>
                    <a:lstStyle/>
                    <a:p>
                      <a:pPr>
                        <a:defRPr sz="1300" b="1">
                          <a:solidFill>
                            <a:srgbClr val="FFFFFF"/>
                          </a:solidFill>
                        </a:defRPr>
                      </a:pPr>
                      <a:r>
                        <a:t>Page</a:t>
                      </a:r>
                    </a:p>
                  </a:txBody>
                  <a:tcPr marL="73152" marT="27432" marB="27432">
                    <a:solidFill>
                      <a:srgbClr val="1E2B3A"/>
                    </a:solidFill>
                  </a:tcPr>
                </a:tc>
                <a:tc>
                  <a:txBody>
                    <a:bodyPr/>
                    <a:lstStyle/>
                    <a:p>
                      <a:pPr>
                        <a:defRPr sz="1300" b="1">
                          <a:solidFill>
                            <a:srgbClr val="FFFFFF"/>
                          </a:solidFill>
                        </a:defRPr>
                      </a:pPr>
                      <a:r>
                        <a:t>What it covers</a:t>
                      </a:r>
                    </a:p>
                  </a:txBody>
                  <a:tcPr marL="73152" marT="27432" marB="27432">
                    <a:solidFill>
                      <a:srgbClr val="1E2B3A"/>
                    </a:solidFill>
                  </a:tcPr>
                </a:tc>
              </a:tr>
              <a:tr h="320040">
                <a:tc>
                  <a:txBody>
                    <a:bodyPr/>
                    <a:lstStyle/>
                    <a:p>
                      <a:pPr>
                        <a:defRPr sz="1300" b="0">
                          <a:solidFill>
                            <a:srgbClr val="202020"/>
                          </a:solidFill>
                        </a:defRPr>
                      </a:pPr>
                      <a:r>
                        <a:t>Process</a:t>
                      </a:r>
                    </a:p>
                  </a:txBody>
                  <a:tcPr marL="73152" marT="27432" marB="27432">
                    <a:solidFill>
                      <a:srgbClr val="F2F4F6"/>
                    </a:solidFill>
                  </a:tcPr>
                </a:tc>
                <a:tc>
                  <a:txBody>
                    <a:bodyPr/>
                    <a:lstStyle/>
                    <a:p>
                      <a:pPr>
                        <a:defRPr sz="1300" b="0">
                          <a:solidFill>
                            <a:srgbClr val="202020"/>
                          </a:solidFill>
                        </a:defRPr>
                      </a:pPr>
                      <a:r>
                        <a:t>14 prompt records, six reviews totaling 83 items, and four resolutions that changed the code's shape</a:t>
                      </a:r>
                    </a:p>
                  </a:txBody>
                  <a:tcPr marL="73152" marT="27432" marB="27432">
                    <a:solidFill>
                      <a:srgbClr val="F2F4F6"/>
                    </a:solidFill>
                  </a:tcPr>
                </a:tc>
              </a:tr>
              <a:tr h="320040">
                <a:tc>
                  <a:txBody>
                    <a:bodyPr/>
                    <a:lstStyle/>
                    <a:p>
                      <a:pPr>
                        <a:defRPr sz="1300" b="0">
                          <a:solidFill>
                            <a:srgbClr val="202020"/>
                          </a:solidFill>
                        </a:defRPr>
                      </a:pPr>
                      <a:r>
                        <a:t>Structure</a:t>
                      </a:r>
                    </a:p>
                  </a:txBody>
                  <a:tcPr marL="73152" marT="27432" marB="27432">
                    <a:solidFill>
                      <a:srgbClr val="FFFFFF"/>
                    </a:solidFill>
                  </a:tcPr>
                </a:tc>
                <a:tc>
                  <a:txBody>
                    <a:bodyPr/>
                    <a:lstStyle/>
                    <a:p>
                      <a:pPr>
                        <a:defRPr sz="1300" b="0">
                          <a:solidFill>
                            <a:srgbClr val="202020"/>
                          </a:solidFill>
                        </a:defRPr>
                      </a:pPr>
                      <a:r>
                        <a:t>Three libraries and one binary, the chain between them, and the one declared interface</a:t>
                      </a:r>
                    </a:p>
                  </a:txBody>
                  <a:tcPr marL="73152" marT="27432" marB="27432">
                    <a:solidFill>
                      <a:srgbClr val="FFFFFF"/>
                    </a:solidFill>
                  </a:tcPr>
                </a:tc>
              </a:tr>
              <a:tr h="320040">
                <a:tc>
                  <a:txBody>
                    <a:bodyPr/>
                    <a:lstStyle/>
                    <a:p>
                      <a:pPr>
                        <a:defRPr sz="1300" b="0">
                          <a:solidFill>
                            <a:srgbClr val="202020"/>
                          </a:solidFill>
                        </a:defRPr>
                      </a:pPr>
                      <a:r>
                        <a:t>Entry</a:t>
                      </a:r>
                    </a:p>
                  </a:txBody>
                  <a:tcPr marL="73152" marT="27432" marB="27432">
                    <a:solidFill>
                      <a:srgbClr val="F2F4F6"/>
                    </a:solidFill>
                  </a:tcPr>
                </a:tc>
                <a:tc>
                  <a:txBody>
                    <a:bodyPr/>
                    <a:lstStyle/>
                    <a:p>
                      <a:pPr>
                        <a:defRPr sz="1300" b="0">
                          <a:solidFill>
                            <a:srgbClr val="202020"/>
                          </a:solidFill>
                        </a:defRPr>
                      </a:pPr>
                      <a:r>
                        <a:t>Ten startup steps, one skip list, three exit codes, and no call to std::exit</a:t>
                      </a:r>
                    </a:p>
                  </a:txBody>
                  <a:tcPr marL="73152" marT="27432" marB="27432">
                    <a:solidFill>
                      <a:srgbClr val="F2F4F6"/>
                    </a:solidFill>
                  </a:tcPr>
                </a:tc>
              </a:tr>
              <a:tr h="320040">
                <a:tc>
                  <a:txBody>
                    <a:bodyPr/>
                    <a:lstStyle/>
                    <a:p>
                      <a:pPr>
                        <a:defRPr sz="1300" b="0">
                          <a:solidFill>
                            <a:srgbClr val="202020"/>
                          </a:solidFill>
                        </a:defRPr>
                      </a:pPr>
                      <a:r>
                        <a:t>Cmdline</a:t>
                      </a:r>
                    </a:p>
                  </a:txBody>
                  <a:tcPr marL="73152" marT="27432" marB="27432">
                    <a:solidFill>
                      <a:srgbClr val="FFFFFF"/>
                    </a:solidFill>
                  </a:tcPr>
                </a:tc>
                <a:tc>
                  <a:txBody>
                    <a:bodyPr/>
                    <a:lstStyle/>
                    <a:p>
                      <a:pPr>
                        <a:defRPr sz="1300" b="0">
                          <a:solidFill>
                            <a:srgbClr val="202020"/>
                          </a:solidFill>
                        </a:defRPr>
                      </a:pPr>
                      <a:r>
                        <a:t>argc and argv to ProgramCommands, with the defaults in the initializers</a:t>
                      </a:r>
                    </a:p>
                  </a:txBody>
                  <a:tcPr marL="73152" marT="27432" marB="27432">
                    <a:solidFill>
                      <a:srgbClr val="FFFFFF"/>
                    </a:solidFill>
                  </a:tcPr>
                </a:tc>
              </a:tr>
              <a:tr h="320040">
                <a:tc>
                  <a:txBody>
                    <a:bodyPr/>
                    <a:lstStyle/>
                    <a:p>
                      <a:pPr>
                        <a:defRPr sz="1300" b="0">
                          <a:solidFill>
                            <a:srgbClr val="202020"/>
                          </a:solidFill>
                        </a:defRPr>
                      </a:pPr>
                      <a:r>
                        <a:t>Dirnav</a:t>
                      </a:r>
                    </a:p>
                  </a:txBody>
                  <a:tcPr marL="73152" marT="27432" marB="27432">
                    <a:solidFill>
                      <a:srgbClr val="F2F4F6"/>
                    </a:solidFill>
                  </a:tcPr>
                </a:tc>
                <a:tc>
                  <a:txBody>
                    <a:bodyPr/>
                    <a:lstStyle/>
                    <a:p>
                      <a:pPr>
                        <a:defRPr sz="1300" b="0">
                          <a:solidFill>
                            <a:srgbClr val="202020"/>
                          </a:solidFill>
                        </a:defRPr>
                      </a:pPr>
                      <a:r>
                        <a:t>Traversal, admission, matching, and emission in one class template</a:t>
                      </a:r>
                    </a:p>
                  </a:txBody>
                  <a:tcPr marL="73152" marT="27432" marB="27432">
                    <a:solidFill>
                      <a:srgbClr val="F2F4F6"/>
                    </a:solidFill>
                  </a:tcPr>
                </a:tc>
              </a:tr>
              <a:tr h="320040">
                <a:tc>
                  <a:txBody>
                    <a:bodyPr/>
                    <a:lstStyle/>
                    <a:p>
                      <a:pPr>
                        <a:defRPr sz="1300" b="0">
                          <a:solidFill>
                            <a:srgbClr val="202020"/>
                          </a:solidFill>
                        </a:defRPr>
                      </a:pPr>
                      <a:r>
                        <a:t>Output</a:t>
                      </a:r>
                    </a:p>
                  </a:txBody>
                  <a:tcPr marL="73152" marT="27432" marB="27432">
                    <a:solidFill>
                      <a:srgbClr val="FFFFFF"/>
                    </a:solidFill>
                  </a:tcPr>
                </a:tc>
                <a:tc>
                  <a:txBody>
                    <a:bodyPr/>
                    <a:lstStyle/>
                    <a:p>
                      <a:pPr>
                        <a:defRPr sz="1300" b="0">
                          <a:solidFill>
                            <a:srgbClr val="202020"/>
                          </a:solidFill>
                        </a:defRPr>
                      </a:pPr>
                      <a:r>
                        <a:t>53 lines that write a line, absorb a failure, and set one stream mode</a:t>
                      </a:r>
                    </a:p>
                  </a:txBody>
                  <a:tcPr marL="73152" marT="27432" marB="27432">
                    <a:solidFill>
                      <a:srgbClr val="FFFFFF"/>
                    </a:solidFill>
                  </a:tcPr>
                </a:tc>
              </a:tr>
              <a:tr h="320040">
                <a:tc>
                  <a:txBody>
                    <a:bodyPr/>
                    <a:lstStyle/>
                    <a:p>
                      <a:pPr>
                        <a:defRPr sz="1300" b="0">
                          <a:solidFill>
                            <a:srgbClr val="202020"/>
                          </a:solidFill>
                        </a:defRPr>
                      </a:pPr>
                      <a:r>
                        <a:t>Testing</a:t>
                      </a:r>
                    </a:p>
                  </a:txBody>
                  <a:tcPr marL="73152" marT="27432" marB="27432">
                    <a:solidFill>
                      <a:srgbClr val="F2F4F6"/>
                    </a:solidFill>
                  </a:tcPr>
                </a:tc>
                <a:tc>
                  <a:txBody>
                    <a:bodyPr/>
                    <a:lstStyle/>
                    <a:p>
                      <a:pPr>
                        <a:defRPr sz="1300" b="0">
                          <a:solidFill>
                            <a:srgbClr val="202020"/>
                          </a:solidFill>
                        </a:defRPr>
                      </a:pPr>
                      <a:r>
                        <a:t>Four suites, 151 assertions, no test framework</a:t>
                      </a:r>
                    </a:p>
                  </a:txBody>
                  <a:tcPr marL="73152" marT="27432" marB="27432">
                    <a:solidFill>
                      <a:srgbClr val="F2F4F6"/>
                    </a:solidFill>
                  </a:tcPr>
                </a:tc>
              </a:tr>
              <a:tr h="320040">
                <a:tc>
                  <a:txBody>
                    <a:bodyPr/>
                    <a:lstStyle/>
                    <a:p>
                      <a:pPr>
                        <a:defRPr sz="1300" b="0">
                          <a:solidFill>
                            <a:srgbClr val="202020"/>
                          </a:solidFill>
                        </a:defRPr>
                      </a:pPr>
                      <a:r>
                        <a:t>Demonstration</a:t>
                      </a:r>
                    </a:p>
                  </a:txBody>
                  <a:tcPr marL="73152" marT="27432" marB="27432">
                    <a:solidFill>
                      <a:srgbClr val="FFFFFF"/>
                    </a:solidFill>
                  </a:tcPr>
                </a:tc>
                <a:tc>
                  <a:txBody>
                    <a:bodyPr/>
                    <a:lstStyle/>
                    <a:p>
                      <a:pPr>
                        <a:defRPr sz="1300" b="0">
                          <a:solidFill>
                            <a:srgbClr val="202020"/>
                          </a:solidFill>
                        </a:defRPr>
                      </a:pPr>
                      <a:r>
                        <a:t>11 invocations against the project's own tree, captured 2026-09-16</a:t>
                      </a:r>
                    </a:p>
                  </a:txBody>
                  <a:tcPr marL="73152" marT="27432" marB="27432">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743200"/>
            <a:ext cx="109728" cy="1371600"/>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2651760"/>
            <a:ext cx="9814255" cy="1828800"/>
          </a:xfrm>
          <a:prstGeom prst="rect">
            <a:avLst/>
          </a:prstGeom>
          <a:noFill/>
        </p:spPr>
        <p:txBody>
          <a:bodyPr wrap="square">
            <a:spAutoFit/>
          </a:bodyPr>
          <a:lstStyle/>
          <a:p>
            <a:pPr>
              <a:defRPr sz="1400" b="1">
                <a:solidFill>
                  <a:srgbClr val="8EB4D4"/>
                </a:solidFill>
              </a:defRPr>
            </a:pPr>
            <a:r>
              <a:t>Part I</a:t>
            </a:r>
          </a:p>
          <a:p>
            <a:pPr>
              <a:defRPr sz="4000" b="1">
                <a:solidFill>
                  <a:srgbClr val="FFFFFF"/>
                </a:solidFill>
              </a:defRPr>
            </a:pPr>
            <a:r>
              <a:t>Specifying C++</a:t>
            </a:r>
          </a:p>
          <a:p>
            <a:pPr>
              <a:spcBef>
                <a:spcPts val="1000"/>
              </a:spcBef>
              <a:defRPr sz="1700">
                <a:solidFill>
                  <a:srgbClr val="A9B8C6"/>
                </a:solidFill>
              </a:defRPr>
            </a:pPr>
            <a:r>
              <a:t>What the reviews asked, and what the answers changed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spcAft>
                <a:spcPts val="200"/>
              </a:spcAft>
              <a:defRPr sz="1200" b="1">
                <a:solidFill>
                  <a:srgbClr val="8EB4D4"/>
                </a:solidFill>
              </a:defRPr>
            </a:pPr>
            <a:r>
              <a:t>PROCESS</a:t>
            </a:r>
          </a:p>
          <a:p>
            <a:pPr>
              <a:defRPr sz="3000" b="1">
                <a:solidFill>
                  <a:srgbClr val="FFFFFF"/>
                </a:solidFill>
              </a:defRPr>
            </a:pPr>
            <a:r>
              <a:t>What the Records Show</a:t>
            </a:r>
          </a:p>
        </p:txBody>
      </p:sp>
      <p:sp>
        <p:nvSpPr>
          <p:cNvPr id="5" name="TextBox 4"/>
          <p:cNvSpPr txBox="1"/>
          <p:nvPr/>
        </p:nvSpPr>
        <p:spPr>
          <a:xfrm>
            <a:off x="640080" y="1417320"/>
            <a:ext cx="10911535" cy="5074920"/>
          </a:xfrm>
          <a:prstGeom prst="rect">
            <a:avLst/>
          </a:prstGeom>
          <a:noFill/>
        </p:spPr>
        <p:txBody>
          <a:bodyPr wrap="square">
            <a:spAutoFit/>
          </a:bodyPr>
          <a:lstStyle/>
          <a:p>
            <a:pPr>
              <a:lnSpc>
                <a:spcPct val="108000"/>
              </a:lnSpc>
              <a:spcBef>
                <a:spcPts val="1000"/>
              </a:spcBef>
              <a:spcAft>
                <a:spcPts val="0"/>
              </a:spcAft>
            </a:pPr>
            <a:r>
              <a:rPr sz="1800">
                <a:solidFill>
                  <a:srgbClr val="202020"/>
                </a:solidFill>
              </a:rPr>
              <a:t>▪  14 prompt records - 12 sitting with the document each produced, 2 reaching across every component: the cross-document review, and the build.</a:t>
            </a:r>
          </a:p>
          <a:p>
            <a:pPr>
              <a:lnSpc>
                <a:spcPct val="108000"/>
              </a:lnSpc>
              <a:spcBef>
                <a:spcPts val="1000"/>
              </a:spcBef>
              <a:spcAft>
                <a:spcPts val="0"/>
              </a:spcAft>
            </a:pPr>
            <a:r>
              <a:rPr sz="1800">
                <a:solidFill>
                  <a:srgbClr val="202020"/>
                </a:solidFill>
              </a:rPr>
              <a:t>▪  Six reviews returned 83 items in all. Every list was returned without edits, answered item by item, and applied in one pass.</a:t>
            </a:r>
          </a:p>
        </p:txBody>
      </p:sp>
      <p:graphicFrame>
        <p:nvGraphicFramePr>
          <p:cNvPr id="6" name="Table 5"/>
          <p:cNvGraphicFramePr>
            <a:graphicFrameLocks noGrp="1"/>
          </p:cNvGraphicFramePr>
          <p:nvPr/>
        </p:nvGraphicFramePr>
        <p:xfrm>
          <a:off x="640080" y="3017520"/>
          <a:ext cx="10881360" cy="2240280"/>
        </p:xfrm>
        <a:graphic>
          <a:graphicData uri="http://schemas.openxmlformats.org/drawingml/2006/table">
            <a:tbl>
              <a:tblPr firstRow="1" bandRow="1">
                <a:tableStyleId>{5C22544A-7EE6-4342-B048-85BDC9FD1C3A}</a:tableStyleId>
              </a:tblPr>
              <a:tblGrid>
                <a:gridCol w="2560320"/>
                <a:gridCol w="914400"/>
                <a:gridCol w="7406640"/>
              </a:tblGrid>
              <a:tr h="320040">
                <a:tc>
                  <a:txBody>
                    <a:bodyPr/>
                    <a:lstStyle/>
                    <a:p>
                      <a:pPr>
                        <a:defRPr sz="1300" b="1">
                          <a:solidFill>
                            <a:srgbClr val="FFFFFF"/>
                          </a:solidFill>
                        </a:defRPr>
                      </a:pPr>
                      <a:r>
                        <a:t>Review</a:t>
                      </a:r>
                    </a:p>
                  </a:txBody>
                  <a:tcPr marL="73152" marT="27432" marB="27432">
                    <a:solidFill>
                      <a:srgbClr val="1E2B3A"/>
                    </a:solidFill>
                  </a:tcPr>
                </a:tc>
                <a:tc>
                  <a:txBody>
                    <a:bodyPr/>
                    <a:lstStyle/>
                    <a:p>
                      <a:pPr>
                        <a:defRPr sz="1300" b="1">
                          <a:solidFill>
                            <a:srgbClr val="FFFFFF"/>
                          </a:solidFill>
                        </a:defRPr>
                      </a:pPr>
                      <a:r>
                        <a:t>Items</a:t>
                      </a:r>
                    </a:p>
                  </a:txBody>
                  <a:tcPr marL="73152" marT="27432" marB="27432">
                    <a:solidFill>
                      <a:srgbClr val="1E2B3A"/>
                    </a:solidFill>
                  </a:tcPr>
                </a:tc>
                <a:tc>
                  <a:txBody>
                    <a:bodyPr/>
                    <a:lstStyle/>
                    <a:p>
                      <a:pPr>
                        <a:defRPr sz="1300" b="1">
                          <a:solidFill>
                            <a:srgbClr val="FFFFFF"/>
                          </a:solidFill>
                        </a:defRPr>
                      </a:pPr>
                      <a:r>
                        <a:t>The question that mattered most</a:t>
                      </a:r>
                    </a:p>
                  </a:txBody>
                  <a:tcPr marL="73152" marT="27432" marB="27432">
                    <a:solidFill>
                      <a:srgbClr val="1E2B3A"/>
                    </a:solidFill>
                  </a:tcPr>
                </a:tc>
              </a:tr>
              <a:tr h="320040">
                <a:tc>
                  <a:txBody>
                    <a:bodyPr/>
                    <a:lstStyle/>
                    <a:p>
                      <a:pPr>
                        <a:defRPr sz="1300" b="0">
                          <a:solidFill>
                            <a:srgbClr val="202020"/>
                          </a:solidFill>
                        </a:defRPr>
                      </a:pPr>
                      <a:r>
                        <a:t>Project spec</a:t>
                      </a:r>
                    </a:p>
                  </a:txBody>
                  <a:tcPr marL="73152" marT="27432" marB="27432">
                    <a:solidFill>
                      <a:srgbClr val="F2F4F6"/>
                    </a:solidFill>
                  </a:tcPr>
                </a:tc>
                <a:tc>
                  <a:txBody>
                    <a:bodyPr/>
                    <a:lstStyle/>
                    <a:p>
                      <a:pPr>
                        <a:defRPr sz="1300" b="0">
                          <a:solidFill>
                            <a:srgbClr val="202020"/>
                          </a:solidFill>
                        </a:defRPr>
                      </a:pPr>
                      <a:r>
                        <a:t>18</a:t>
                      </a:r>
                    </a:p>
                  </a:txBody>
                  <a:tcPr marL="73152" marT="27432" marB="27432">
                    <a:solidFill>
                      <a:srgbClr val="F2F4F6"/>
                    </a:solidFill>
                  </a:tcPr>
                </a:tc>
                <a:tc>
                  <a:txBody>
                    <a:bodyPr/>
                    <a:lstStyle/>
                    <a:p>
                      <a:pPr>
                        <a:defRPr sz="1300" b="0">
                          <a:solidFill>
                            <a:srgbClr val="202020"/>
                          </a:solidFill>
                        </a:defRPr>
                      </a:pPr>
                      <a:r>
                        <a:t>Text encoding and line delimiter, the largest sources of drift across four languages</a:t>
                      </a:r>
                    </a:p>
                  </a:txBody>
                  <a:tcPr marL="73152" marT="27432" marB="27432">
                    <a:solidFill>
                      <a:srgbClr val="F2F4F6"/>
                    </a:solidFill>
                  </a:tcPr>
                </a:tc>
              </a:tr>
              <a:tr h="320040">
                <a:tc>
                  <a:txBody>
                    <a:bodyPr/>
                    <a:lstStyle/>
                    <a:p>
                      <a:pPr>
                        <a:defRPr sz="1300" b="0">
                          <a:solidFill>
                            <a:srgbClr val="202020"/>
                          </a:solidFill>
                        </a:defRPr>
                      </a:pPr>
                      <a:r>
                        <a:t>Structure document</a:t>
                      </a:r>
                    </a:p>
                  </a:txBody>
                  <a:tcPr marL="73152" marT="27432" marB="27432">
                    <a:solidFill>
                      <a:srgbClr val="FFFFFF"/>
                    </a:solidFill>
                  </a:tcPr>
                </a:tc>
                <a:tc>
                  <a:txBody>
                    <a:bodyPr/>
                    <a:lstStyle/>
                    <a:p>
                      <a:pPr>
                        <a:defRPr sz="1300" b="0">
                          <a:solidFill>
                            <a:srgbClr val="202020"/>
                          </a:solidFill>
                        </a:defRPr>
                      </a:pPr>
                      <a:r>
                        <a:t>12</a:t>
                      </a:r>
                    </a:p>
                  </a:txBody>
                  <a:tcPr marL="73152" marT="27432" marB="27432">
                    <a:solidFill>
                      <a:srgbClr val="FFFFFF"/>
                    </a:solidFill>
                  </a:tcPr>
                </a:tc>
                <a:tc>
                  <a:txBody>
                    <a:bodyPr/>
                    <a:lstStyle/>
                    <a:p>
                      <a:pPr>
                        <a:defRPr sz="1300" b="0">
                          <a:solidFill>
                            <a:srgbClr val="202020"/>
                          </a:solidFill>
                        </a:defRPr>
                      </a:pPr>
                      <a:r>
                        <a:t>How a concrete Output binds to Dirnav: constructor argument, setter, or template parameter</a:t>
                      </a:r>
                    </a:p>
                  </a:txBody>
                  <a:tcPr marL="73152" marT="27432" marB="27432">
                    <a:solidFill>
                      <a:srgbClr val="FFFFFF"/>
                    </a:solidFill>
                  </a:tcPr>
                </a:tc>
              </a:tr>
              <a:tr h="320040">
                <a:tc>
                  <a:txBody>
                    <a:bodyPr/>
                    <a:lstStyle/>
                    <a:p>
                      <a:pPr>
                        <a:defRPr sz="1300" b="0">
                          <a:solidFill>
                            <a:srgbClr val="202020"/>
                          </a:solidFill>
                        </a:defRPr>
                      </a:pPr>
                      <a:r>
                        <a:t>Entry spec</a:t>
                      </a:r>
                    </a:p>
                  </a:txBody>
                  <a:tcPr marL="73152" marT="27432" marB="27432">
                    <a:solidFill>
                      <a:srgbClr val="F2F4F6"/>
                    </a:solidFill>
                  </a:tcPr>
                </a:tc>
                <a:tc>
                  <a:txBody>
                    <a:bodyPr/>
                    <a:lstStyle/>
                    <a:p>
                      <a:pPr>
                        <a:defRPr sz="1300" b="0">
                          <a:solidFill>
                            <a:srgbClr val="202020"/>
                          </a:solidFill>
                        </a:defRPr>
                      </a:pPr>
                      <a:r>
                        <a:t>13</a:t>
                      </a:r>
                    </a:p>
                  </a:txBody>
                  <a:tcPr marL="73152" marT="27432" marB="27432">
                    <a:solidFill>
                      <a:srgbClr val="F2F4F6"/>
                    </a:solidFill>
                  </a:tcPr>
                </a:tc>
                <a:tc>
                  <a:txBody>
                    <a:bodyPr/>
                    <a:lstStyle/>
                    <a:p>
                      <a:pPr>
                        <a:defRPr sz="1300" b="0">
                          <a:solidFill>
                            <a:srgbClr val="202020"/>
                          </a:solidFill>
                        </a:defRPr>
                      </a:pPr>
                      <a:r>
                        <a:t>When the skip list reaches Dirnav, and what exit code a malformed regex takes</a:t>
                      </a:r>
                    </a:p>
                  </a:txBody>
                  <a:tcPr marL="73152" marT="27432" marB="27432">
                    <a:solidFill>
                      <a:srgbClr val="F2F4F6"/>
                    </a:solidFill>
                  </a:tcPr>
                </a:tc>
              </a:tr>
              <a:tr h="320040">
                <a:tc>
                  <a:txBody>
                    <a:bodyPr/>
                    <a:lstStyle/>
                    <a:p>
                      <a:pPr>
                        <a:defRPr sz="1300" b="0">
                          <a:solidFill>
                            <a:srgbClr val="202020"/>
                          </a:solidFill>
                        </a:defRPr>
                      </a:pPr>
                      <a:r>
                        <a:t>Cmdline spec</a:t>
                      </a:r>
                    </a:p>
                  </a:txBody>
                  <a:tcPr marL="73152" marT="27432" marB="27432">
                    <a:solidFill>
                      <a:srgbClr val="FFFFFF"/>
                    </a:solidFill>
                  </a:tcPr>
                </a:tc>
                <a:tc>
                  <a:txBody>
                    <a:bodyPr/>
                    <a:lstStyle/>
                    <a:p>
                      <a:pPr>
                        <a:defRPr sz="1300" b="0">
                          <a:solidFill>
                            <a:srgbClr val="202020"/>
                          </a:solidFill>
                        </a:defRPr>
                      </a:pPr>
                      <a:r>
                        <a:t>12</a:t>
                      </a:r>
                    </a:p>
                  </a:txBody>
                  <a:tcPr marL="73152" marT="27432" marB="27432">
                    <a:solidFill>
                      <a:srgbClr val="FFFFFF"/>
                    </a:solidFill>
                  </a:tcPr>
                </a:tc>
                <a:tc>
                  <a:txBody>
                    <a:bodyPr/>
                    <a:lstStyle/>
                    <a:p>
                      <a:pPr>
                        <a:defRPr sz="1300" b="0">
                          <a:solidFill>
                            <a:srgbClr val="202020"/>
                          </a:solidFill>
                        </a:defRPr>
                      </a:pPr>
                      <a:r>
                        <a:t>Which of two overlapping errors a bare / is, and who owns the usage line</a:t>
                      </a:r>
                    </a:p>
                  </a:txBody>
                  <a:tcPr marL="73152" marT="27432" marB="27432">
                    <a:solidFill>
                      <a:srgbClr val="FFFFFF"/>
                    </a:solidFill>
                  </a:tcPr>
                </a:tc>
              </a:tr>
              <a:tr h="320040">
                <a:tc>
                  <a:txBody>
                    <a:bodyPr/>
                    <a:lstStyle/>
                    <a:p>
                      <a:pPr>
                        <a:defRPr sz="1300" b="0">
                          <a:solidFill>
                            <a:srgbClr val="202020"/>
                          </a:solidFill>
                        </a:defRPr>
                      </a:pPr>
                      <a:r>
                        <a:t>Dirnav spec</a:t>
                      </a:r>
                    </a:p>
                  </a:txBody>
                  <a:tcPr marL="73152" marT="27432" marB="27432">
                    <a:solidFill>
                      <a:srgbClr val="F2F4F6"/>
                    </a:solidFill>
                  </a:tcPr>
                </a:tc>
                <a:tc>
                  <a:txBody>
                    <a:bodyPr/>
                    <a:lstStyle/>
                    <a:p>
                      <a:pPr>
                        <a:defRPr sz="1300" b="0">
                          <a:solidFill>
                            <a:srgbClr val="202020"/>
                          </a:solidFill>
                        </a:defRPr>
                      </a:pPr>
                      <a:r>
                        <a:t>13</a:t>
                      </a:r>
                    </a:p>
                  </a:txBody>
                  <a:tcPr marL="73152" marT="27432" marB="27432">
                    <a:solidFill>
                      <a:srgbClr val="F2F4F6"/>
                    </a:solidFill>
                  </a:tcPr>
                </a:tc>
                <a:tc>
                  <a:txBody>
                    <a:bodyPr/>
                    <a:lstStyle/>
                    <a:p>
                      <a:pPr>
                        <a:defRPr sz="1300" b="0">
                          <a:solidFill>
                            <a:srgbClr val="202020"/>
                          </a:solidFill>
                        </a:defRPr>
                      </a:pPr>
                      <a:r>
                        <a:t>Whether a UTF-16 file of ASCII text is a binary file, and how big a file may be</a:t>
                      </a:r>
                    </a:p>
                  </a:txBody>
                  <a:tcPr marL="73152" marT="27432" marB="27432">
                    <a:solidFill>
                      <a:srgbClr val="F2F4F6"/>
                    </a:solidFill>
                  </a:tcPr>
                </a:tc>
              </a:tr>
              <a:tr h="320040">
                <a:tc>
                  <a:txBody>
                    <a:bodyPr/>
                    <a:lstStyle/>
                    <a:p>
                      <a:pPr>
                        <a:defRPr sz="1300" b="0">
                          <a:solidFill>
                            <a:srgbClr val="202020"/>
                          </a:solidFill>
                        </a:defRPr>
                      </a:pPr>
                      <a:r>
                        <a:t>All five together</a:t>
                      </a:r>
                    </a:p>
                  </a:txBody>
                  <a:tcPr marL="73152" marT="27432" marB="27432">
                    <a:solidFill>
                      <a:srgbClr val="FFFFFF"/>
                    </a:solidFill>
                  </a:tcPr>
                </a:tc>
                <a:tc>
                  <a:txBody>
                    <a:bodyPr/>
                    <a:lstStyle/>
                    <a:p>
                      <a:pPr>
                        <a:defRPr sz="1300" b="0">
                          <a:solidFill>
                            <a:srgbClr val="202020"/>
                          </a:solidFill>
                        </a:defRPr>
                      </a:pPr>
                      <a:r>
                        <a:t>15</a:t>
                      </a:r>
                    </a:p>
                  </a:txBody>
                  <a:tcPr marL="73152" marT="27432" marB="27432">
                    <a:solidFill>
                      <a:srgbClr val="FFFFFF"/>
                    </a:solidFill>
                  </a:tcPr>
                </a:tc>
                <a:tc>
                  <a:txBody>
                    <a:bodyPr/>
                    <a:lstStyle/>
                    <a:p>
                      <a:pPr>
                        <a:defRPr sz="1300" b="0">
                          <a:solidFill>
                            <a:srgbClr val="202020"/>
                          </a:solidFill>
                        </a:defRPr>
                      </a:pPr>
                      <a:r>
                        <a:t>Four contradictions between documents that each read correctly alone</a:t>
                      </a:r>
                    </a:p>
                  </a:txBody>
                  <a:tcPr marL="73152" marT="27432" marB="27432">
                    <a:solidFill>
                      <a:srgbClr val="FFFFFF"/>
                    </a:solidFill>
                  </a:tcPr>
                </a:tc>
              </a:tr>
            </a:tbl>
          </a:graphicData>
        </a:graphic>
      </p:graphicFrame>
      <p:sp>
        <p:nvSpPr>
          <p:cNvPr id="7" name="TextBox 6"/>
          <p:cNvSpPr txBox="1"/>
          <p:nvPr/>
        </p:nvSpPr>
        <p:spPr>
          <a:xfrm>
            <a:off x="640080" y="5989320"/>
            <a:ext cx="10911535" cy="548640"/>
          </a:xfrm>
          <a:prstGeom prst="rect">
            <a:avLst/>
          </a:prstGeom>
          <a:noFill/>
        </p:spPr>
        <p:txBody>
          <a:bodyPr wrap="square">
            <a:spAutoFit/>
          </a:bodyPr>
          <a:lstStyle/>
          <a:p>
            <a:pPr>
              <a:defRPr sz="1300" i="1">
                <a:solidFill>
                  <a:srgbClr val="2F6F9F"/>
                </a:solidFill>
              </a:defRPr>
            </a:pPr>
            <a:r>
              <a:t>The pattern is the same across all six: a specification that reads correctly alone leaves a decision the code cannot avoid making.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spcAft>
                <a:spcPts val="200"/>
              </a:spcAft>
              <a:defRPr sz="1200" b="1">
                <a:solidFill>
                  <a:srgbClr val="8EB4D4"/>
                </a:solidFill>
              </a:defRPr>
            </a:pPr>
            <a:r>
              <a:t>PROCESS</a:t>
            </a:r>
          </a:p>
          <a:p>
            <a:pPr>
              <a:defRPr sz="3000" b="1">
                <a:solidFill>
                  <a:srgbClr val="FFFFFF"/>
                </a:solidFill>
              </a:defRPr>
            </a:pPr>
            <a:r>
              <a:t>Four Resolutions That Changed the Code's Shape</a:t>
            </a:r>
          </a:p>
        </p:txBody>
      </p:sp>
      <p:sp>
        <p:nvSpPr>
          <p:cNvPr id="5" name="TextBox 4"/>
          <p:cNvSpPr txBox="1"/>
          <p:nvPr/>
        </p:nvSpPr>
        <p:spPr>
          <a:xfrm>
            <a:off x="640080" y="1463040"/>
            <a:ext cx="10911535" cy="5029200"/>
          </a:xfrm>
          <a:prstGeom prst="rect">
            <a:avLst/>
          </a:prstGeom>
          <a:noFill/>
        </p:spPr>
        <p:txBody>
          <a:bodyPr wrap="square">
            <a:spAutoFit/>
          </a:bodyPr>
          <a:lstStyle/>
          <a:p>
            <a:pPr>
              <a:lnSpc>
                <a:spcPct val="108000"/>
              </a:lnSpc>
              <a:spcBef>
                <a:spcPts val="1000"/>
              </a:spcBef>
              <a:spcAft>
                <a:spcPts val="0"/>
              </a:spcAft>
            </a:pPr>
            <a:r>
              <a:rPr sz="1700">
                <a:solidFill>
                  <a:srgbClr val="202020"/>
                </a:solidFill>
              </a:rPr>
              <a:t>▪  Ten rules moved up. The Dirnav review's 13 items drew "It looks like all of these belong in the Project spec" - ten went there, each one that changes emitted output.</a:t>
            </a:r>
          </a:p>
          <a:p>
            <a:pPr lvl="1" marL="384048" indent="0">
              <a:lnSpc>
                <a:spcPct val="108000"/>
              </a:lnSpc>
              <a:spcBef>
                <a:spcPts val="300"/>
              </a:spcBef>
              <a:spcAft>
                <a:spcPts val="0"/>
              </a:spcAft>
            </a:pPr>
            <a:r>
              <a:rPr sz="1400">
                <a:solidFill>
                  <a:srgbClr val="55606B"/>
                </a:solidFill>
              </a:rPr>
              <a:t>–  The C++ specification kept only the bindings: which standard-library call produces that behavior, and which call looks right and is wrong.</a:t>
            </a:r>
          </a:p>
          <a:p>
            <a:pPr>
              <a:lnSpc>
                <a:spcPct val="108000"/>
              </a:lnSpc>
              <a:spcBef>
                <a:spcPts val="1000"/>
              </a:spcBef>
              <a:spcAft>
                <a:spcPts val="0"/>
              </a:spcAft>
            </a:pPr>
            <a:r>
              <a:rPr sz="1700">
                <a:solidFill>
                  <a:srgbClr val="202020"/>
                </a:solidFill>
              </a:rPr>
              <a:t>▪  A return type dissolved. search returned bool so Entry could report an unopenable root - but the same false came back for a root that was neither file nor directory.</a:t>
            </a:r>
          </a:p>
          <a:p>
            <a:pPr lvl="1" marL="384048" indent="0">
              <a:lnSpc>
                <a:spcPct val="108000"/>
              </a:lnSpc>
              <a:spcBef>
                <a:spcPts val="300"/>
              </a:spcBef>
              <a:spcAft>
                <a:spcPts val="0"/>
              </a:spcAft>
            </a:pPr>
            <a:r>
              <a:rPr sz="1400">
                <a:solidFill>
                  <a:srgbClr val="55606B"/>
                </a:solidFill>
              </a:rPr>
              <a:t>–  The fix was not a better return value. Once Dirnav announces root failures itself, the bool has no consumer and search returns void.</a:t>
            </a:r>
          </a:p>
          <a:p>
            <a:pPr>
              <a:lnSpc>
                <a:spcPct val="108000"/>
              </a:lnSpc>
              <a:spcBef>
                <a:spcPts val="1000"/>
              </a:spcBef>
              <a:spcAft>
                <a:spcPts val="0"/>
              </a:spcAft>
            </a:pPr>
            <a:r>
              <a:rPr sz="1700">
                <a:solidFill>
                  <a:srgbClr val="202020"/>
                </a:solidFill>
              </a:rPr>
              <a:t>▪  An ordering defect found by reading. Entry wrote the /v listing at step 3; Output did not configure stdout until step 4.</a:t>
            </a:r>
          </a:p>
          <a:p>
            <a:pPr lvl="1" marL="384048" indent="0">
              <a:lnSpc>
                <a:spcPct val="108000"/>
              </a:lnSpc>
              <a:spcBef>
                <a:spcPts val="300"/>
              </a:spcBef>
              <a:spcAft>
                <a:spcPts val="0"/>
              </a:spcAft>
            </a:pPr>
            <a:r>
              <a:rPr sz="1400">
                <a:solidFill>
                  <a:srgbClr val="55606B"/>
                </a:solidFill>
              </a:rPr>
              <a:t>–  On Windows that listing would carry CRLF and every line after it LF - one run, two terminators. The answer was "swap steps".</a:t>
            </a:r>
          </a:p>
          <a:p>
            <a:pPr>
              <a:lnSpc>
                <a:spcPct val="108000"/>
              </a:lnSpc>
              <a:spcBef>
                <a:spcPts val="1000"/>
              </a:spcBef>
              <a:spcAft>
                <a:spcPts val="0"/>
              </a:spcAft>
            </a:pPr>
            <a:r>
              <a:rPr sz="1700">
                <a:solidFill>
                  <a:srgbClr val="202020"/>
                </a:solidFill>
              </a:rPr>
              <a:t>▪  A specification that would not compile. Entry called Cpp_TextFinder_Cmdline::helpText() - but a module name is not a namespace, so those three calls named nothing.</a:t>
            </a:r>
          </a:p>
          <a:p>
            <a:pPr lvl="1" marL="384048" indent="0">
              <a:lnSpc>
                <a:spcPct val="108000"/>
              </a:lnSpc>
              <a:spcBef>
                <a:spcPts val="300"/>
              </a:spcBef>
              <a:spcAft>
                <a:spcPts val="0"/>
              </a:spcAft>
            </a:pPr>
            <a:r>
              <a:rPr sz="1400">
                <a:solidFill>
                  <a:srgbClr val="55606B"/>
                </a:solidFill>
              </a:rPr>
              <a:t>–  A specification detailed enough to be compiled in the reader's head is detailed enough to be wrong in ways a prose review can catch.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spcAft>
                <a:spcPts val="200"/>
              </a:spcAft>
              <a:defRPr sz="1200" b="1">
                <a:solidFill>
                  <a:srgbClr val="8EB4D4"/>
                </a:solidFill>
              </a:defRPr>
            </a:pPr>
            <a:r>
              <a:t>STRUCTURE</a:t>
            </a:r>
          </a:p>
          <a:p>
            <a:pPr>
              <a:defRPr sz="3000" b="1">
                <a:solidFill>
                  <a:srgbClr val="FFFFFF"/>
                </a:solidFill>
              </a:defRPr>
            </a:pPr>
            <a:r>
              <a:t>Three Libraries and One Binary</a:t>
            </a:r>
          </a:p>
        </p:txBody>
      </p:sp>
      <p:graphicFrame>
        <p:nvGraphicFramePr>
          <p:cNvPr id="5" name="Table 4"/>
          <p:cNvGraphicFramePr>
            <a:graphicFrameLocks noGrp="1"/>
          </p:cNvGraphicFramePr>
          <p:nvPr/>
        </p:nvGraphicFramePr>
        <p:xfrm>
          <a:off x="640080" y="1463040"/>
          <a:ext cx="10881360" cy="1600200"/>
        </p:xfrm>
        <a:graphic>
          <a:graphicData uri="http://schemas.openxmlformats.org/drawingml/2006/table">
            <a:tbl>
              <a:tblPr firstRow="1" bandRow="1">
                <a:tableStyleId>{5C22544A-7EE6-4342-B048-85BDC9FD1C3A}</a:tableStyleId>
              </a:tblPr>
              <a:tblGrid>
                <a:gridCol w="2834640"/>
                <a:gridCol w="1554480"/>
                <a:gridCol w="6492240"/>
              </a:tblGrid>
              <a:tr h="320040">
                <a:tc>
                  <a:txBody>
                    <a:bodyPr/>
                    <a:lstStyle/>
                    <a:p>
                      <a:pPr>
                        <a:defRPr sz="1300" b="1">
                          <a:solidFill>
                            <a:srgbClr val="FFFFFF"/>
                          </a:solidFill>
                        </a:defRPr>
                      </a:pPr>
                      <a:r>
                        <a:t>Component</a:t>
                      </a:r>
                    </a:p>
                  </a:txBody>
                  <a:tcPr marL="73152" marT="27432" marB="27432">
                    <a:solidFill>
                      <a:srgbClr val="1E2B3A"/>
                    </a:solidFill>
                  </a:tcPr>
                </a:tc>
                <a:tc>
                  <a:txBody>
                    <a:bodyPr/>
                    <a:lstStyle/>
                    <a:p>
                      <a:pPr>
                        <a:defRPr sz="1300" b="1">
                          <a:solidFill>
                            <a:srgbClr val="FFFFFF"/>
                          </a:solidFill>
                        </a:defRPr>
                      </a:pPr>
                      <a:r>
                        <a:t>Kind</a:t>
                      </a:r>
                    </a:p>
                  </a:txBody>
                  <a:tcPr marL="73152" marT="27432" marB="27432">
                    <a:solidFill>
                      <a:srgbClr val="1E2B3A"/>
                    </a:solidFill>
                  </a:tcPr>
                </a:tc>
                <a:tc>
                  <a:txBody>
                    <a:bodyPr/>
                    <a:lstStyle/>
                    <a:p>
                      <a:pPr>
                        <a:defRPr sz="1300" b="1">
                          <a:solidFill>
                            <a:srgbClr val="FFFFFF"/>
                          </a:solidFill>
                        </a:defRPr>
                      </a:pPr>
                      <a:r>
                        <a:t>Responsibility</a:t>
                      </a:r>
                    </a:p>
                  </a:txBody>
                  <a:tcPr marL="73152" marT="27432" marB="27432">
                    <a:solidFill>
                      <a:srgbClr val="1E2B3A"/>
                    </a:solidFill>
                  </a:tcPr>
                </a:tc>
              </a:tr>
              <a:tr h="320040">
                <a:tc>
                  <a:txBody>
                    <a:bodyPr/>
                    <a:lstStyle/>
                    <a:p>
                      <a:pPr>
                        <a:defRPr sz="1300" b="0">
                          <a:solidFill>
                            <a:srgbClr val="202020"/>
                          </a:solidFill>
                        </a:defRPr>
                      </a:pPr>
                      <a:r>
                        <a:t>Cpp_TextFinder_Cmdline</a:t>
                      </a:r>
                    </a:p>
                  </a:txBody>
                  <a:tcPr marL="73152" marT="27432" marB="27432">
                    <a:solidFill>
                      <a:srgbClr val="F2F4F6"/>
                    </a:solidFill>
                  </a:tcPr>
                </a:tc>
                <a:tc>
                  <a:txBody>
                    <a:bodyPr/>
                    <a:lstStyle/>
                    <a:p>
                      <a:pPr>
                        <a:defRPr sz="1300" b="0">
                          <a:solidFill>
                            <a:srgbClr val="202020"/>
                          </a:solidFill>
                        </a:defRPr>
                      </a:pPr>
                      <a:r>
                        <a:t>module</a:t>
                      </a:r>
                    </a:p>
                  </a:txBody>
                  <a:tcPr marL="73152" marT="27432" marB="27432">
                    <a:solidFill>
                      <a:srgbClr val="F2F4F6"/>
                    </a:solidFill>
                  </a:tcPr>
                </a:tc>
                <a:tc>
                  <a:txBody>
                    <a:bodyPr/>
                    <a:lstStyle/>
                    <a:p>
                      <a:pPr>
                        <a:defRPr sz="1300" b="0">
                          <a:solidFill>
                            <a:srgbClr val="202020"/>
                          </a:solidFill>
                        </a:defRPr>
                      </a:pPr>
                      <a:r>
                        <a:t>Parses argc/argv into ProgramCommands. Opens no stream, touches no filesystem</a:t>
                      </a:r>
                    </a:p>
                  </a:txBody>
                  <a:tcPr marL="73152" marT="27432" marB="27432">
                    <a:solidFill>
                      <a:srgbClr val="F2F4F6"/>
                    </a:solidFill>
                  </a:tcPr>
                </a:tc>
              </a:tr>
              <a:tr h="320040">
                <a:tc>
                  <a:txBody>
                    <a:bodyPr/>
                    <a:lstStyle/>
                    <a:p>
                      <a:pPr>
                        <a:defRPr sz="1300" b="0">
                          <a:solidFill>
                            <a:srgbClr val="202020"/>
                          </a:solidFill>
                        </a:defRPr>
                      </a:pPr>
                      <a:r>
                        <a:t>Cpp_TextFinder_Dirnav</a:t>
                      </a:r>
                    </a:p>
                  </a:txBody>
                  <a:tcPr marL="73152" marT="27432" marB="27432">
                    <a:solidFill>
                      <a:srgbClr val="FFFFFF"/>
                    </a:solidFill>
                  </a:tcPr>
                </a:tc>
                <a:tc>
                  <a:txBody>
                    <a:bodyPr/>
                    <a:lstStyle/>
                    <a:p>
                      <a:pPr>
                        <a:defRPr sz="1300" b="0">
                          <a:solidFill>
                            <a:srgbClr val="202020"/>
                          </a:solidFill>
                        </a:defRPr>
                      </a:pPr>
                      <a:r>
                        <a:t>module</a:t>
                      </a:r>
                    </a:p>
                  </a:txBody>
                  <a:tcPr marL="73152" marT="27432" marB="27432">
                    <a:solidFill>
                      <a:srgbClr val="FFFFFF"/>
                    </a:solidFill>
                  </a:tcPr>
                </a:tc>
                <a:tc>
                  <a:txBody>
                    <a:bodyPr/>
                    <a:lstStyle/>
                    <a:p>
                      <a:pPr>
                        <a:defRPr sz="1300" b="0">
                          <a:solidFill>
                            <a:srgbClr val="202020"/>
                          </a:solidFill>
                        </a:defRPr>
                      </a:pPr>
                      <a:r>
                        <a:t>Walks, reads, matches, formats. The only component that touches file contents</a:t>
                      </a:r>
                    </a:p>
                  </a:txBody>
                  <a:tcPr marL="73152" marT="27432" marB="27432">
                    <a:solidFill>
                      <a:srgbClr val="FFFFFF"/>
                    </a:solidFill>
                  </a:tcPr>
                </a:tc>
              </a:tr>
              <a:tr h="320040">
                <a:tc>
                  <a:txBody>
                    <a:bodyPr/>
                    <a:lstStyle/>
                    <a:p>
                      <a:pPr>
                        <a:defRPr sz="1300" b="0">
                          <a:solidFill>
                            <a:srgbClr val="202020"/>
                          </a:solidFill>
                        </a:defRPr>
                      </a:pPr>
                      <a:r>
                        <a:t>Cpp_TextFinder_Output</a:t>
                      </a:r>
                    </a:p>
                  </a:txBody>
                  <a:tcPr marL="73152" marT="27432" marB="27432">
                    <a:solidFill>
                      <a:srgbClr val="F2F4F6"/>
                    </a:solidFill>
                  </a:tcPr>
                </a:tc>
                <a:tc>
                  <a:txBody>
                    <a:bodyPr/>
                    <a:lstStyle/>
                    <a:p>
                      <a:pPr>
                        <a:defRPr sz="1300" b="0">
                          <a:solidFill>
                            <a:srgbClr val="202020"/>
                          </a:solidFill>
                        </a:defRPr>
                      </a:pPr>
                      <a:r>
                        <a:t>module</a:t>
                      </a:r>
                    </a:p>
                  </a:txBody>
                  <a:tcPr marL="73152" marT="27432" marB="27432">
                    <a:solidFill>
                      <a:srgbClr val="F2F4F6"/>
                    </a:solidFill>
                  </a:tcPr>
                </a:tc>
                <a:tc>
                  <a:txBody>
                    <a:bodyPr/>
                    <a:lstStyle/>
                    <a:p>
                      <a:pPr>
                        <a:defRPr sz="1300" b="0">
                          <a:solidFill>
                            <a:srgbClr val="202020"/>
                          </a:solidFill>
                        </a:defRPr>
                      </a:pPr>
                      <a:r>
                        <a:t>Writes each string to stdout as one line. Absorbs every write failure</a:t>
                      </a:r>
                    </a:p>
                  </a:txBody>
                  <a:tcPr marL="73152" marT="27432" marB="27432">
                    <a:solidFill>
                      <a:srgbClr val="F2F4F6"/>
                    </a:solidFill>
                  </a:tcPr>
                </a:tc>
              </a:tr>
              <a:tr h="320040">
                <a:tc>
                  <a:txBody>
                    <a:bodyPr/>
                    <a:lstStyle/>
                    <a:p>
                      <a:pPr>
                        <a:defRPr sz="1300" b="0">
                          <a:solidFill>
                            <a:srgbClr val="202020"/>
                          </a:solidFill>
                        </a:defRPr>
                      </a:pPr>
                      <a:r>
                        <a:t>Cpp_TextFinder_Entry</a:t>
                      </a:r>
                    </a:p>
                  </a:txBody>
                  <a:tcPr marL="73152" marT="27432" marB="27432">
                    <a:solidFill>
                      <a:srgbClr val="FFFFFF"/>
                    </a:solidFill>
                  </a:tcPr>
                </a:tc>
                <a:tc>
                  <a:txBody>
                    <a:bodyPr/>
                    <a:lstStyle/>
                    <a:p>
                      <a:pPr>
                        <a:defRPr sz="1300" b="0">
                          <a:solidFill>
                            <a:srgbClr val="202020"/>
                          </a:solidFill>
                        </a:defRPr>
                      </a:pPr>
                      <a:r>
                        <a:t>translation unit</a:t>
                      </a:r>
                    </a:p>
                  </a:txBody>
                  <a:tcPr marL="73152" marT="27432" marB="27432">
                    <a:solidFill>
                      <a:srgbClr val="FFFFFF"/>
                    </a:solidFill>
                  </a:tcPr>
                </a:tc>
                <a:tc>
                  <a:txBody>
                    <a:bodyPr/>
                    <a:lstStyle/>
                    <a:p>
                      <a:pPr>
                        <a:defRPr sz="1300" b="0">
                          <a:solidFill>
                            <a:srgbClr val="202020"/>
                          </a:solidFill>
                        </a:defRPr>
                      </a:pPr>
                      <a:r>
                        <a:t>Produces the executable. Owns the skip list and wires the three together</a:t>
                      </a:r>
                    </a:p>
                  </a:txBody>
                  <a:tcPr marL="73152" marT="27432" marB="27432">
                    <a:solidFill>
                      <a:srgbClr val="FFFFFF"/>
                    </a:solidFill>
                  </a:tcPr>
                </a:tc>
              </a:tr>
            </a:tbl>
          </a:graphicData>
        </a:graphic>
      </p:graphicFrame>
      <p:sp>
        <p:nvSpPr>
          <p:cNvPr id="6" name="Rectangle 5"/>
          <p:cNvSpPr/>
          <p:nvPr/>
        </p:nvSpPr>
        <p:spPr>
          <a:xfrm>
            <a:off x="640080" y="3200400"/>
            <a:ext cx="5760720" cy="192024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310128"/>
            <a:ext cx="5394960" cy="1700784"/>
          </a:xfrm>
          <a:prstGeom prst="rect">
            <a:avLst/>
          </a:prstGeom>
          <a:noFill/>
        </p:spPr>
        <p:txBody>
          <a:bodyPr wrap="square">
            <a:spAutoFit/>
          </a:bodyPr>
          <a:lstStyle/>
          <a:p>
            <a:pPr>
              <a:spcAft>
                <a:spcPts val="0"/>
              </a:spcAft>
              <a:defRPr sz="1200">
                <a:solidFill>
                  <a:srgbClr val="D8E2EC"/>
                </a:solidFill>
                <a:latin typeface="Consolas"/>
              </a:defRPr>
            </a:pPr>
            <a:r>
              <a:t>Cpp_TextFinder_Cmdline</a:t>
            </a:r>
          </a:p>
          <a:p>
            <a:pPr>
              <a:spcAft>
                <a:spcPts val="0"/>
              </a:spcAft>
              <a:defRPr sz="1200">
                <a:solidFill>
                  <a:srgbClr val="D8E2EC"/>
                </a:solidFill>
                <a:latin typeface="Consolas"/>
              </a:defRPr>
            </a:pPr>
            <a:r>
              <a:t>        ^  import (ProgramCommands)</a:t>
            </a:r>
          </a:p>
          <a:p>
            <a:pPr>
              <a:spcAft>
                <a:spcPts val="0"/>
              </a:spcAft>
              <a:defRPr sz="1200">
                <a:solidFill>
                  <a:srgbClr val="D8E2EC"/>
                </a:solidFill>
                <a:latin typeface="Consolas"/>
              </a:defRPr>
            </a:pPr>
            <a:r>
              <a:t>Cpp_TextFinder_Dirnav</a:t>
            </a:r>
          </a:p>
          <a:p>
            <a:pPr>
              <a:spcAft>
                <a:spcPts val="0"/>
              </a:spcAft>
              <a:defRPr sz="1200">
                <a:solidFill>
                  <a:srgbClr val="D8E2EC"/>
                </a:solidFill>
                <a:latin typeface="Consolas"/>
              </a:defRPr>
            </a:pPr>
            <a:r>
              <a:t>        ^  import (Output base class)</a:t>
            </a:r>
          </a:p>
          <a:p>
            <a:pPr>
              <a:spcAft>
                <a:spcPts val="0"/>
              </a:spcAft>
              <a:defRPr sz="1200">
                <a:solidFill>
                  <a:srgbClr val="D8E2EC"/>
                </a:solidFill>
                <a:latin typeface="Consolas"/>
              </a:defRPr>
            </a:pPr>
            <a:r>
              <a:t>Cpp_TextFinder_Output</a:t>
            </a:r>
          </a:p>
          <a:p>
            <a:pPr>
              <a:spcAft>
                <a:spcPts val="0"/>
              </a:spcAft>
              <a:defRPr sz="1200">
                <a:solidFill>
                  <a:srgbClr val="D8E2EC"/>
                </a:solidFill>
                <a:latin typeface="Consolas"/>
              </a:defRPr>
            </a:pPr>
            <a:r>
              <a:t>        ^  import (all three)</a:t>
            </a:r>
          </a:p>
          <a:p>
            <a:pPr>
              <a:spcAft>
                <a:spcPts val="0"/>
              </a:spcAft>
              <a:defRPr sz="1200">
                <a:solidFill>
                  <a:srgbClr val="D8E2EC"/>
                </a:solidFill>
                <a:latin typeface="Consolas"/>
              </a:defRPr>
            </a:pPr>
            <a:r>
              <a:t>Cpp_TextFinder_Entry  ---&gt;  Cpp_TextFinder.exe</a:t>
            </a:r>
          </a:p>
        </p:txBody>
      </p:sp>
      <p:sp>
        <p:nvSpPr>
          <p:cNvPr id="8" name="TextBox 7"/>
          <p:cNvSpPr txBox="1"/>
          <p:nvPr/>
        </p:nvSpPr>
        <p:spPr>
          <a:xfrm>
            <a:off x="6675120" y="3154680"/>
            <a:ext cx="4846320" cy="3337560"/>
          </a:xfrm>
          <a:prstGeom prst="rect">
            <a:avLst/>
          </a:prstGeom>
          <a:noFill/>
        </p:spPr>
        <p:txBody>
          <a:bodyPr wrap="square">
            <a:spAutoFit/>
          </a:bodyPr>
          <a:lstStyle/>
          <a:p>
            <a:pPr lvl="1" marL="384048" indent="0">
              <a:lnSpc>
                <a:spcPct val="108000"/>
              </a:lnSpc>
              <a:spcBef>
                <a:spcPts val="300"/>
              </a:spcBef>
              <a:spcAft>
                <a:spcPts val="0"/>
              </a:spcAft>
            </a:pPr>
            <a:r>
              <a:rPr sz="1400">
                <a:solidFill>
                  <a:srgbClr val="55606B"/>
                </a:solidFill>
              </a:rPr>
              <a:t>–  The libraries form a chain rather than a star.</a:t>
            </a:r>
          </a:p>
          <a:p>
            <a:pPr lvl="1" marL="384048" indent="0">
              <a:lnSpc>
                <a:spcPct val="108000"/>
              </a:lnSpc>
              <a:spcBef>
                <a:spcPts val="300"/>
              </a:spcBef>
              <a:spcAft>
                <a:spcPts val="0"/>
              </a:spcAft>
            </a:pPr>
            <a:r>
              <a:rPr sz="1400">
                <a:solidFill>
                  <a:srgbClr val="55606B"/>
                </a:solidFill>
              </a:rPr>
              <a:t>–  The direction is what keeps Dirnav testable without a real sink - its unit suite supplies its own Recorder : public Output.</a:t>
            </a:r>
          </a:p>
          <a:p>
            <a:pPr lvl="1" marL="384048" indent="0">
              <a:lnSpc>
                <a:spcPct val="108000"/>
              </a:lnSpc>
              <a:spcBef>
                <a:spcPts val="300"/>
              </a:spcBef>
              <a:spcAft>
                <a:spcPts val="0"/>
              </a:spcAft>
            </a:pPr>
            <a:r>
              <a:rPr sz="1400">
                <a:solidFill>
                  <a:srgbClr val="55606B"/>
                </a:solidFill>
              </a:rPr>
              <a:t>–  The chain was not recorded at first. The structure document named the parts and stated no inter-library dependencies, and the cross-document review listed that.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spcAft>
                <a:spcPts val="200"/>
              </a:spcAft>
              <a:defRPr sz="1200" b="1">
                <a:solidFill>
                  <a:srgbClr val="8EB4D4"/>
                </a:solidFill>
              </a:defRPr>
            </a:pPr>
            <a:r>
              <a:t>STRUCTURE</a:t>
            </a:r>
          </a:p>
          <a:p>
            <a:pPr>
              <a:defRPr sz="3000" b="1">
                <a:solidFill>
                  <a:srgbClr val="FFFFFF"/>
                </a:solidFill>
              </a:defRPr>
            </a:pPr>
            <a:r>
              <a:t>The One Declared Interface</a:t>
            </a:r>
          </a:p>
        </p:txBody>
      </p:sp>
      <p:sp>
        <p:nvSpPr>
          <p:cNvPr id="5" name="TextBox 4"/>
          <p:cNvSpPr txBox="1"/>
          <p:nvPr/>
        </p:nvSpPr>
        <p:spPr>
          <a:xfrm>
            <a:off x="640080" y="1417320"/>
            <a:ext cx="10911535" cy="5074920"/>
          </a:xfrm>
          <a:prstGeom prst="rect">
            <a:avLst/>
          </a:prstGeom>
          <a:noFill/>
        </p:spPr>
        <p:txBody>
          <a:bodyPr wrap="square">
            <a:spAutoFit/>
          </a:bodyPr>
          <a:lstStyle/>
          <a:p>
            <a:pPr>
              <a:lnSpc>
                <a:spcPct val="108000"/>
              </a:lnSpc>
              <a:spcBef>
                <a:spcPts val="1000"/>
              </a:spcBef>
              <a:spcAft>
                <a:spcPts val="0"/>
              </a:spcAft>
            </a:pPr>
            <a:r>
              <a:rPr sz="1800">
                <a:solidFill>
                  <a:srgbClr val="202020"/>
                </a:solidFill>
              </a:rPr>
              <a:t>▪  The structure document declares one interface, and it is the seam between traversal and the sink. That declaration is why a *Structure.md binds code at all.</a:t>
            </a:r>
          </a:p>
        </p:txBody>
      </p:sp>
      <p:sp>
        <p:nvSpPr>
          <p:cNvPr id="6" name="Rectangle 5"/>
          <p:cNvSpPr/>
          <p:nvPr/>
        </p:nvSpPr>
        <p:spPr>
          <a:xfrm>
            <a:off x="868680" y="2194560"/>
            <a:ext cx="6766560" cy="146304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304288"/>
            <a:ext cx="6400800" cy="1243584"/>
          </a:xfrm>
          <a:prstGeom prst="rect">
            <a:avLst/>
          </a:prstGeom>
          <a:noFill/>
        </p:spPr>
        <p:txBody>
          <a:bodyPr wrap="square">
            <a:spAutoFit/>
          </a:bodyPr>
          <a:lstStyle/>
          <a:p>
            <a:pPr>
              <a:spcAft>
                <a:spcPts val="0"/>
              </a:spcAft>
              <a:defRPr sz="1400">
                <a:solidFill>
                  <a:srgbClr val="D8E2EC"/>
                </a:solidFill>
                <a:latin typeface="Consolas"/>
              </a:defRPr>
            </a:pPr>
            <a:r>
              <a:t>class Output {</a:t>
            </a:r>
          </a:p>
          <a:p>
            <a:pPr>
              <a:spcAft>
                <a:spcPts val="0"/>
              </a:spcAft>
              <a:defRPr sz="1400">
                <a:solidFill>
                  <a:srgbClr val="D8E2EC"/>
                </a:solidFill>
                <a:latin typeface="Consolas"/>
              </a:defRPr>
            </a:pPr>
            <a:r>
              <a:t>public:</a:t>
            </a:r>
          </a:p>
          <a:p>
            <a:pPr>
              <a:spcAft>
                <a:spcPts val="0"/>
              </a:spcAft>
              <a:defRPr sz="1400">
                <a:solidFill>
                  <a:srgbClr val="D8E2EC"/>
                </a:solidFill>
                <a:latin typeface="Consolas"/>
              </a:defRPr>
            </a:pPr>
            <a:r>
              <a:t>    virtual ~Output() = default;</a:t>
            </a:r>
          </a:p>
          <a:p>
            <a:pPr>
              <a:spcAft>
                <a:spcPts val="0"/>
              </a:spcAft>
              <a:defRPr sz="1400">
                <a:solidFill>
                  <a:srgbClr val="D8E2EC"/>
                </a:solidFill>
                <a:latin typeface="Consolas"/>
              </a:defRPr>
            </a:pPr>
            <a:r>
              <a:t>    virtual void output(const std::string&amp; text) = 0;</a:t>
            </a:r>
          </a:p>
          <a:p>
            <a:pPr>
              <a:spcAft>
                <a:spcPts val="0"/>
              </a:spcAft>
              <a:defRPr sz="1400">
                <a:solidFill>
                  <a:srgbClr val="D8E2EC"/>
                </a:solidFill>
                <a:latin typeface="Consolas"/>
              </a:defRPr>
            </a:pPr>
            <a:r>
              <a:t>};</a:t>
            </a:r>
          </a:p>
        </p:txBody>
      </p:sp>
      <p:sp>
        <p:nvSpPr>
          <p:cNvPr id="8" name="TextBox 7"/>
          <p:cNvSpPr txBox="1"/>
          <p:nvPr/>
        </p:nvSpPr>
        <p:spPr>
          <a:xfrm>
            <a:off x="640080" y="3886200"/>
            <a:ext cx="10911535" cy="2606040"/>
          </a:xfrm>
          <a:prstGeom prst="rect">
            <a:avLst/>
          </a:prstGeom>
          <a:noFill/>
        </p:spPr>
        <p:txBody>
          <a:bodyPr wrap="square">
            <a:spAutoFit/>
          </a:bodyPr>
          <a:lstStyle/>
          <a:p>
            <a:pPr>
              <a:lnSpc>
                <a:spcPct val="108000"/>
              </a:lnSpc>
              <a:spcBef>
                <a:spcPts val="1000"/>
              </a:spcBef>
              <a:spcAft>
                <a:spcPts val="0"/>
              </a:spcAft>
            </a:pPr>
            <a:r>
              <a:rPr sz="1700">
                <a:solidFill>
                  <a:srgbClr val="202020"/>
                </a:solidFill>
              </a:rPr>
              <a:t>▪  Both mechanisms are present at once: the concept constraint std::derived_from&lt;Out, Output&gt; makes the base class the requirement, and the template parameter makes the call direct.</a:t>
            </a:r>
          </a:p>
          <a:p>
            <a:pPr>
              <a:lnSpc>
                <a:spcPct val="108000"/>
              </a:lnSpc>
              <a:spcBef>
                <a:spcPts val="1000"/>
              </a:spcBef>
              <a:spcAft>
                <a:spcPts val="0"/>
              </a:spcAft>
            </a:pPr>
            <a:r>
              <a:rPr sz="1700">
                <a:solidFill>
                  <a:srgbClr val="202020"/>
                </a:solidFill>
              </a:rPr>
              <a:t>▪  Five review items shaped that declaration.</a:t>
            </a:r>
          </a:p>
          <a:p>
            <a:pPr lvl="1" marL="384048" indent="0">
              <a:lnSpc>
                <a:spcPct val="108000"/>
              </a:lnSpc>
              <a:spcBef>
                <a:spcPts val="300"/>
              </a:spcBef>
              <a:spcAft>
                <a:spcPts val="0"/>
              </a:spcAft>
            </a:pPr>
            <a:r>
              <a:rPr sz="1400">
                <a:solidFill>
                  <a:srgbClr val="55606B"/>
                </a:solidFill>
              </a:rPr>
              <a:t>–  std::String&amp; in the first draft - a capital S the reply flagged and preserved verbatim, since a specification is not the place to silently correct the author.</a:t>
            </a:r>
          </a:p>
          <a:p>
            <a:pPr lvl="1" marL="384048" indent="0">
              <a:lnSpc>
                <a:spcPct val="108000"/>
              </a:lnSpc>
              <a:spcBef>
                <a:spcPts val="300"/>
              </a:spcBef>
              <a:spcAft>
                <a:spcPts val="0"/>
              </a:spcAft>
            </a:pPr>
            <a:r>
              <a:rPr sz="1400">
                <a:solidFill>
                  <a:srgbClr val="55606B"/>
                </a:solidFill>
              </a:rPr>
              <a:t>–  "Abstract type" became an abstract base class rather than a concept or a type-erased wrapper, by decision.</a:t>
            </a:r>
          </a:p>
          <a:p>
            <a:pPr lvl="1" marL="384048" indent="0">
              <a:lnSpc>
                <a:spcPct val="108000"/>
              </a:lnSpc>
              <a:spcBef>
                <a:spcPts val="300"/>
              </a:spcBef>
              <a:spcAft>
                <a:spcPts val="0"/>
              </a:spcAft>
            </a:pPr>
            <a:r>
              <a:rPr sz="1400">
                <a:solidFill>
                  <a:srgbClr val="55606B"/>
                </a:solidFill>
              </a:rPr>
              <a:t>–  The parameter was match_str until the Output spec pointed out that announcements flow through the same function. It is text now.</a:t>
            </a:r>
          </a:p>
          <a:p>
            <a:pPr>
              <a:lnSpc>
                <a:spcPct val="108000"/>
              </a:lnSpc>
              <a:spcBef>
                <a:spcPts val="1000"/>
              </a:spcBef>
              <a:spcAft>
                <a:spcPts val="0"/>
              </a:spcAft>
            </a:pPr>
            <a:r>
              <a:rPr sz="1700">
                <a:solidFill>
                  <a:srgbClr val="202020"/>
                </a:solidFill>
              </a:rPr>
              <a:t>▪  The rejected alternative - a type-erased wrapper - is recorded as viable and not adopted. A structure document that records the road not taken tells the next reader that the choice was a choice.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spcAft>
                <a:spcPts val="200"/>
              </a:spcAft>
              <a:defRPr sz="1200" b="1">
                <a:solidFill>
                  <a:srgbClr val="8EB4D4"/>
                </a:solidFill>
              </a:defRPr>
            </a:pPr>
            <a:r>
              <a:t>STRUCTURE</a:t>
            </a:r>
          </a:p>
          <a:p>
            <a:pPr>
              <a:defRPr sz="3000" b="1">
                <a:solidFill>
                  <a:srgbClr val="FFFFFF"/>
                </a:solidFill>
              </a:defRPr>
            </a:pPr>
            <a:r>
              <a:t>Modules, and the Build</a:t>
            </a:r>
          </a:p>
        </p:txBody>
      </p:sp>
      <p:sp>
        <p:nvSpPr>
          <p:cNvPr id="5" name="TextBox 4"/>
          <p:cNvSpPr txBox="1"/>
          <p:nvPr/>
        </p:nvSpPr>
        <p:spPr>
          <a:xfrm>
            <a:off x="640080" y="1417320"/>
            <a:ext cx="10911535" cy="5074920"/>
          </a:xfrm>
          <a:prstGeom prst="rect">
            <a:avLst/>
          </a:prstGeom>
          <a:noFill/>
        </p:spPr>
        <p:txBody>
          <a:bodyPr wrap="square">
            <a:spAutoFit/>
          </a:bodyPr>
          <a:lstStyle/>
          <a:p>
            <a:pPr>
              <a:lnSpc>
                <a:spcPct val="108000"/>
              </a:lnSpc>
              <a:spcBef>
                <a:spcPts val="1000"/>
              </a:spcBef>
              <a:spcAft>
                <a:spcPts val="0"/>
              </a:spcAft>
            </a:pPr>
            <a:r>
              <a:rPr sz="1800">
                <a:solidFill>
                  <a:srgbClr val="202020"/>
                </a:solidFill>
              </a:rPr>
              <a:t>▪  C++23 modules throughout, with import std; in every component including the binary. The Entry binary stays a conventional translation unit - it exports nothing.</a:t>
            </a:r>
          </a:p>
          <a:p>
            <a:pPr>
              <a:lnSpc>
                <a:spcPct val="108000"/>
              </a:lnSpc>
              <a:spcBef>
                <a:spcPts val="1000"/>
              </a:spcBef>
              <a:spcAft>
                <a:spcPts val="0"/>
              </a:spcAft>
            </a:pPr>
            <a:r>
              <a:rPr sz="1800">
                <a:solidFill>
                  <a:srgbClr val="202020"/>
                </a:solidFill>
              </a:rPr>
              <a:t>▪  The structure document holds the language level and the toolchain floors once. Each component's Build section reads "Per Cpp_TextFinder_Structure.md" and names only its own target.</a:t>
            </a:r>
          </a:p>
          <a:p>
            <a:pPr lvl="1" marL="384048" indent="0">
              <a:lnSpc>
                <a:spcPct val="108000"/>
              </a:lnSpc>
              <a:spcBef>
                <a:spcPts val="300"/>
              </a:spcBef>
              <a:spcAft>
                <a:spcPts val="0"/>
              </a:spcAft>
            </a:pPr>
            <a:r>
              <a:rPr sz="1500">
                <a:solidFill>
                  <a:srgbClr val="55606B"/>
                </a:solidFill>
              </a:rPr>
              <a:t>–  A trimming pass found the floors verbatim in three component specifications, making any change a four-place edit.</a:t>
            </a:r>
          </a:p>
          <a:p>
            <a:pPr>
              <a:lnSpc>
                <a:spcPct val="108000"/>
              </a:lnSpc>
              <a:spcBef>
                <a:spcPts val="1000"/>
              </a:spcBef>
              <a:spcAft>
                <a:spcPts val="0"/>
              </a:spcAft>
            </a:pPr>
            <a:r>
              <a:rPr sz="1800">
                <a:solidFill>
                  <a:srgbClr val="202020"/>
                </a:solidFill>
              </a:rPr>
              <a:t>▪  Floors: GCC 14+, Clang 17+, or MSVC 19.36+, with CMake 3.28+. The checked-in build used CMake 4.0.2, MSVC 19.50.35717, and Ninja.</a:t>
            </a:r>
          </a:p>
        </p:txBody>
      </p:sp>
      <p:sp>
        <p:nvSpPr>
          <p:cNvPr id="6" name="Rectangle 5"/>
          <p:cNvSpPr/>
          <p:nvPr/>
        </p:nvSpPr>
        <p:spPr>
          <a:xfrm>
            <a:off x="868680" y="3931920"/>
            <a:ext cx="8778240" cy="105156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041648"/>
            <a:ext cx="8412480" cy="832104"/>
          </a:xfrm>
          <a:prstGeom prst="rect">
            <a:avLst/>
          </a:prstGeom>
          <a:noFill/>
        </p:spPr>
        <p:txBody>
          <a:bodyPr wrap="square">
            <a:spAutoFit/>
          </a:bodyPr>
          <a:lstStyle/>
          <a:p>
            <a:pPr>
              <a:spcAft>
                <a:spcPts val="0"/>
              </a:spcAft>
              <a:defRPr sz="1300">
                <a:solidFill>
                  <a:srgbClr val="D8E2EC"/>
                </a:solidFill>
                <a:latin typeface="Consolas"/>
              </a:defRPr>
            </a:pPr>
            <a:r>
              <a:t>cmake -S . -B build -G Ninja -DCMAKE_BUILD_TYPE=Release</a:t>
            </a:r>
          </a:p>
          <a:p>
            <a:pPr>
              <a:spcAft>
                <a:spcPts val="0"/>
              </a:spcAft>
              <a:defRPr sz="1300">
                <a:solidFill>
                  <a:srgbClr val="D8E2EC"/>
                </a:solidFill>
                <a:latin typeface="Consolas"/>
              </a:defRPr>
            </a:pPr>
            <a:r>
              <a:t>cmake --build build</a:t>
            </a:r>
          </a:p>
          <a:p>
            <a:pPr>
              <a:spcAft>
                <a:spcPts val="0"/>
              </a:spcAft>
              <a:defRPr sz="1300">
                <a:solidFill>
                  <a:srgbClr val="D8E2EC"/>
                </a:solidFill>
                <a:latin typeface="Consolas"/>
              </a:defRPr>
            </a:pPr>
            <a:r>
              <a:t>build\Cpp_Spec_driven_TextFinder_Entry\Cpp_TextFinder.exe -H true</a:t>
            </a:r>
          </a:p>
        </p:txBody>
      </p:sp>
      <p:sp>
        <p:nvSpPr>
          <p:cNvPr id="8" name="TextBox 7"/>
          <p:cNvSpPr txBox="1"/>
          <p:nvPr/>
        </p:nvSpPr>
        <p:spPr>
          <a:xfrm>
            <a:off x="640080" y="5166360"/>
            <a:ext cx="10911535" cy="1325880"/>
          </a:xfrm>
          <a:prstGeom prst="rect">
            <a:avLst/>
          </a:prstGeom>
          <a:noFill/>
        </p:spPr>
        <p:txBody>
          <a:bodyPr wrap="square">
            <a:spAutoFit/>
          </a:bodyPr>
          <a:lstStyle/>
          <a:p>
            <a:pPr>
              <a:lnSpc>
                <a:spcPct val="108000"/>
              </a:lnSpc>
              <a:spcBef>
                <a:spcPts val="1000"/>
              </a:spcBef>
              <a:spcAft>
                <a:spcPts val="0"/>
              </a:spcAft>
            </a:pPr>
            <a:r>
              <a:rPr sz="1700">
                <a:solidFill>
                  <a:srgbClr val="202020"/>
                </a:solidFill>
              </a:rPr>
              <a:t>▪  The fragile line is the import std opt-in, and the source says so. CMake gates it behind a version-specific UUID it neither prints nor documents.</a:t>
            </a:r>
          </a:p>
          <a:p>
            <a:pPr lvl="1" marL="384048" indent="0">
              <a:lnSpc>
                <a:spcPct val="108000"/>
              </a:lnSpc>
              <a:spcBef>
                <a:spcPts val="300"/>
              </a:spcBef>
              <a:spcAft>
                <a:spcPts val="0"/>
              </a:spcAft>
            </a:pPr>
            <a:r>
              <a:rPr sz="1400">
                <a:solidFill>
                  <a:srgbClr val="55606B"/>
                </a:solidFill>
              </a:rPr>
              <a:t>–  The GUID-shaped strings were extracted from cmake.exe; a9e1cf81-9932-4810-974b-6eccaf14e457 was the one the configure step accepted.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743200"/>
            <a:ext cx="109728" cy="1371600"/>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2651760"/>
            <a:ext cx="9814255" cy="1828800"/>
          </a:xfrm>
          <a:prstGeom prst="rect">
            <a:avLst/>
          </a:prstGeom>
          <a:noFill/>
        </p:spPr>
        <p:txBody>
          <a:bodyPr wrap="square">
            <a:spAutoFit/>
          </a:bodyPr>
          <a:lstStyle/>
          <a:p>
            <a:pPr>
              <a:defRPr sz="1400" b="1">
                <a:solidFill>
                  <a:srgbClr val="8EB4D4"/>
                </a:solidFill>
              </a:defRPr>
            </a:pPr>
            <a:r>
              <a:t>Part II</a:t>
            </a:r>
          </a:p>
          <a:p>
            <a:pPr>
              <a:defRPr sz="4000" b="1">
                <a:solidFill>
                  <a:srgbClr val="FFFFFF"/>
                </a:solidFill>
              </a:defRPr>
            </a:pPr>
            <a:r>
              <a:t>The Code</a:t>
            </a:r>
          </a:p>
          <a:p>
            <a:pPr>
              <a:spcBef>
                <a:spcPts val="1000"/>
              </a:spcBef>
              <a:defRPr sz="1700">
                <a:solidFill>
                  <a:srgbClr val="A9B8C6"/>
                </a:solidFill>
              </a:defRPr>
            </a:pPr>
            <a:r>
              <a:t>Four components, and the decisions each one carries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spcAft>
                <a:spcPts val="200"/>
              </a:spcAft>
              <a:defRPr sz="1200" b="1">
                <a:solidFill>
                  <a:srgbClr val="8EB4D4"/>
                </a:solidFill>
              </a:defRPr>
            </a:pPr>
            <a:r>
              <a:t>ENTRY</a:t>
            </a:r>
          </a:p>
          <a:p>
            <a:pPr>
              <a:defRPr sz="3000" b="1">
                <a:solidFill>
                  <a:srgbClr val="FFFFFF"/>
                </a:solidFill>
              </a:defRPr>
            </a:pPr>
            <a:r>
              <a:t>Entry: What the Binary Owns</a:t>
            </a:r>
          </a:p>
        </p:txBody>
      </p:sp>
      <p:sp>
        <p:nvSpPr>
          <p:cNvPr id="5" name="TextBox 4"/>
          <p:cNvSpPr txBox="1"/>
          <p:nvPr/>
        </p:nvSpPr>
        <p:spPr>
          <a:xfrm>
            <a:off x="640080" y="1463040"/>
            <a:ext cx="10911535" cy="5029200"/>
          </a:xfrm>
          <a:prstGeom prst="rect">
            <a:avLst/>
          </a:prstGeom>
          <a:noFill/>
        </p:spPr>
        <p:txBody>
          <a:bodyPr wrap="square">
            <a:spAutoFit/>
          </a:bodyPr>
          <a:lstStyle/>
          <a:p>
            <a:pPr>
              <a:lnSpc>
                <a:spcPct val="108000"/>
              </a:lnSpc>
              <a:spcBef>
                <a:spcPts val="1000"/>
              </a:spcBef>
              <a:spcAft>
                <a:spcPts val="0"/>
              </a:spcAft>
            </a:pPr>
            <a:r>
              <a:rPr sz="1800">
                <a:solidFill>
                  <a:srgbClr val="202020"/>
                </a:solidFill>
              </a:rPr>
              <a:t>▪  It wires the three libraries together and does no matching and no file I/O of its own.</a:t>
            </a:r>
          </a:p>
          <a:p>
            <a:pPr>
              <a:lnSpc>
                <a:spcPct val="108000"/>
              </a:lnSpc>
              <a:spcBef>
                <a:spcPts val="1000"/>
              </a:spcBef>
              <a:spcAft>
                <a:spcPts val="0"/>
              </a:spcAft>
            </a:pPr>
            <a:r>
              <a:rPr sz="1800">
                <a:solidFill>
                  <a:srgbClr val="202020"/>
                </a:solidFill>
              </a:rPr>
              <a:t>▪  It writes process-level text - help, the option listing, startup diagnostics - but composes almost none of it. Each string comes from Cmdline; the binary decides only when to write it and to which stream.</a:t>
            </a:r>
          </a:p>
          <a:p>
            <a:pPr>
              <a:lnSpc>
                <a:spcPct val="108000"/>
              </a:lnSpc>
              <a:spcBef>
                <a:spcPts val="1000"/>
              </a:spcBef>
              <a:spcAft>
                <a:spcPts val="0"/>
              </a:spcAft>
            </a:pPr>
            <a:r>
              <a:rPr sz="1800">
                <a:solidFill>
                  <a:srgbClr val="202020"/>
                </a:solidFill>
              </a:rPr>
              <a:t>▪  Three things it owns outright.</a:t>
            </a:r>
          </a:p>
          <a:p>
            <a:pPr lvl="1" marL="384048" indent="0">
              <a:lnSpc>
                <a:spcPct val="108000"/>
              </a:lnSpc>
              <a:spcBef>
                <a:spcPts val="300"/>
              </a:spcBef>
              <a:spcAft>
                <a:spcPts val="0"/>
              </a:spcAft>
            </a:pPr>
            <a:r>
              <a:rPr sz="1500">
                <a:solidFill>
                  <a:srgbClr val="55606B"/>
                </a:solidFill>
              </a:rPr>
              <a:t>–  The skip list, initialized with the 11 defaults, and addSkipDirectory as the build-time extension point.</a:t>
            </a:r>
          </a:p>
          <a:p>
            <a:pPr lvl="1" marL="384048" indent="0">
              <a:lnSpc>
                <a:spcPct val="108000"/>
              </a:lnSpc>
              <a:spcBef>
                <a:spcPts val="300"/>
              </a:spcBef>
              <a:spcAft>
                <a:spcPts val="0"/>
              </a:spcAft>
            </a:pPr>
            <a:r>
              <a:rPr sz="1500">
                <a:solidFill>
                  <a:srgbClr val="55606B"/>
                </a:solidFill>
              </a:rPr>
              <a:t>–  The lifetime of all three objects. Dirnav holds references rather than copies, so the sink, the finalized skip list, and the parsed commands must outlive it.</a:t>
            </a:r>
          </a:p>
          <a:p>
            <a:pPr lvl="1" marL="384048" indent="0">
              <a:lnSpc>
                <a:spcPct val="108000"/>
              </a:lnSpc>
              <a:spcBef>
                <a:spcPts val="300"/>
              </a:spcBef>
              <a:spcAft>
                <a:spcPts val="0"/>
              </a:spcAft>
            </a:pPr>
            <a:r>
              <a:rPr sz="1500">
                <a:solidFill>
                  <a:srgbClr val="55606B"/>
                </a:solidFill>
              </a:rPr>
              <a:t>–  The exit code.</a:t>
            </a:r>
          </a:p>
          <a:p>
            <a:pPr>
              <a:lnSpc>
                <a:spcPct val="108000"/>
              </a:lnSpc>
              <a:spcBef>
                <a:spcPts val="1000"/>
              </a:spcBef>
              <a:spcAft>
                <a:spcPts val="0"/>
              </a:spcAft>
            </a:pPr>
            <a:r>
              <a:rPr sz="1800">
                <a:solidFill>
                  <a:srgbClr val="202020"/>
                </a:solidFill>
              </a:rPr>
              <a:t>▪  86 lines of code against an 87-line specification. That ratio is the point of the component: the design goal is to make the wiring itself readable.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spcAft>
                <a:spcPts val="200"/>
              </a:spcAft>
              <a:defRPr sz="1200" b="1">
                <a:solidFill>
                  <a:srgbClr val="8EB4D4"/>
                </a:solidFill>
              </a:defRPr>
            </a:pPr>
            <a:r>
              <a:t>ENTRY</a:t>
            </a:r>
          </a:p>
          <a:p>
            <a:pPr>
              <a:defRPr sz="3000" b="1">
                <a:solidFill>
                  <a:srgbClr val="FFFFFF"/>
                </a:solidFill>
              </a:defRPr>
            </a:pPr>
            <a:r>
              <a:t>The Ten Startup Steps</a:t>
            </a:r>
          </a:p>
        </p:txBody>
      </p:sp>
      <p:graphicFrame>
        <p:nvGraphicFramePr>
          <p:cNvPr id="5" name="Table 4"/>
          <p:cNvGraphicFramePr>
            <a:graphicFrameLocks noGrp="1"/>
          </p:cNvGraphicFramePr>
          <p:nvPr/>
        </p:nvGraphicFramePr>
        <p:xfrm>
          <a:off x="640080" y="1463040"/>
          <a:ext cx="10881360" cy="3520440"/>
        </p:xfrm>
        <a:graphic>
          <a:graphicData uri="http://schemas.openxmlformats.org/drawingml/2006/table">
            <a:tbl>
              <a:tblPr firstRow="1" bandRow="1">
                <a:tableStyleId>{5C22544A-7EE6-4342-B048-85BDC9FD1C3A}</a:tableStyleId>
              </a:tblPr>
              <a:tblGrid>
                <a:gridCol w="822960"/>
                <a:gridCol w="10058400"/>
              </a:tblGrid>
              <a:tr h="320040">
                <a:tc>
                  <a:txBody>
                    <a:bodyPr/>
                    <a:lstStyle/>
                    <a:p>
                      <a:pPr>
                        <a:defRPr sz="1300" b="1">
                          <a:solidFill>
                            <a:srgbClr val="FFFFFF"/>
                          </a:solidFill>
                        </a:defRPr>
                      </a:pPr>
                      <a:r>
                        <a:t>Step</a:t>
                      </a:r>
                    </a:p>
                  </a:txBody>
                  <a:tcPr marL="73152" marT="27432" marB="27432">
                    <a:solidFill>
                      <a:srgbClr val="1E2B3A"/>
                    </a:solidFill>
                  </a:tcPr>
                </a:tc>
                <a:tc>
                  <a:txBody>
                    <a:bodyPr/>
                    <a:lstStyle/>
                    <a:p>
                      <a:pPr>
                        <a:defRPr sz="1300" b="1">
                          <a:solidFill>
                            <a:srgbClr val="FFFFFF"/>
                          </a:solidFill>
                        </a:defRPr>
                      </a:pPr>
                      <a:r>
                        <a:t>What happens</a:t>
                      </a:r>
                    </a:p>
                  </a:txBody>
                  <a:tcPr marL="73152" marT="27432" marB="27432">
                    <a:solidFill>
                      <a:srgbClr val="1E2B3A"/>
                    </a:solidFill>
                  </a:tcPr>
                </a:tc>
              </a:tr>
              <a:tr h="320040">
                <a:tc>
                  <a:txBody>
                    <a:bodyPr/>
                    <a:lstStyle/>
                    <a:p>
                      <a:pPr>
                        <a:defRPr sz="1250" b="0">
                          <a:solidFill>
                            <a:srgbClr val="202020"/>
                          </a:solidFill>
                        </a:defRPr>
                      </a:pPr>
                      <a:r>
                        <a:t>1</a:t>
                      </a:r>
                    </a:p>
                  </a:txBody>
                  <a:tcPr marL="73152" marT="27432" marB="27432">
                    <a:solidFill>
                      <a:srgbClr val="F2F4F6"/>
                    </a:solidFill>
                  </a:tcPr>
                </a:tc>
                <a:tc>
                  <a:txBody>
                    <a:bodyPr/>
                    <a:lstStyle/>
                    <a:p>
                      <a:pPr>
                        <a:defRPr sz="1250" b="0">
                          <a:solidFill>
                            <a:srgbClr val="202020"/>
                          </a:solidFill>
                        </a:defRPr>
                      </a:pPr>
                      <a:r>
                        <a:t>parse(argc, argv). On failure, write the returned usage diagnostic to stderr unaltered and return 1</a:t>
                      </a:r>
                    </a:p>
                  </a:txBody>
                  <a:tcPr marL="73152" marT="27432" marB="27432">
                    <a:solidFill>
                      <a:srgbClr val="F2F4F6"/>
                    </a:solidFill>
                  </a:tcPr>
                </a:tc>
              </a:tr>
              <a:tr h="320040">
                <a:tc>
                  <a:txBody>
                    <a:bodyPr/>
                    <a:lstStyle/>
                    <a:p>
                      <a:pPr>
                        <a:defRPr sz="1250" b="0">
                          <a:solidFill>
                            <a:srgbClr val="202020"/>
                          </a:solidFill>
                        </a:defRPr>
                      </a:pPr>
                      <a:r>
                        <a:t>2</a:t>
                      </a:r>
                    </a:p>
                  </a:txBody>
                  <a:tcPr marL="73152" marT="27432" marB="27432">
                    <a:solidFill>
                      <a:srgbClr val="FFFFFF"/>
                    </a:solidFill>
                  </a:tcPr>
                </a:tc>
                <a:tc>
                  <a:txBody>
                    <a:bodyPr/>
                    <a:lstStyle/>
                    <a:p>
                      <a:pPr>
                        <a:defRPr sz="1250" b="0">
                          <a:solidFill>
                            <a:srgbClr val="202020"/>
                          </a:solidFill>
                        </a:defRPr>
                      </a:pPr>
                      <a:r>
                        <a:t>Construct Cpp_TextFinder_Output. If the constructor throws, write cannot initialize output and return 2</a:t>
                      </a:r>
                    </a:p>
                  </a:txBody>
                  <a:tcPr marL="73152" marT="27432" marB="27432">
                    <a:solidFill>
                      <a:srgbClr val="FFFFFF"/>
                    </a:solidFill>
                  </a:tcPr>
                </a:tc>
              </a:tr>
              <a:tr h="320040">
                <a:tc>
                  <a:txBody>
                    <a:bodyPr/>
                    <a:lstStyle/>
                    <a:p>
                      <a:pPr>
                        <a:defRPr sz="1250" b="0">
                          <a:solidFill>
                            <a:srgbClr val="202020"/>
                          </a:solidFill>
                        </a:defRPr>
                      </a:pPr>
                      <a:r>
                        <a:t>3</a:t>
                      </a:r>
                    </a:p>
                  </a:txBody>
                  <a:tcPr marL="73152" marT="27432" marB="27432">
                    <a:solidFill>
                      <a:srgbClr val="F2F4F6"/>
                    </a:solidFill>
                  </a:tcPr>
                </a:tc>
                <a:tc>
                  <a:txBody>
                    <a:bodyPr/>
                    <a:lstStyle/>
                    <a:p>
                      <a:pPr>
                        <a:defRPr sz="1250" b="0">
                          <a:solidFill>
                            <a:srgbClr val="202020"/>
                          </a:solidFill>
                        </a:defRPr>
                      </a:pPr>
                      <a:r>
                        <a:t>If /H true, write helpText() to stdout and return 0</a:t>
                      </a:r>
                    </a:p>
                  </a:txBody>
                  <a:tcPr marL="73152" marT="27432" marB="27432">
                    <a:solidFill>
                      <a:srgbClr val="F2F4F6"/>
                    </a:solidFill>
                  </a:tcPr>
                </a:tc>
              </a:tr>
              <a:tr h="320040">
                <a:tc>
                  <a:txBody>
                    <a:bodyPr/>
                    <a:lstStyle/>
                    <a:p>
                      <a:pPr>
                        <a:defRPr sz="1250" b="0">
                          <a:solidFill>
                            <a:srgbClr val="202020"/>
                          </a:solidFill>
                        </a:defRPr>
                      </a:pPr>
                      <a:r>
                        <a:t>4</a:t>
                      </a:r>
                    </a:p>
                  </a:txBody>
                  <a:tcPr marL="73152" marT="27432" marB="27432">
                    <a:solidFill>
                      <a:srgbClr val="FFFFFF"/>
                    </a:solidFill>
                  </a:tcPr>
                </a:tc>
                <a:tc>
                  <a:txBody>
                    <a:bodyPr/>
                    <a:lstStyle/>
                    <a:p>
                      <a:pPr>
                        <a:defRPr sz="1250" b="0">
                          <a:solidFill>
                            <a:srgbClr val="202020"/>
                          </a:solidFill>
                        </a:defRPr>
                      </a:pPr>
                      <a:r>
                        <a:t>If argc is 1, write optionsText(commands) and return 0 - the bare command line</a:t>
                      </a:r>
                    </a:p>
                  </a:txBody>
                  <a:tcPr marL="73152" marT="27432" marB="27432">
                    <a:solidFill>
                      <a:srgbClr val="FFFFFF"/>
                    </a:solidFill>
                  </a:tcPr>
                </a:tc>
              </a:tr>
              <a:tr h="320040">
                <a:tc>
                  <a:txBody>
                    <a:bodyPr/>
                    <a:lstStyle/>
                    <a:p>
                      <a:pPr>
                        <a:defRPr sz="1250" b="0">
                          <a:solidFill>
                            <a:srgbClr val="202020"/>
                          </a:solidFill>
                        </a:defRPr>
                      </a:pPr>
                      <a:r>
                        <a:t>5</a:t>
                      </a:r>
                    </a:p>
                  </a:txBody>
                  <a:tcPr marL="73152" marT="27432" marB="27432">
                    <a:solidFill>
                      <a:srgbClr val="F2F4F6"/>
                    </a:solidFill>
                  </a:tcPr>
                </a:tc>
                <a:tc>
                  <a:txBody>
                    <a:bodyPr/>
                    <a:lstStyle/>
                    <a:p>
                      <a:pPr>
                        <a:defRPr sz="1250" b="0">
                          <a:solidFill>
                            <a:srgbClr val="202020"/>
                          </a:solidFill>
                        </a:defRPr>
                      </a:pPr>
                      <a:r>
                        <a:t>If /v true, write optionsText(commands) to stdout before traversal begins</a:t>
                      </a:r>
                    </a:p>
                  </a:txBody>
                  <a:tcPr marL="73152" marT="27432" marB="27432">
                    <a:solidFill>
                      <a:srgbClr val="F2F4F6"/>
                    </a:solidFill>
                  </a:tcPr>
                </a:tc>
              </a:tr>
              <a:tr h="320040">
                <a:tc>
                  <a:txBody>
                    <a:bodyPr/>
                    <a:lstStyle/>
                    <a:p>
                      <a:pPr>
                        <a:defRPr sz="1250" b="0">
                          <a:solidFill>
                            <a:srgbClr val="202020"/>
                          </a:solidFill>
                        </a:defRPr>
                      </a:pPr>
                      <a:r>
                        <a:t>6</a:t>
                      </a:r>
                    </a:p>
                  </a:txBody>
                  <a:tcPr marL="73152" marT="27432" marB="27432">
                    <a:solidFill>
                      <a:srgbClr val="FFFFFF"/>
                    </a:solidFill>
                  </a:tcPr>
                </a:tc>
                <a:tc>
                  <a:txBody>
                    <a:bodyPr/>
                    <a:lstStyle/>
                    <a:p>
                      <a:pPr>
                        <a:defRPr sz="1250" b="0">
                          <a:solidFill>
                            <a:srgbClr val="202020"/>
                          </a:solidFill>
                        </a:defRPr>
                      </a:pPr>
                      <a:r>
                        <a:t>Finalize the skip list: the defaults, then the addSkipDirectory calls compiled into the binary</a:t>
                      </a:r>
                    </a:p>
                  </a:txBody>
                  <a:tcPr marL="73152" marT="27432" marB="27432">
                    <a:solidFill>
                      <a:srgbClr val="FFFFFF"/>
                    </a:solidFill>
                  </a:tcPr>
                </a:tc>
              </a:tr>
              <a:tr h="320040">
                <a:tc>
                  <a:txBody>
                    <a:bodyPr/>
                    <a:lstStyle/>
                    <a:p>
                      <a:pPr>
                        <a:defRPr sz="1250" b="0">
                          <a:solidFill>
                            <a:srgbClr val="202020"/>
                          </a:solidFill>
                        </a:defRPr>
                      </a:pPr>
                      <a:r>
                        <a:t>7</a:t>
                      </a:r>
                    </a:p>
                  </a:txBody>
                  <a:tcPr marL="73152" marT="27432" marB="27432">
                    <a:solidFill>
                      <a:srgbClr val="F2F4F6"/>
                    </a:solidFill>
                  </a:tcPr>
                </a:tc>
                <a:tc>
                  <a:txBody>
                    <a:bodyPr/>
                    <a:lstStyle/>
                    <a:p>
                      <a:pPr>
                        <a:defRPr sz="1250" b="0">
                          <a:solidFill>
                            <a:srgbClr val="202020"/>
                          </a:solidFill>
                        </a:defRPr>
                      </a:pPr>
                      <a:r>
                        <a:t>Construct Dirnav&lt;Output&gt;. Regex compilation happens here, and the constructor throws when /r will not compile</a:t>
                      </a:r>
                    </a:p>
                  </a:txBody>
                  <a:tcPr marL="73152" marT="27432" marB="27432">
                    <a:solidFill>
                      <a:srgbClr val="F2F4F6"/>
                    </a:solidFill>
                  </a:tcPr>
                </a:tc>
              </a:tr>
              <a:tr h="320040">
                <a:tc>
                  <a:txBody>
                    <a:bodyPr/>
                    <a:lstStyle/>
                    <a:p>
                      <a:pPr>
                        <a:defRPr sz="1250" b="0">
                          <a:solidFill>
                            <a:srgbClr val="202020"/>
                          </a:solidFill>
                        </a:defRPr>
                      </a:pPr>
                      <a:r>
                        <a:t>8</a:t>
                      </a:r>
                    </a:p>
                  </a:txBody>
                  <a:tcPr marL="73152" marT="27432" marB="27432">
                    <a:solidFill>
                      <a:srgbClr val="FFFFFF"/>
                    </a:solidFill>
                  </a:tcPr>
                </a:tc>
                <a:tc>
                  <a:txBody>
                    <a:bodyPr/>
                    <a:lstStyle/>
                    <a:p>
                      <a:pPr>
                        <a:defRPr sz="1250" b="0">
                          <a:solidFill>
                            <a:srgbClr val="202020"/>
                          </a:solidFill>
                        </a:defRPr>
                      </a:pPr>
                      <a:r>
                        <a:t>For each root path, in the order /P gave them, invoke search on the same instance</a:t>
                      </a:r>
                    </a:p>
                  </a:txBody>
                  <a:tcPr marL="73152" marT="27432" marB="27432">
                    <a:solidFill>
                      <a:srgbClr val="FFFFFF"/>
                    </a:solidFill>
                  </a:tcPr>
                </a:tc>
              </a:tr>
              <a:tr h="320040">
                <a:tc>
                  <a:txBody>
                    <a:bodyPr/>
                    <a:lstStyle/>
                    <a:p>
                      <a:pPr>
                        <a:defRPr sz="1250" b="0">
                          <a:solidFill>
                            <a:srgbClr val="202020"/>
                          </a:solidFill>
                        </a:defRPr>
                      </a:pPr>
                      <a:r>
                        <a:t>9</a:t>
                      </a:r>
                    </a:p>
                  </a:txBody>
                  <a:tcPr marL="73152" marT="27432" marB="27432">
                    <a:solidFill>
                      <a:srgbClr val="F2F4F6"/>
                    </a:solidFill>
                  </a:tcPr>
                </a:tc>
                <a:tc>
                  <a:txBody>
                    <a:bodyPr/>
                    <a:lstStyle/>
                    <a:p>
                      <a:pPr>
                        <a:defRPr sz="1250" b="0">
                          <a:solidFill>
                            <a:srgbClr val="202020"/>
                          </a:solidFill>
                        </a:defRPr>
                      </a:pPr>
                      <a:r>
                        <a:t>Call emitRunSummary() on that same instance, once, after the last root path returns</a:t>
                      </a:r>
                    </a:p>
                  </a:txBody>
                  <a:tcPr marL="73152" marT="27432" marB="27432">
                    <a:solidFill>
                      <a:srgbClr val="F2F4F6"/>
                    </a:solidFill>
                  </a:tcPr>
                </a:tc>
              </a:tr>
              <a:tr h="320040">
                <a:tc>
                  <a:txBody>
                    <a:bodyPr/>
                    <a:lstStyle/>
                    <a:p>
                      <a:pPr>
                        <a:defRPr sz="1250" b="0">
                          <a:solidFill>
                            <a:srgbClr val="202020"/>
                          </a:solidFill>
                        </a:defRPr>
                      </a:pPr>
                      <a:r>
                        <a:t>10</a:t>
                      </a:r>
                    </a:p>
                  </a:txBody>
                  <a:tcPr marL="73152" marT="27432" marB="27432">
                    <a:solidFill>
                      <a:srgbClr val="FFFFFF"/>
                    </a:solidFill>
                  </a:tcPr>
                </a:tc>
                <a:tc>
                  <a:txBody>
                    <a:bodyPr/>
                    <a:lstStyle/>
                    <a:p>
                      <a:pPr>
                        <a:defRPr sz="1250" b="0">
                          <a:solidFill>
                            <a:srgbClr val="202020"/>
                          </a:solidFill>
                        </a:defRPr>
                      </a:pPr>
                      <a:r>
                        <a:t>Return 0</a:t>
                      </a:r>
                    </a:p>
                  </a:txBody>
                  <a:tcPr marL="73152" marT="27432" marB="27432">
                    <a:solidFill>
                      <a:srgbClr val="FFFFFF"/>
                    </a:solidFill>
                  </a:tcPr>
                </a:tc>
              </a:tr>
            </a:tbl>
          </a:graphicData>
        </a:graphic>
      </p:graphicFrame>
      <p:sp>
        <p:nvSpPr>
          <p:cNvPr id="6" name="TextBox 5"/>
          <p:cNvSpPr txBox="1"/>
          <p:nvPr/>
        </p:nvSpPr>
        <p:spPr>
          <a:xfrm>
            <a:off x="640080" y="5212080"/>
            <a:ext cx="10911535" cy="1280160"/>
          </a:xfrm>
          <a:prstGeom prst="rect">
            <a:avLst/>
          </a:prstGeom>
          <a:noFill/>
        </p:spPr>
        <p:txBody>
          <a:bodyPr wrap="square">
            <a:spAutoFit/>
          </a:bodyPr>
          <a:lstStyle/>
          <a:p>
            <a:pPr>
              <a:lnSpc>
                <a:spcPct val="108000"/>
              </a:lnSpc>
              <a:spcBef>
                <a:spcPts val="1000"/>
              </a:spcBef>
              <a:spcAft>
                <a:spcPts val="0"/>
              </a:spcAft>
            </a:pPr>
            <a:r>
              <a:rPr sz="1800">
                <a:solidFill>
                  <a:srgbClr val="202020"/>
                </a:solidFill>
              </a:rPr>
              <a:t>▪  Every exit above reaches its return before step 8, which is what makes the summary a mark of a run that traversed. The integration suite asserts the absence for /H and for the bare command line.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spcAft>
                <a:spcPts val="200"/>
              </a:spcAft>
              <a:defRPr sz="1200" b="1">
                <a:solidFill>
                  <a:srgbClr val="8EB4D4"/>
                </a:solidFill>
              </a:defRPr>
            </a:pPr>
            <a:r>
              <a:t>ENTRY</a:t>
            </a:r>
          </a:p>
          <a:p>
            <a:pPr>
              <a:defRPr sz="3000" b="1">
                <a:solidFill>
                  <a:srgbClr val="FFFFFF"/>
                </a:solidFill>
              </a:defRPr>
            </a:pPr>
            <a:r>
              <a:t>Three Steps Placed for Reasons</a:t>
            </a:r>
          </a:p>
        </p:txBody>
      </p:sp>
      <p:sp>
        <p:nvSpPr>
          <p:cNvPr id="5" name="TextBox 4"/>
          <p:cNvSpPr txBox="1"/>
          <p:nvPr/>
        </p:nvSpPr>
        <p:spPr>
          <a:xfrm>
            <a:off x="640080" y="1463040"/>
            <a:ext cx="10911535" cy="5029200"/>
          </a:xfrm>
          <a:prstGeom prst="rect">
            <a:avLst/>
          </a:prstGeom>
          <a:noFill/>
        </p:spPr>
        <p:txBody>
          <a:bodyPr wrap="square">
            <a:spAutoFit/>
          </a:bodyPr>
          <a:lstStyle/>
          <a:p>
            <a:pPr>
              <a:lnSpc>
                <a:spcPct val="108000"/>
              </a:lnSpc>
              <a:spcBef>
                <a:spcPts val="1000"/>
              </a:spcBef>
              <a:spcAft>
                <a:spcPts val="0"/>
              </a:spcAft>
            </a:pPr>
            <a:r>
              <a:rPr sz="1700">
                <a:solidFill>
                  <a:srgbClr val="202020"/>
                </a:solidFill>
              </a:rPr>
              <a:t>▪  The order is the specification rather than a consequence of it.</a:t>
            </a:r>
          </a:p>
          <a:p>
            <a:pPr>
              <a:lnSpc>
                <a:spcPct val="108000"/>
              </a:lnSpc>
              <a:spcBef>
                <a:spcPts val="1000"/>
              </a:spcBef>
              <a:spcAft>
                <a:spcPts val="0"/>
              </a:spcAft>
            </a:pPr>
            <a:r>
              <a:rPr sz="1700">
                <a:solidFill>
                  <a:srgbClr val="202020"/>
                </a:solidFill>
              </a:rPr>
              <a:t>▪  Step 2 precedes every write to stdout. Constructing the sink puts the stream into the mode the LF rule requires, so every subsequent write carries that terminator - the binary's own writes included.</a:t>
            </a:r>
          </a:p>
          <a:p>
            <a:pPr lvl="1" marL="384048" indent="0">
              <a:lnSpc>
                <a:spcPct val="108000"/>
              </a:lnSpc>
              <a:spcBef>
                <a:spcPts val="300"/>
              </a:spcBef>
              <a:spcAft>
                <a:spcPts val="0"/>
              </a:spcAft>
            </a:pPr>
            <a:r>
              <a:rPr sz="1400">
                <a:solidFill>
                  <a:srgbClr val="55606B"/>
                </a:solidFill>
              </a:rPr>
              <a:t>–  That ordering was a defect once: an earlier specification wrote the /v listing before constructing the sink.</a:t>
            </a:r>
          </a:p>
          <a:p>
            <a:pPr>
              <a:lnSpc>
                <a:spcPct val="108000"/>
              </a:lnSpc>
              <a:spcBef>
                <a:spcPts val="1000"/>
              </a:spcBef>
              <a:spcAft>
                <a:spcPts val="0"/>
              </a:spcAft>
            </a:pPr>
            <a:r>
              <a:rPr sz="1700">
                <a:solidFill>
                  <a:srgbClr val="202020"/>
                </a:solidFill>
              </a:rPr>
              <a:t>▪  Step 4 reads argc and no element of argv, because "no switch at all" is exactly "no tokens after the executable name". Steps 4 and 5 are mutually exclusive - a command line bearing /v is not bare.</a:t>
            </a:r>
          </a:p>
          <a:p>
            <a:pPr>
              <a:lnSpc>
                <a:spcPct val="108000"/>
              </a:lnSpc>
              <a:spcBef>
                <a:spcPts val="1000"/>
              </a:spcBef>
              <a:spcAft>
                <a:spcPts val="0"/>
              </a:spcAft>
            </a:pPr>
            <a:r>
              <a:rPr sz="1700">
                <a:solidFill>
                  <a:srgbClr val="202020"/>
                </a:solidFill>
              </a:rPr>
              <a:t>▪  Step 7 refuses a bad pattern in four sub-steps: write the option listing if step 5 did not, flush stdout, compose the diagnostic to stderr, return 1.</a:t>
            </a:r>
          </a:p>
          <a:p>
            <a:pPr lvl="1" marL="384048" indent="0">
              <a:lnSpc>
                <a:spcPct val="108000"/>
              </a:lnSpc>
              <a:spcBef>
                <a:spcPts val="300"/>
              </a:spcBef>
              <a:spcAft>
                <a:spcPts val="0"/>
              </a:spcAft>
            </a:pPr>
            <a:r>
              <a:rPr sz="1400">
                <a:solidFill>
                  <a:srgbClr val="55606B"/>
                </a:solidFill>
              </a:rPr>
              <a:t>–  The flush is there because std::cerr is unit-buffered and the sink is not. Without it the two arrive out of order.</a:t>
            </a:r>
          </a:p>
          <a:p>
            <a:pPr>
              <a:lnSpc>
                <a:spcPct val="108000"/>
              </a:lnSpc>
              <a:spcBef>
                <a:spcPts val="1000"/>
              </a:spcBef>
              <a:spcAft>
                <a:spcPts val="0"/>
              </a:spcAft>
            </a:pPr>
            <a:r>
              <a:rPr sz="1700">
                <a:solidFill>
                  <a:srgbClr val="202020"/>
                </a:solidFill>
              </a:rPr>
              <a:t>▪  Step 9 asks for the run summary. The counts are Dirnav's; what the binary supplies is the one fact the library cannot have - that step 8 is finished.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spcAft>
                <a:spcPts val="200"/>
              </a:spcAft>
              <a:defRPr sz="1200" b="1">
                <a:solidFill>
                  <a:srgbClr val="8EB4D4"/>
                </a:solidFill>
              </a:defRPr>
            </a:pPr>
            <a:r>
              <a:t>ENTRY</a:t>
            </a:r>
          </a:p>
          <a:p>
            <a:pPr>
              <a:defRPr sz="3000" b="1">
                <a:solidFill>
                  <a:srgbClr val="FFFFFF"/>
                </a:solidFill>
              </a:defRPr>
            </a:pPr>
            <a:r>
              <a:t>Exit Codes, and Why Every Exit Is a Return</a:t>
            </a:r>
          </a:p>
        </p:txBody>
      </p:sp>
      <p:graphicFrame>
        <p:nvGraphicFramePr>
          <p:cNvPr id="5" name="Table 4"/>
          <p:cNvGraphicFramePr>
            <a:graphicFrameLocks noGrp="1"/>
          </p:cNvGraphicFramePr>
          <p:nvPr/>
        </p:nvGraphicFramePr>
        <p:xfrm>
          <a:off x="640080" y="1463040"/>
          <a:ext cx="10881360" cy="1280160"/>
        </p:xfrm>
        <a:graphic>
          <a:graphicData uri="http://schemas.openxmlformats.org/drawingml/2006/table">
            <a:tbl>
              <a:tblPr firstRow="1" bandRow="1">
                <a:tableStyleId>{5C22544A-7EE6-4342-B048-85BDC9FD1C3A}</a:tableStyleId>
              </a:tblPr>
              <a:tblGrid>
                <a:gridCol w="822960"/>
                <a:gridCol w="3931920"/>
                <a:gridCol w="6126480"/>
              </a:tblGrid>
              <a:tr h="320040">
                <a:tc>
                  <a:txBody>
                    <a:bodyPr/>
                    <a:lstStyle/>
                    <a:p>
                      <a:pPr>
                        <a:defRPr sz="1300" b="1">
                          <a:solidFill>
                            <a:srgbClr val="FFFFFF"/>
                          </a:solidFill>
                        </a:defRPr>
                      </a:pPr>
                      <a:r>
                        <a:t>Code</a:t>
                      </a:r>
                    </a:p>
                  </a:txBody>
                  <a:tcPr marL="73152" marT="27432" marB="27432">
                    <a:solidFill>
                      <a:srgbClr val="1E2B3A"/>
                    </a:solidFill>
                  </a:tcPr>
                </a:tc>
                <a:tc>
                  <a:txBody>
                    <a:bodyPr/>
                    <a:lstStyle/>
                    <a:p>
                      <a:pPr>
                        <a:defRPr sz="1300" b="1">
                          <a:solidFill>
                            <a:srgbClr val="FFFFFF"/>
                          </a:solidFill>
                        </a:defRPr>
                      </a:pPr>
                      <a:r>
                        <a:t>Cause in this binary</a:t>
                      </a:r>
                    </a:p>
                  </a:txBody>
                  <a:tcPr marL="73152" marT="27432" marB="27432">
                    <a:solidFill>
                      <a:srgbClr val="1E2B3A"/>
                    </a:solidFill>
                  </a:tcPr>
                </a:tc>
                <a:tc>
                  <a:txBody>
                    <a:bodyPr/>
                    <a:lstStyle/>
                    <a:p>
                      <a:pPr>
                        <a:defRPr sz="1300" b="1">
                          <a:solidFill>
                            <a:srgbClr val="FFFFFF"/>
                          </a:solidFill>
                        </a:defRPr>
                      </a:pPr>
                      <a:r>
                        <a:t>What reaches which stream</a:t>
                      </a:r>
                    </a:p>
                  </a:txBody>
                  <a:tcPr marL="73152" marT="27432" marB="27432">
                    <a:solidFill>
                      <a:srgbClr val="1E2B3A"/>
                    </a:solidFill>
                  </a:tcPr>
                </a:tc>
              </a:tr>
              <a:tr h="320040">
                <a:tc>
                  <a:txBody>
                    <a:bodyPr/>
                    <a:lstStyle/>
                    <a:p>
                      <a:pPr>
                        <a:defRPr sz="1300" b="0">
                          <a:solidFill>
                            <a:srgbClr val="202020"/>
                          </a:solidFill>
                        </a:defRPr>
                      </a:pPr>
                      <a:r>
                        <a:t>0</a:t>
                      </a:r>
                    </a:p>
                  </a:txBody>
                  <a:tcPr marL="73152" marT="27432" marB="27432">
                    <a:solidFill>
                      <a:srgbClr val="F2F4F6"/>
                    </a:solidFill>
                  </a:tcPr>
                </a:tc>
                <a:tc>
                  <a:txBody>
                    <a:bodyPr/>
                    <a:lstStyle/>
                    <a:p>
                      <a:pPr>
                        <a:defRPr sz="1300" b="0">
                          <a:solidFill>
                            <a:srgbClr val="202020"/>
                          </a:solidFill>
                        </a:defRPr>
                      </a:pPr>
                      <a:r>
                        <a:t>Startup and traversal completed; or /H; or the bare command line</a:t>
                      </a:r>
                    </a:p>
                  </a:txBody>
                  <a:tcPr marL="73152" marT="27432" marB="27432">
                    <a:solidFill>
                      <a:srgbClr val="F2F4F6"/>
                    </a:solidFill>
                  </a:tcPr>
                </a:tc>
                <a:tc>
                  <a:txBody>
                    <a:bodyPr/>
                    <a:lstStyle/>
                    <a:p>
                      <a:pPr>
                        <a:defRPr sz="1300" b="0">
                          <a:solidFill>
                            <a:srgbClr val="202020"/>
                          </a:solidFill>
                        </a:defRPr>
                      </a:pPr>
                      <a:r>
                        <a:t>Search output, help, or the option listing on stdout</a:t>
                      </a:r>
                    </a:p>
                  </a:txBody>
                  <a:tcPr marL="73152" marT="27432" marB="27432">
                    <a:solidFill>
                      <a:srgbClr val="F2F4F6"/>
                    </a:solidFill>
                  </a:tcPr>
                </a:tc>
              </a:tr>
              <a:tr h="320040">
                <a:tc>
                  <a:txBody>
                    <a:bodyPr/>
                    <a:lstStyle/>
                    <a:p>
                      <a:pPr>
                        <a:defRPr sz="1300" b="0">
                          <a:solidFill>
                            <a:srgbClr val="202020"/>
                          </a:solidFill>
                        </a:defRPr>
                      </a:pPr>
                      <a:r>
                        <a:t>1</a:t>
                      </a:r>
                    </a:p>
                  </a:txBody>
                  <a:tcPr marL="73152" marT="27432" marB="27432">
                    <a:solidFill>
                      <a:srgbClr val="FFFFFF"/>
                    </a:solidFill>
                  </a:tcPr>
                </a:tc>
                <a:tc>
                  <a:txBody>
                    <a:bodyPr/>
                    <a:lstStyle/>
                    <a:p>
                      <a:pPr>
                        <a:defRPr sz="1300" b="0">
                          <a:solidFill>
                            <a:srgbClr val="202020"/>
                          </a:solidFill>
                        </a:defRPr>
                      </a:pPr>
                      <a:r>
                        <a:t>Parse failure, or a malformed /r</a:t>
                      </a:r>
                    </a:p>
                  </a:txBody>
                  <a:tcPr marL="73152" marT="27432" marB="27432">
                    <a:solidFill>
                      <a:srgbClr val="FFFFFF"/>
                    </a:solidFill>
                  </a:tcPr>
                </a:tc>
                <a:tc>
                  <a:txBody>
                    <a:bodyPr/>
                    <a:lstStyle/>
                    <a:p>
                      <a:pPr>
                        <a:defRPr sz="1300" b="0">
                          <a:solidFill>
                            <a:srgbClr val="202020"/>
                          </a:solidFill>
                        </a:defRPr>
                      </a:pPr>
                      <a:r>
                        <a:t>A usage diagnostic on stderr. Only a malformed /r puts the option listing on stdout first</a:t>
                      </a:r>
                    </a:p>
                  </a:txBody>
                  <a:tcPr marL="73152" marT="27432" marB="27432">
                    <a:solidFill>
                      <a:srgbClr val="FFFFFF"/>
                    </a:solidFill>
                  </a:tcPr>
                </a:tc>
              </a:tr>
              <a:tr h="320040">
                <a:tc>
                  <a:txBody>
                    <a:bodyPr/>
                    <a:lstStyle/>
                    <a:p>
                      <a:pPr>
                        <a:defRPr sz="1300" b="0">
                          <a:solidFill>
                            <a:srgbClr val="202020"/>
                          </a:solidFill>
                        </a:defRPr>
                      </a:pPr>
                      <a:r>
                        <a:t>2</a:t>
                      </a:r>
                    </a:p>
                  </a:txBody>
                  <a:tcPr marL="73152" marT="27432" marB="27432">
                    <a:solidFill>
                      <a:srgbClr val="F2F4F6"/>
                    </a:solidFill>
                  </a:tcPr>
                </a:tc>
                <a:tc>
                  <a:txBody>
                    <a:bodyPr/>
                    <a:lstStyle/>
                    <a:p>
                      <a:pPr>
                        <a:defRPr sz="1300" b="0">
                          <a:solidFill>
                            <a:srgbClr val="202020"/>
                          </a:solidFill>
                        </a:defRPr>
                      </a:pPr>
                      <a:r>
                        <a:t>Output construction failed</a:t>
                      </a:r>
                    </a:p>
                  </a:txBody>
                  <a:tcPr marL="73152" marT="27432" marB="27432">
                    <a:solidFill>
                      <a:srgbClr val="F2F4F6"/>
                    </a:solidFill>
                  </a:tcPr>
                </a:tc>
                <a:tc>
                  <a:txBody>
                    <a:bodyPr/>
                    <a:lstStyle/>
                    <a:p>
                      <a:pPr>
                        <a:defRPr sz="1300" b="0">
                          <a:solidFill>
                            <a:srgbClr val="202020"/>
                          </a:solidFill>
                        </a:defRPr>
                      </a:pPr>
                      <a:r>
                        <a:t>cannot initialize output on stderr, no usage line, stdout empty</a:t>
                      </a:r>
                    </a:p>
                  </a:txBody>
                  <a:tcPr marL="73152" marT="27432" marB="27432">
                    <a:solidFill>
                      <a:srgbClr val="F2F4F6"/>
                    </a:solidFill>
                  </a:tcPr>
                </a:tc>
              </a:tr>
            </a:tbl>
          </a:graphicData>
        </a:graphic>
      </p:graphicFrame>
      <p:sp>
        <p:nvSpPr>
          <p:cNvPr id="6" name="TextBox 5"/>
          <p:cNvSpPr txBox="1"/>
          <p:nvPr/>
        </p:nvSpPr>
        <p:spPr>
          <a:xfrm>
            <a:off x="640080" y="3017520"/>
            <a:ext cx="10911535" cy="3474720"/>
          </a:xfrm>
          <a:prstGeom prst="rect">
            <a:avLst/>
          </a:prstGeom>
          <a:noFill/>
        </p:spPr>
        <p:txBody>
          <a:bodyPr wrap="square">
            <a:spAutoFit/>
          </a:bodyPr>
          <a:lstStyle/>
          <a:p>
            <a:pPr>
              <a:lnSpc>
                <a:spcPct val="108000"/>
              </a:lnSpc>
              <a:spcBef>
                <a:spcPts val="1000"/>
              </a:spcBef>
              <a:spcAft>
                <a:spcPts val="0"/>
              </a:spcAft>
            </a:pPr>
            <a:r>
              <a:rPr sz="1700">
                <a:solidFill>
                  <a:srgbClr val="202020"/>
                </a:solidFill>
              </a:rPr>
              <a:t>▪  A malformed regex taking code 1 is a decision rather than a deduction: the expression is something the user typed, so the failure is a usage failure even though it surfaces inside a library constructor.</a:t>
            </a:r>
          </a:p>
          <a:p>
            <a:pPr>
              <a:lnSpc>
                <a:spcPct val="108000"/>
              </a:lnSpc>
              <a:spcBef>
                <a:spcPts val="1000"/>
              </a:spcBef>
              <a:spcAft>
                <a:spcPts val="0"/>
              </a:spcAft>
            </a:pPr>
            <a:r>
              <a:rPr sz="1700">
                <a:solidFill>
                  <a:srgbClr val="202020"/>
                </a:solidFill>
              </a:rPr>
              <a:t>▪  Every exit is a return from main, never std::exit. The sink is a local of main, and only a return destroys it and flushes its stdout buffer - steps 3, 4, and 7 each write and then leave.</a:t>
            </a:r>
          </a:p>
          <a:p>
            <a:pPr>
              <a:lnSpc>
                <a:spcPct val="108000"/>
              </a:lnSpc>
              <a:spcBef>
                <a:spcPts val="1000"/>
              </a:spcBef>
              <a:spcAft>
                <a:spcPts val="0"/>
              </a:spcAft>
            </a:pPr>
            <a:r>
              <a:rPr sz="1700">
                <a:solidFill>
                  <a:srgbClr val="202020"/>
                </a:solidFill>
              </a:rPr>
              <a:t>▪  One rule pairs with it: nothing writes to stderr before stdout has been flushed.</a:t>
            </a:r>
          </a:p>
          <a:p>
            <a:pPr lvl="1" marL="384048" indent="0">
              <a:lnSpc>
                <a:spcPct val="108000"/>
              </a:lnSpc>
              <a:spcBef>
                <a:spcPts val="300"/>
              </a:spcBef>
              <a:spcAft>
                <a:spcPts val="0"/>
              </a:spcAft>
            </a:pPr>
            <a:r>
              <a:rPr sz="1400">
                <a:solidFill>
                  <a:srgbClr val="55606B"/>
                </a:solidFill>
              </a:rPr>
              <a:t>–  Deferred flushing plus a unit-buffered std::cerr is a reordering hazard, and two rules stated in the specifications are what keep it from being one in practice.</a:t>
            </a:r>
          </a:p>
          <a:p>
            <a:pPr>
              <a:lnSpc>
                <a:spcPct val="108000"/>
              </a:lnSpc>
              <a:spcBef>
                <a:spcPts val="1000"/>
              </a:spcBef>
              <a:spcAft>
                <a:spcPts val="0"/>
              </a:spcAft>
            </a:pPr>
            <a:r>
              <a:rPr sz="1700">
                <a:solidFill>
                  <a:srgbClr val="202020"/>
                </a:solidFill>
              </a:rPr>
              <a:t>▪  Two stated limits: no per-file state in the binary, and no non-ASCII characters in argv - char* argv[] on Windows is not decoded to Unicode, a limit of this implementation rather than a departure from the parent.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spcAft>
                <a:spcPts val="200"/>
              </a:spcAft>
              <a:defRPr sz="1200" b="1">
                <a:solidFill>
                  <a:srgbClr val="8EB4D4"/>
                </a:solidFill>
              </a:defRPr>
            </a:pPr>
            <a:r>
              <a:t>CMDLINE</a:t>
            </a:r>
          </a:p>
          <a:p>
            <a:pPr>
              <a:defRPr sz="3000" b="1">
                <a:solidFill>
                  <a:srgbClr val="FFFFFF"/>
                </a:solidFill>
              </a:defRPr>
            </a:pPr>
            <a:r>
              <a:t>Cmdline: the Only Place That Knows the Switches</a:t>
            </a:r>
          </a:p>
        </p:txBody>
      </p:sp>
      <p:sp>
        <p:nvSpPr>
          <p:cNvPr id="5" name="TextBox 4"/>
          <p:cNvSpPr txBox="1"/>
          <p:nvPr/>
        </p:nvSpPr>
        <p:spPr>
          <a:xfrm>
            <a:off x="640080" y="1417320"/>
            <a:ext cx="10911535" cy="5074920"/>
          </a:xfrm>
          <a:prstGeom prst="rect">
            <a:avLst/>
          </a:prstGeom>
          <a:noFill/>
        </p:spPr>
        <p:txBody>
          <a:bodyPr wrap="square">
            <a:spAutoFit/>
          </a:bodyPr>
          <a:lstStyle/>
          <a:p>
            <a:pPr>
              <a:lnSpc>
                <a:spcPct val="108000"/>
              </a:lnSpc>
              <a:spcBef>
                <a:spcPts val="1000"/>
              </a:spcBef>
              <a:spcAft>
                <a:spcPts val="0"/>
              </a:spcAft>
            </a:pPr>
            <a:r>
              <a:rPr sz="1800">
                <a:solidFill>
                  <a:srgbClr val="202020"/>
                </a:solidFill>
              </a:rPr>
              <a:t>▪  Four functions and one struct, exported at global scope. Global scope is a requirement rather than a preference - a module name is not a namespace.</a:t>
            </a:r>
          </a:p>
        </p:txBody>
      </p:sp>
      <p:sp>
        <p:nvSpPr>
          <p:cNvPr id="6" name="Rectangle 5"/>
          <p:cNvSpPr/>
          <p:nvPr/>
        </p:nvSpPr>
        <p:spPr>
          <a:xfrm>
            <a:off x="868680" y="2148840"/>
            <a:ext cx="8961120" cy="301752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58568"/>
            <a:ext cx="8595360" cy="2798064"/>
          </a:xfrm>
          <a:prstGeom prst="rect">
            <a:avLst/>
          </a:prstGeom>
          <a:noFill/>
        </p:spPr>
        <p:txBody>
          <a:bodyPr wrap="square">
            <a:spAutoFit/>
          </a:bodyPr>
          <a:lstStyle/>
          <a:p>
            <a:pPr>
              <a:spcAft>
                <a:spcPts val="0"/>
              </a:spcAft>
              <a:defRPr sz="1200">
                <a:solidFill>
                  <a:srgbClr val="D8E2EC"/>
                </a:solidFill>
                <a:latin typeface="Consolas"/>
              </a:defRPr>
            </a:pPr>
            <a:r>
              <a:t>export struct ProgramCommands {</a:t>
            </a:r>
          </a:p>
          <a:p>
            <a:pPr>
              <a:spcAft>
                <a:spcPts val="0"/>
              </a:spcAft>
              <a:defRPr sz="1200">
                <a:solidFill>
                  <a:srgbClr val="D8E2EC"/>
                </a:solidFill>
                <a:latin typeface="Consolas"/>
              </a:defRPr>
            </a:pPr>
            <a:r>
              <a:t>    std::vector&lt;std::string&gt; rootPaths{"."};          // /P</a:t>
            </a:r>
          </a:p>
          <a:p>
            <a:pPr>
              <a:spcAft>
                <a:spcPts val="0"/>
              </a:spcAft>
              <a:defRPr sz="1200">
                <a:solidFill>
                  <a:srgbClr val="D8E2EC"/>
                </a:solidFill>
                <a:latin typeface="Consolas"/>
              </a:defRPr>
            </a:pPr>
            <a:r>
              <a:t>    std::vector&lt;std::string&gt; extensions{};            // /p</a:t>
            </a:r>
          </a:p>
          <a:p>
            <a:pPr>
              <a:spcAft>
                <a:spcPts val="0"/>
              </a:spcAft>
              <a:defRPr sz="1200">
                <a:solidFill>
                  <a:srgbClr val="D8E2EC"/>
                </a:solidFill>
                <a:latin typeface="Consolas"/>
              </a:defRPr>
            </a:pPr>
            <a:r>
              <a:t>    std::string              regexText{"."};          // /r</a:t>
            </a:r>
          </a:p>
          <a:p>
            <a:pPr>
              <a:spcAft>
                <a:spcPts val="0"/>
              </a:spcAft>
              <a:defRPr sz="1200">
                <a:solidFill>
                  <a:srgbClr val="D8E2EC"/>
                </a:solidFill>
                <a:latin typeface="Consolas"/>
              </a:defRPr>
            </a:pPr>
            <a:r>
              <a:t>    bool                     recurse{true};           // /s</a:t>
            </a:r>
          </a:p>
          <a:p>
            <a:pPr>
              <a:spcAft>
                <a:spcPts val="0"/>
              </a:spcAft>
              <a:defRPr sz="1200">
                <a:solidFill>
                  <a:srgbClr val="D8E2EC"/>
                </a:solidFill>
                <a:latin typeface="Consolas"/>
              </a:defRPr>
            </a:pPr>
            <a:r>
              <a:t>    bool                     suppressOnNoMatch{true}; // /h</a:t>
            </a:r>
          </a:p>
          <a:p>
            <a:pPr>
              <a:spcAft>
                <a:spcPts val="0"/>
              </a:spcAft>
              <a:defRPr sz="1200">
                <a:solidFill>
                  <a:srgbClr val="D8E2EC"/>
                </a:solidFill>
                <a:latin typeface="Consolas"/>
              </a:defRPr>
            </a:pPr>
            <a:r>
              <a:t>    ...</a:t>
            </a:r>
          </a:p>
          <a:p>
            <a:pPr>
              <a:spcAft>
                <a:spcPts val="0"/>
              </a:spcAft>
              <a:defRPr sz="1200">
                <a:solidFill>
                  <a:srgbClr val="D8E2EC"/>
                </a:solidFill>
                <a:latin typeface="Consolas"/>
              </a:defRPr>
            </a:pPr>
            <a:r>
              <a:t>};</a:t>
            </a:r>
          </a:p>
          <a:p>
            <a:pPr>
              <a:spcAft>
                <a:spcPts val="0"/>
              </a:spcAft>
              <a:defRPr sz="1200">
                <a:solidFill>
                  <a:srgbClr val="D8E2EC"/>
                </a:solidFill>
                <a:latin typeface="Consolas"/>
              </a:defRPr>
            </a:pPr>
          </a:p>
          <a:p>
            <a:pPr>
              <a:spcAft>
                <a:spcPts val="0"/>
              </a:spcAft>
              <a:defRPr sz="1200">
                <a:solidFill>
                  <a:srgbClr val="D8E2EC"/>
                </a:solidFill>
                <a:latin typeface="Consolas"/>
              </a:defRPr>
            </a:pPr>
            <a:r>
              <a:t>export std::expected&lt;ProgramCommands, std::string&gt; parse(int argc, char* argv[]);</a:t>
            </a:r>
          </a:p>
          <a:p>
            <a:pPr>
              <a:spcAft>
                <a:spcPts val="0"/>
              </a:spcAft>
              <a:defRPr sz="1200">
                <a:solidFill>
                  <a:srgbClr val="D8E2EC"/>
                </a:solidFill>
                <a:latin typeface="Consolas"/>
              </a:defRPr>
            </a:pPr>
            <a:r>
              <a:t>export std::string usageLine();</a:t>
            </a:r>
          </a:p>
          <a:p>
            <a:pPr>
              <a:spcAft>
                <a:spcPts val="0"/>
              </a:spcAft>
              <a:defRPr sz="1200">
                <a:solidFill>
                  <a:srgbClr val="D8E2EC"/>
                </a:solidFill>
                <a:latin typeface="Consolas"/>
              </a:defRPr>
            </a:pPr>
            <a:r>
              <a:t>export std::string helpText();</a:t>
            </a:r>
          </a:p>
          <a:p>
            <a:pPr>
              <a:spcAft>
                <a:spcPts val="0"/>
              </a:spcAft>
              <a:defRPr sz="1200">
                <a:solidFill>
                  <a:srgbClr val="D8E2EC"/>
                </a:solidFill>
                <a:latin typeface="Consolas"/>
              </a:defRPr>
            </a:pPr>
            <a:r>
              <a:t>export std::string optionsText(const ProgramCommands&amp; commands);</a:t>
            </a:r>
          </a:p>
        </p:txBody>
      </p:sp>
      <p:sp>
        <p:nvSpPr>
          <p:cNvPr id="8" name="TextBox 7"/>
          <p:cNvSpPr txBox="1"/>
          <p:nvPr/>
        </p:nvSpPr>
        <p:spPr>
          <a:xfrm>
            <a:off x="640080" y="5303520"/>
            <a:ext cx="10911535" cy="1188720"/>
          </a:xfrm>
          <a:prstGeom prst="rect">
            <a:avLst/>
          </a:prstGeom>
          <a:noFill/>
        </p:spPr>
        <p:txBody>
          <a:bodyPr wrap="square">
            <a:spAutoFit/>
          </a:bodyPr>
          <a:lstStyle/>
          <a:p>
            <a:pPr>
              <a:lnSpc>
                <a:spcPct val="108000"/>
              </a:lnSpc>
              <a:spcBef>
                <a:spcPts val="1000"/>
              </a:spcBef>
              <a:spcAft>
                <a:spcPts val="0"/>
              </a:spcAft>
            </a:pPr>
            <a:r>
              <a:rPr sz="1700">
                <a:solidFill>
                  <a:srgbClr val="202020"/>
                </a:solidFill>
              </a:rPr>
              <a:t>▪  parse returns std::expected because the binary needs two things from a failure: the signal, and the text to write.</a:t>
            </a:r>
          </a:p>
          <a:p>
            <a:pPr>
              <a:lnSpc>
                <a:spcPct val="108000"/>
              </a:lnSpc>
              <a:spcBef>
                <a:spcPts val="1000"/>
              </a:spcBef>
              <a:spcAft>
                <a:spcPts val="0"/>
              </a:spcAft>
            </a:pPr>
            <a:r>
              <a:rPr sz="1700">
                <a:solidFill>
                  <a:srgbClr val="202020"/>
                </a:solidFill>
              </a:rPr>
              <a:t>▪  It opens no stream and touches no filesystem, which is what lets its unit suite check rendered text as a string rather than by capturing output.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spcAft>
                <a:spcPts val="200"/>
              </a:spcAft>
              <a:defRPr sz="1200" b="1">
                <a:solidFill>
                  <a:srgbClr val="8EB4D4"/>
                </a:solidFill>
              </a:defRPr>
            </a:pPr>
            <a:r>
              <a:t>CMDLINE</a:t>
            </a:r>
          </a:p>
          <a:p>
            <a:pPr>
              <a:defRPr sz="3000" b="1">
                <a:solidFill>
                  <a:srgbClr val="FFFFFF"/>
                </a:solidFill>
              </a:defRPr>
            </a:pPr>
            <a:r>
              <a:t>Defaults in the Initializers, and Four Parsing Rules</a:t>
            </a:r>
          </a:p>
        </p:txBody>
      </p:sp>
      <p:sp>
        <p:nvSpPr>
          <p:cNvPr id="5" name="TextBox 4"/>
          <p:cNvSpPr txBox="1"/>
          <p:nvPr/>
        </p:nvSpPr>
        <p:spPr>
          <a:xfrm>
            <a:off x="640080" y="1463040"/>
            <a:ext cx="10911535" cy="5029200"/>
          </a:xfrm>
          <a:prstGeom prst="rect">
            <a:avLst/>
          </a:prstGeom>
          <a:noFill/>
        </p:spPr>
        <p:txBody>
          <a:bodyPr wrap="square">
            <a:spAutoFit/>
          </a:bodyPr>
          <a:lstStyle/>
          <a:p>
            <a:pPr>
              <a:lnSpc>
                <a:spcPct val="108000"/>
              </a:lnSpc>
              <a:spcBef>
                <a:spcPts val="1000"/>
              </a:spcBef>
              <a:spcAft>
                <a:spcPts val="0"/>
              </a:spcAft>
            </a:pPr>
            <a:r>
              <a:rPr sz="1700">
                <a:solidFill>
                  <a:srgbClr val="202020"/>
                </a:solidFill>
              </a:rPr>
              <a:t>▪  The field comments are the switch-to-field mapping, and the initializers are the sole authority in code for the nine defaults.</a:t>
            </a:r>
          </a:p>
          <a:p>
            <a:pPr lvl="1" marL="384048" indent="0">
              <a:lnSpc>
                <a:spcPct val="108000"/>
              </a:lnSpc>
              <a:spcBef>
                <a:spcPts val="300"/>
              </a:spcBef>
              <a:spcAft>
                <a:spcPts val="0"/>
              </a:spcAft>
            </a:pPr>
            <a:r>
              <a:rPr sz="1400">
                <a:solidFill>
                  <a:srgbClr val="55606B"/>
                </a:solidFill>
              </a:rPr>
              <a:t>–  A default-constructed ProgramCommands equals the result of parsing an empty command line, which makes the bare-command-line case a one-liner.</a:t>
            </a:r>
          </a:p>
          <a:p>
            <a:pPr lvl="1" marL="384048" indent="0">
              <a:lnSpc>
                <a:spcPct val="108000"/>
              </a:lnSpc>
              <a:spcBef>
                <a:spcPts val="300"/>
              </a:spcBef>
              <a:spcAft>
                <a:spcPts val="0"/>
              </a:spcAft>
            </a:pPr>
            <a:r>
              <a:rPr sz="1400">
                <a:solidFill>
                  <a:srgbClr val="55606B"/>
                </a:solidFill>
              </a:rPr>
              <a:t>–  That single authority was won by deleting two others - a duplicate C++ table, and a help block that moved up to bind four languages instead of one.</a:t>
            </a:r>
          </a:p>
          <a:p>
            <a:pPr lvl="1" marL="384048" indent="0">
              <a:lnSpc>
                <a:spcPct val="108000"/>
              </a:lnSpc>
              <a:spcBef>
                <a:spcPts val="300"/>
              </a:spcBef>
              <a:spcAft>
                <a:spcPts val="0"/>
              </a:spcAft>
            </a:pPr>
            <a:r>
              <a:rPr sz="1400">
                <a:solidFill>
                  <a:srgbClr val="55606B"/>
                </a:solidFill>
              </a:rPr>
              <a:t>–  "Sole authority in code" is load-bearing. The project spec remains the authority overall, and a disagreement is a defect in this file.</a:t>
            </a:r>
          </a:p>
          <a:p>
            <a:pPr>
              <a:lnSpc>
                <a:spcPct val="108000"/>
              </a:lnSpc>
              <a:spcBef>
                <a:spcPts val="1000"/>
              </a:spcBef>
              <a:spcAft>
                <a:spcPts val="0"/>
              </a:spcAft>
            </a:pPr>
            <a:r>
              <a:rPr sz="1700">
                <a:solidFill>
                  <a:srgbClr val="202020"/>
                </a:solidFill>
              </a:rPr>
              <a:t>▪  Rule 1 partitions the first two diagnostics rather than letting them overlap: no introducer is not a switch, any other introducer-led token is an unrecognized switch.</a:t>
            </a:r>
          </a:p>
          <a:p>
            <a:pPr lvl="1" marL="384048" indent="0">
              <a:lnSpc>
                <a:spcPct val="108000"/>
              </a:lnSpc>
              <a:spcBef>
                <a:spcPts val="300"/>
              </a:spcBef>
              <a:spcAft>
                <a:spcPts val="0"/>
              </a:spcAft>
            </a:pPr>
            <a:r>
              <a:rPr sz="1400">
                <a:solidFill>
                  <a:srgbClr val="55606B"/>
                </a:solidFill>
              </a:rPr>
              <a:t>–  Before the partition, /ss, -abc, and a bare / each satisfied both conditions.</a:t>
            </a:r>
          </a:p>
          <a:p>
            <a:pPr>
              <a:lnSpc>
                <a:spcPct val="108000"/>
              </a:lnSpc>
              <a:spcBef>
                <a:spcPts val="1000"/>
              </a:spcBef>
              <a:spcAft>
                <a:spcPts val="0"/>
              </a:spcAft>
            </a:pPr>
            <a:r>
              <a:rPr sz="1700">
                <a:solidFill>
                  <a:srgbClr val="202020"/>
                </a:solidFill>
              </a:rPr>
              <a:t>▪  Rule 4 has /P clear its default on first occurrence, carried as one bit of state rather than inferred - inferring would fail on -P . , indistinguishable from the default by value.</a:t>
            </a:r>
          </a:p>
          <a:p>
            <a:pPr>
              <a:lnSpc>
                <a:spcPct val="108000"/>
              </a:lnSpc>
              <a:spcBef>
                <a:spcPts val="1000"/>
              </a:spcBef>
              <a:spcAft>
                <a:spcPts val="0"/>
              </a:spcAft>
            </a:pPr>
            <a:r>
              <a:rPr sz="1700">
                <a:solidFill>
                  <a:srgbClr val="202020"/>
                </a:solidFill>
              </a:rPr>
              <a:t>▪  Normalization retains duplicates. An earlier dedup ran before the dot-strip, so /p ".cpp, cpp" kept both; dropping it entirely was simpler than reordering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spcAft>
                <a:spcPts val="200"/>
              </a:spcAft>
              <a:defRPr sz="1200" b="1">
                <a:solidFill>
                  <a:srgbClr val="8EB4D4"/>
                </a:solidFill>
              </a:defRPr>
            </a:pPr>
            <a:r>
              <a:t>DIRNAV</a:t>
            </a:r>
          </a:p>
          <a:p>
            <a:pPr>
              <a:defRPr sz="3000" b="1">
                <a:solidFill>
                  <a:srgbClr val="FFFFFF"/>
                </a:solidFill>
              </a:defRPr>
            </a:pPr>
            <a:r>
              <a:t>Dirnav: One Class Template</a:t>
            </a:r>
          </a:p>
        </p:txBody>
      </p:sp>
      <p:sp>
        <p:nvSpPr>
          <p:cNvPr id="5" name="Rectangle 4"/>
          <p:cNvSpPr/>
          <p:nvPr/>
        </p:nvSpPr>
        <p:spPr>
          <a:xfrm>
            <a:off x="640080" y="1463040"/>
            <a:ext cx="10881360" cy="210312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72768"/>
            <a:ext cx="10515600" cy="1883664"/>
          </a:xfrm>
          <a:prstGeom prst="rect">
            <a:avLst/>
          </a:prstGeom>
          <a:noFill/>
        </p:spPr>
        <p:txBody>
          <a:bodyPr wrap="square">
            <a:spAutoFit/>
          </a:bodyPr>
          <a:lstStyle/>
          <a:p>
            <a:pPr>
              <a:spcAft>
                <a:spcPts val="0"/>
              </a:spcAft>
              <a:defRPr sz="1250">
                <a:solidFill>
                  <a:srgbClr val="D8E2EC"/>
                </a:solidFill>
                <a:latin typeface="Consolas"/>
              </a:defRPr>
            </a:pPr>
            <a:r>
              <a:t>export template &lt;typename Out&gt;</a:t>
            </a:r>
          </a:p>
          <a:p>
            <a:pPr>
              <a:spcAft>
                <a:spcPts val="0"/>
              </a:spcAft>
              <a:defRPr sz="1250">
                <a:solidFill>
                  <a:srgbClr val="D8E2EC"/>
                </a:solidFill>
                <a:latin typeface="Consolas"/>
              </a:defRPr>
            </a:pPr>
            <a:r>
              <a:t>    requires std::derived_from&lt;Out, Output&gt;</a:t>
            </a:r>
          </a:p>
          <a:p>
            <a:pPr>
              <a:spcAft>
                <a:spcPts val="0"/>
              </a:spcAft>
              <a:defRPr sz="1250">
                <a:solidFill>
                  <a:srgbClr val="D8E2EC"/>
                </a:solidFill>
                <a:latin typeface="Consolas"/>
              </a:defRPr>
            </a:pPr>
            <a:r>
              <a:t>class Cpp_TextFinder_Dirnav {</a:t>
            </a:r>
          </a:p>
          <a:p>
            <a:pPr>
              <a:spcAft>
                <a:spcPts val="0"/>
              </a:spcAft>
              <a:defRPr sz="1250">
                <a:solidFill>
                  <a:srgbClr val="D8E2EC"/>
                </a:solidFill>
                <a:latin typeface="Consolas"/>
              </a:defRPr>
            </a:pPr>
            <a:r>
              <a:t>public:</a:t>
            </a:r>
          </a:p>
          <a:p>
            <a:pPr>
              <a:spcAft>
                <a:spcPts val="0"/>
              </a:spcAft>
              <a:defRPr sz="1250">
                <a:solidFill>
                  <a:srgbClr val="D8E2EC"/>
                </a:solidFill>
                <a:latin typeface="Consolas"/>
              </a:defRPr>
            </a:pPr>
            <a:r>
              <a:t>    Cpp_TextFinder_Dirnav(Out&amp; out, const SkipList&amp; skips, const ProgramCommands&amp; commands);</a:t>
            </a:r>
          </a:p>
          <a:p>
            <a:pPr>
              <a:spcAft>
                <a:spcPts val="0"/>
              </a:spcAft>
              <a:defRPr sz="1250">
                <a:solidFill>
                  <a:srgbClr val="D8E2EC"/>
                </a:solidFill>
                <a:latin typeface="Consolas"/>
              </a:defRPr>
            </a:pPr>
            <a:r>
              <a:t>    void search(const std::filesystem::path&amp; root);</a:t>
            </a:r>
          </a:p>
          <a:p>
            <a:pPr>
              <a:spcAft>
                <a:spcPts val="0"/>
              </a:spcAft>
              <a:defRPr sz="1250">
                <a:solidFill>
                  <a:srgbClr val="D8E2EC"/>
                </a:solidFill>
                <a:latin typeface="Consolas"/>
              </a:defRPr>
            </a:pPr>
            <a:r>
              <a:t>    void emitRunSummary();</a:t>
            </a:r>
          </a:p>
          <a:p>
            <a:pPr>
              <a:spcAft>
                <a:spcPts val="0"/>
              </a:spcAft>
              <a:defRPr sz="1250">
                <a:solidFill>
                  <a:srgbClr val="D8E2EC"/>
                </a:solidFill>
                <a:latin typeface="Consolas"/>
              </a:defRPr>
            </a:pPr>
            <a:r>
              <a:t>};</a:t>
            </a:r>
          </a:p>
        </p:txBody>
      </p:sp>
      <p:sp>
        <p:nvSpPr>
          <p:cNvPr id="7" name="TextBox 6"/>
          <p:cNvSpPr txBox="1"/>
          <p:nvPr/>
        </p:nvSpPr>
        <p:spPr>
          <a:xfrm>
            <a:off x="640080" y="3749039"/>
            <a:ext cx="10911535" cy="2743201"/>
          </a:xfrm>
          <a:prstGeom prst="rect">
            <a:avLst/>
          </a:prstGeom>
          <a:noFill/>
        </p:spPr>
        <p:txBody>
          <a:bodyPr wrap="square">
            <a:spAutoFit/>
          </a:bodyPr>
          <a:lstStyle/>
          <a:p>
            <a:pPr>
              <a:lnSpc>
                <a:spcPct val="108000"/>
              </a:lnSpc>
              <a:spcBef>
                <a:spcPts val="1000"/>
              </a:spcBef>
              <a:spcAft>
                <a:spcPts val="0"/>
              </a:spcAft>
            </a:pPr>
            <a:r>
              <a:rPr sz="1700">
                <a:solidFill>
                  <a:srgbClr val="202020"/>
                </a:solidFill>
              </a:rPr>
              <a:t>▪  It declares the Output base class it does not implement, which is what puts the sink downstream of it in the import chain. The polymorphism is a compile-time check rather than a runtime dispatch.</a:t>
            </a:r>
          </a:p>
          <a:p>
            <a:pPr>
              <a:lnSpc>
                <a:spcPct val="108000"/>
              </a:lnSpc>
              <a:spcBef>
                <a:spcPts val="1000"/>
              </a:spcBef>
              <a:spcAft>
                <a:spcPts val="0"/>
              </a:spcAft>
            </a:pPr>
            <a:r>
              <a:rPr sz="1700">
                <a:solidFill>
                  <a:srgbClr val="202020"/>
                </a:solidFill>
              </a:rPr>
              <a:t>▪  One instance serves every root path, so the expression compiles once per run. The constructor uses std::regex with std::regex::ECMAScript and lets std::regex_error propagate.</a:t>
            </a:r>
          </a:p>
          <a:p>
            <a:pPr>
              <a:lnSpc>
                <a:spcPct val="108000"/>
              </a:lnSpc>
              <a:spcBef>
                <a:spcPts val="1000"/>
              </a:spcBef>
              <a:spcAft>
                <a:spcPts val="0"/>
              </a:spcAft>
            </a:pPr>
            <a:r>
              <a:rPr sz="1700">
                <a:solidFill>
                  <a:srgbClr val="202020"/>
                </a:solidFill>
              </a:rPr>
              <a:t>▪  search returns nothing - every failure it meets is announced through Output, so the caller has nothing to report on its behalf.</a:t>
            </a:r>
          </a:p>
          <a:p>
            <a:pPr>
              <a:lnSpc>
                <a:spcPct val="108000"/>
              </a:lnSpc>
              <a:spcBef>
                <a:spcPts val="1000"/>
              </a:spcBef>
              <a:spcAft>
                <a:spcPts val="0"/>
              </a:spcAft>
            </a:pPr>
            <a:r>
              <a:rPr sz="1700">
                <a:solidFill>
                  <a:srgbClr val="202020"/>
                </a:solidFill>
              </a:rPr>
              <a:t>▪  emitRunSummary takes no argument and returns nothing. No accessor is exported for either count: the line is the whole of what they are for.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spcAft>
                <a:spcPts val="200"/>
              </a:spcAft>
              <a:defRPr sz="1200" b="1">
                <a:solidFill>
                  <a:srgbClr val="8EB4D4"/>
                </a:solidFill>
              </a:defRPr>
            </a:pPr>
            <a:r>
              <a:t>DIRNAV</a:t>
            </a:r>
          </a:p>
          <a:p>
            <a:pPr>
              <a:defRPr sz="3000" b="1">
                <a:solidFill>
                  <a:srgbClr val="FFFFFF"/>
                </a:solidFill>
              </a:defRPr>
            </a:pPr>
            <a:r>
              <a:t>Traversal, and the Calls Rejected by Name</a:t>
            </a:r>
          </a:p>
        </p:txBody>
      </p:sp>
      <p:sp>
        <p:nvSpPr>
          <p:cNvPr id="5" name="TextBox 4"/>
          <p:cNvSpPr txBox="1"/>
          <p:nvPr/>
        </p:nvSpPr>
        <p:spPr>
          <a:xfrm>
            <a:off x="640080" y="1463040"/>
            <a:ext cx="10911535" cy="5029200"/>
          </a:xfrm>
          <a:prstGeom prst="rect">
            <a:avLst/>
          </a:prstGeom>
          <a:noFill/>
        </p:spPr>
        <p:txBody>
          <a:bodyPr wrap="square">
            <a:spAutoFit/>
          </a:bodyPr>
          <a:lstStyle/>
          <a:p>
            <a:pPr>
              <a:lnSpc>
                <a:spcPct val="108000"/>
              </a:lnSpc>
              <a:spcBef>
                <a:spcPts val="1000"/>
              </a:spcBef>
              <a:spcAft>
                <a:spcPts val="0"/>
              </a:spcAft>
            </a:pPr>
            <a:r>
              <a:rPr sz="1600">
                <a:solidFill>
                  <a:srgbClr val="202020"/>
                </a:solidFill>
              </a:rPr>
              <a:t>▪  The recursion is written explicitly. walk iterates one directory and calls itself on each subdirectory it decides to enter, so entries are handled as directory_iterator yields them.</a:t>
            </a:r>
          </a:p>
          <a:p>
            <a:pPr>
              <a:lnSpc>
                <a:spcPct val="108000"/>
              </a:lnSpc>
              <a:spcBef>
                <a:spcPts val="1000"/>
              </a:spcBef>
              <a:spcAft>
                <a:spcPts val="0"/>
              </a:spcAft>
            </a:pPr>
            <a:r>
              <a:rPr sz="1600">
                <a:solidFill>
                  <a:srgbClr val="202020"/>
                </a:solidFill>
              </a:rPr>
              <a:t>▪  recursive_directory_iterator is not used - /s and the skip list both decide whether to enter a directory, and a recursive iterator would have to be told after the fact.</a:t>
            </a:r>
          </a:p>
          <a:p>
            <a:pPr>
              <a:lnSpc>
                <a:spcPct val="108000"/>
              </a:lnSpc>
              <a:spcBef>
                <a:spcPts val="1000"/>
              </a:spcBef>
              <a:spcAft>
                <a:spcPts val="0"/>
              </a:spcAft>
            </a:pPr>
            <a:r>
              <a:rPr sz="1600">
                <a:solidFill>
                  <a:srgbClr val="202020"/>
                </a:solidFill>
              </a:rPr>
              <a:t>▪  path::extension() is rejected by name: it returns an empty string for .gitignore, where the specification gives that file the extension gitignore. u8string() is rejected too - it will not compare against std::string.</a:t>
            </a:r>
          </a:p>
          <a:p>
            <a:pPr>
              <a:lnSpc>
                <a:spcPct val="108000"/>
              </a:lnSpc>
              <a:spcBef>
                <a:spcPts val="1000"/>
              </a:spcBef>
              <a:spcAft>
                <a:spcPts val="0"/>
              </a:spcAft>
            </a:pPr>
            <a:r>
              <a:rPr sz="1600">
                <a:solidFill>
                  <a:srgbClr val="202020"/>
                </a:solidFill>
              </a:rPr>
              <a:t>▪  generic_string() is the instructive rejection, because it looks correct and behaves differently on the two target platforms.</a:t>
            </a:r>
          </a:p>
          <a:p>
            <a:pPr lvl="1" marL="384048" indent="0">
              <a:lnSpc>
                <a:spcPct val="108000"/>
              </a:lnSpc>
              <a:spcBef>
                <a:spcPts val="300"/>
              </a:spcBef>
              <a:spcAft>
                <a:spcPts val="0"/>
              </a:spcAft>
            </a:pPr>
            <a:r>
              <a:rPr sz="1350">
                <a:solidFill>
                  <a:srgbClr val="55606B"/>
                </a:solidFill>
              </a:rPr>
              <a:t>–  On POSIX it copies bytes and cannot fail, so an invalid byte sequence passes straight through unexamined.</a:t>
            </a:r>
          </a:p>
          <a:p>
            <a:pPr lvl="1" marL="384048" indent="0">
              <a:lnSpc>
                <a:spcPct val="108000"/>
              </a:lnSpc>
              <a:spcBef>
                <a:spcPts val="300"/>
              </a:spcBef>
              <a:spcAft>
                <a:spcPts val="0"/>
              </a:spcAft>
            </a:pPr>
            <a:r>
              <a:rPr sz="1350">
                <a:solidFill>
                  <a:srgbClr val="55606B"/>
                </a:solidFill>
              </a:rPr>
              <a:t>–  On Windows it must convert UTF-16 to narrow, and an unpaired surrogate has no encoding - the standard has that conversion throw, out of the walk, where nothing catches it.</a:t>
            </a:r>
          </a:p>
          <a:p>
            <a:pPr lvl="1" marL="384048" indent="0">
              <a:lnSpc>
                <a:spcPct val="108000"/>
              </a:lnSpc>
              <a:spcBef>
                <a:spcPts val="300"/>
              </a:spcBef>
              <a:spcAft>
                <a:spcPts val="0"/>
              </a:spcAft>
            </a:pPr>
            <a:r>
              <a:rPr sz="1350">
                <a:solidFill>
                  <a:srgbClr val="55606B"/>
                </a:solidFill>
              </a:rPr>
              <a:t>–  renderPath replaces it and behaves the same on both: generic form, U+FFFD for each unit that will not render, and a second return saying whether it substituted any.</a:t>
            </a:r>
          </a:p>
          <a:p>
            <a:pPr>
              <a:lnSpc>
                <a:spcPct val="108000"/>
              </a:lnSpc>
              <a:spcBef>
                <a:spcPts val="1000"/>
              </a:spcBef>
              <a:spcAft>
                <a:spcPts val="0"/>
              </a:spcAft>
            </a:pPr>
            <a:r>
              <a:rPr sz="1600">
                <a:solidFill>
                  <a:srgbClr val="202020"/>
                </a:solidFill>
              </a:rPr>
              <a:t>▪  The loop advances with entry.increment(error) rather than ++, because the throwing overload would turn a directory that becomes unreadable mid-iteration into an exception with no route to Output.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spcAft>
                <a:spcPts val="200"/>
              </a:spcAft>
              <a:defRPr sz="1200" b="1">
                <a:solidFill>
                  <a:srgbClr val="8EB4D4"/>
                </a:solidFill>
              </a:defRPr>
            </a:pPr>
            <a:r>
              <a:t>DIRNAV</a:t>
            </a:r>
          </a:p>
          <a:p>
            <a:pPr>
              <a:defRPr sz="3000" b="1">
                <a:solidFill>
                  <a:srgbClr val="FFFFFF"/>
                </a:solidFill>
              </a:defRPr>
            </a:pPr>
            <a:r>
              <a:t>Admission, the No-Content Case, and the Two Counts</a:t>
            </a:r>
          </a:p>
        </p:txBody>
      </p:sp>
      <p:sp>
        <p:nvSpPr>
          <p:cNvPr id="5" name="TextBox 4"/>
          <p:cNvSpPr txBox="1"/>
          <p:nvPr/>
        </p:nvSpPr>
        <p:spPr>
          <a:xfrm>
            <a:off x="640080" y="1417320"/>
            <a:ext cx="10911535" cy="5074920"/>
          </a:xfrm>
          <a:prstGeom prst="rect">
            <a:avLst/>
          </a:prstGeom>
          <a:noFill/>
        </p:spPr>
        <p:txBody>
          <a:bodyPr wrap="square">
            <a:spAutoFit/>
          </a:bodyPr>
          <a:lstStyle/>
          <a:p>
            <a:pPr>
              <a:lnSpc>
                <a:spcPct val="108000"/>
              </a:lnSpc>
              <a:spcBef>
                <a:spcPts val="1000"/>
              </a:spcBef>
              <a:spcAft>
                <a:spcPts val="0"/>
              </a:spcAft>
            </a:pPr>
            <a:r>
              <a:rPr sz="1800">
                <a:solidFill>
                  <a:srgbClr val="202020"/>
                </a:solidFill>
              </a:rPr>
              <a:t>▪  examine applies the three admission tests in the order the specification fixes. Size reads metadata; NUL and UTF-8 read bytes.</a:t>
            </a:r>
          </a:p>
          <a:p>
            <a:pPr>
              <a:lnSpc>
                <a:spcPct val="108000"/>
              </a:lnSpc>
              <a:spcBef>
                <a:spcPts val="1000"/>
              </a:spcBef>
              <a:spcAft>
                <a:spcPts val="0"/>
              </a:spcAft>
            </a:pPr>
            <a:r>
              <a:rPr sz="1800">
                <a:solidFill>
                  <a:srgbClr val="202020"/>
                </a:solidFill>
              </a:rPr>
              <a:t>▪  The no-content case is two constructor flags, recorded once for the whole run.</a:t>
            </a:r>
          </a:p>
        </p:txBody>
      </p:sp>
      <p:sp>
        <p:nvSpPr>
          <p:cNvPr id="6" name="Rectangle 5"/>
          <p:cNvSpPr/>
          <p:nvPr/>
        </p:nvSpPr>
        <p:spPr>
          <a:xfrm>
            <a:off x="868680" y="2606040"/>
            <a:ext cx="8229600" cy="86868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715768"/>
            <a:ext cx="7863840" cy="649224"/>
          </a:xfrm>
          <a:prstGeom prst="rect">
            <a:avLst/>
          </a:prstGeom>
          <a:noFill/>
        </p:spPr>
        <p:txBody>
          <a:bodyPr wrap="square">
            <a:spAutoFit/>
          </a:bodyPr>
          <a:lstStyle/>
          <a:p>
            <a:pPr>
              <a:spcAft>
                <a:spcPts val="0"/>
              </a:spcAft>
              <a:defRPr sz="1300">
                <a:solidFill>
                  <a:srgbClr val="D8E2EC"/>
                </a:solidFill>
                <a:latin typeface="Consolas"/>
              </a:defRPr>
            </a:pPr>
            <a:r>
              <a:t>pathOnly_{!commands.lineNumbers &amp;&amp; !commands.matchedLine},</a:t>
            </a:r>
          </a:p>
          <a:p>
            <a:pPr>
              <a:spcAft>
                <a:spcPts val="0"/>
              </a:spcAft>
              <a:defRPr sz="1300">
                <a:solidFill>
                  <a:srgbClr val="D8E2EC"/>
                </a:solidFill>
                <a:latin typeface="Consolas"/>
              </a:defRPr>
            </a:pPr>
            <a:r>
              <a:t>contentNotNeeded_{pathOnly_ &amp;&amp; commands.regexText == "."}</a:t>
            </a:r>
          </a:p>
        </p:txBody>
      </p:sp>
      <p:sp>
        <p:nvSpPr>
          <p:cNvPr id="8" name="TextBox 7"/>
          <p:cNvSpPr txBox="1"/>
          <p:nvPr/>
        </p:nvSpPr>
        <p:spPr>
          <a:xfrm>
            <a:off x="640080" y="3657600"/>
            <a:ext cx="10911535" cy="2834640"/>
          </a:xfrm>
          <a:prstGeom prst="rect">
            <a:avLst/>
          </a:prstGeom>
          <a:noFill/>
        </p:spPr>
        <p:txBody>
          <a:bodyPr wrap="square">
            <a:spAutoFit/>
          </a:bodyPr>
          <a:lstStyle/>
          <a:p>
            <a:pPr lvl="1" marL="384048" indent="0">
              <a:lnSpc>
                <a:spcPct val="108000"/>
              </a:lnSpc>
              <a:spcBef>
                <a:spcPts val="300"/>
              </a:spcBef>
              <a:spcAft>
                <a:spcPts val="0"/>
              </a:spcAft>
            </a:pPr>
            <a:r>
              <a:rPr sz="1400">
                <a:solidFill>
                  <a:srgbClr val="55606B"/>
                </a:solidFill>
              </a:rPr>
              <a:t>–  A selected file that passes the size test and is not empty produces a path line, and std::ifstream is never opened for it.</a:t>
            </a:r>
          </a:p>
          <a:p>
            <a:pPr>
              <a:lnSpc>
                <a:spcPct val="108000"/>
              </a:lnSpc>
              <a:spcBef>
                <a:spcPts val="1000"/>
              </a:spcBef>
              <a:spcAft>
                <a:spcPts val="0"/>
              </a:spcAft>
            </a:pPr>
            <a:r>
              <a:rPr sz="1700">
                <a:solidFill>
                  <a:srgbClr val="202020"/>
                </a:solidFill>
              </a:rPr>
              <a:t>▪  validUtf8 rejects truncated sequences, overlong encodings, encoded surrogates, and scalar values above U+10FFFF - one line each, with the reason named, because four named rejections are four test cases.</a:t>
            </a:r>
          </a:p>
          <a:p>
            <a:pPr>
              <a:lnSpc>
                <a:spcPct val="108000"/>
              </a:lnSpc>
              <a:spcBef>
                <a:spcPts val="1000"/>
              </a:spcBef>
              <a:spcAft>
                <a:spcPts val="0"/>
              </a:spcAft>
            </a:pPr>
            <a:r>
              <a:rPr sz="1700">
                <a:solidFill>
                  <a:srgbClr val="202020"/>
                </a:solidFill>
              </a:rPr>
              <a:t>▪  The run counts are two increments, each at the one point that decides the count.</a:t>
            </a:r>
          </a:p>
          <a:p>
            <a:pPr lvl="1" marL="384048" indent="0">
              <a:lnSpc>
                <a:spcPct val="108000"/>
              </a:lnSpc>
              <a:spcBef>
                <a:spcPts val="300"/>
              </a:spcBef>
              <a:spcAft>
                <a:spcPts val="0"/>
              </a:spcAft>
            </a:pPr>
            <a:r>
              <a:rPr sz="1400">
                <a:solidFill>
                  <a:srgbClr val="55606B"/>
                </a:solidFill>
              </a:rPr>
              <a:t>–  Files, in examine, after the /p test admits the file and before file_size is called - so a file later announced too large is counted.</a:t>
            </a:r>
          </a:p>
          <a:p>
            <a:pPr lvl="1" marL="384048" indent="0">
              <a:lnSpc>
                <a:spcPct val="108000"/>
              </a:lnSpc>
              <a:spcBef>
                <a:spcPts val="300"/>
              </a:spcBef>
              <a:spcAft>
                <a:spcPts val="0"/>
              </a:spcAft>
            </a:pPr>
            <a:r>
              <a:rPr sz="1400">
                <a:solidFill>
                  <a:srgbClr val="55606B"/>
                </a:solidFill>
              </a:rPr>
              <a:t>–  Directories, at the head of walk, before directory_iterator is constructed - so a directory that cannot be enumerated is counted and announced alike.</a:t>
            </a:r>
          </a:p>
          <a:p>
            <a:pPr>
              <a:lnSpc>
                <a:spcPct val="108000"/>
              </a:lnSpc>
              <a:spcBef>
                <a:spcPts val="1000"/>
              </a:spcBef>
              <a:spcAft>
                <a:spcPts val="0"/>
              </a:spcAft>
            </a:pPr>
            <a:r>
              <a:rPr sz="1700">
                <a:solidFill>
                  <a:srgbClr val="202020"/>
                </a:solidFill>
              </a:rPr>
              <a:t>▪  Everything the specification excludes is excluded by where those two lines sit rather than by a test of its own.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spcAft>
                <a:spcPts val="200"/>
              </a:spcAft>
              <a:defRPr sz="1200" b="1">
                <a:solidFill>
                  <a:srgbClr val="8EB4D4"/>
                </a:solidFill>
              </a:defRPr>
            </a:pPr>
            <a:r>
              <a:t>DIRNAV</a:t>
            </a:r>
          </a:p>
          <a:p>
            <a:pPr>
              <a:defRPr sz="3000" b="1">
                <a:solidFill>
                  <a:srgbClr val="FFFFFF"/>
                </a:solidFill>
              </a:defRPr>
            </a:pPr>
            <a:r>
              <a:t>The Linkage Rule the Build Taught</a:t>
            </a:r>
          </a:p>
        </p:txBody>
      </p:sp>
      <p:sp>
        <p:nvSpPr>
          <p:cNvPr id="5" name="TextBox 4"/>
          <p:cNvSpPr txBox="1"/>
          <p:nvPr/>
        </p:nvSpPr>
        <p:spPr>
          <a:xfrm>
            <a:off x="640080" y="1463040"/>
            <a:ext cx="10911535" cy="5029200"/>
          </a:xfrm>
          <a:prstGeom prst="rect">
            <a:avLst/>
          </a:prstGeom>
          <a:noFill/>
        </p:spPr>
        <p:txBody>
          <a:bodyPr wrap="square">
            <a:spAutoFit/>
          </a:bodyPr>
          <a:lstStyle/>
          <a:p>
            <a:pPr>
              <a:lnSpc>
                <a:spcPct val="108000"/>
              </a:lnSpc>
              <a:spcBef>
                <a:spcPts val="1000"/>
              </a:spcBef>
              <a:spcAft>
                <a:spcPts val="0"/>
              </a:spcAft>
            </a:pPr>
            <a:r>
              <a:rPr sz="1800">
                <a:solidFill>
                  <a:srgbClr val="202020"/>
                </a:solidFill>
              </a:rPr>
              <a:t>▪  Every helper sits at module scope, not exported and marked inline - sameName, utf8Sequence, validUtf8, renderPath, baseName, displayPath, renderable, splitLines.</a:t>
            </a:r>
          </a:p>
          <a:p>
            <a:pPr>
              <a:lnSpc>
                <a:spcPct val="108000"/>
              </a:lnSpc>
              <a:spcBef>
                <a:spcPts val="1000"/>
              </a:spcBef>
              <a:spcAft>
                <a:spcPts val="0"/>
              </a:spcAft>
            </a:pPr>
            <a:r>
              <a:rPr sz="1800">
                <a:solidFill>
                  <a:srgbClr val="202020"/>
                </a:solidFill>
              </a:rPr>
              <a:t>▪  They were written first in an anonymous namespace, which is the reflex for "private to this file".</a:t>
            </a:r>
          </a:p>
          <a:p>
            <a:pPr lvl="1" marL="384048" indent="0">
              <a:lnSpc>
                <a:spcPct val="108000"/>
              </a:lnSpc>
              <a:spcBef>
                <a:spcPts val="300"/>
              </a:spcBef>
              <a:spcAft>
                <a:spcPts val="0"/>
              </a:spcAft>
            </a:pPr>
            <a:r>
              <a:rPr sz="1500">
                <a:solidFill>
                  <a:srgbClr val="55606B"/>
                </a:solidFill>
              </a:rPr>
              <a:t>–  That gives them internal linkage. The class template that calls them is instantiated in main.cpp's translation unit, which therefore could not resolve them.</a:t>
            </a:r>
          </a:p>
          <a:p>
            <a:pPr lvl="1" marL="384048" indent="0">
              <a:lnSpc>
                <a:spcPct val="108000"/>
              </a:lnSpc>
              <a:spcBef>
                <a:spcPts val="300"/>
              </a:spcBef>
              <a:spcAft>
                <a:spcPts val="0"/>
              </a:spcAft>
            </a:pPr>
            <a:r>
              <a:rPr sz="1500">
                <a:solidFill>
                  <a:srgbClr val="55606B"/>
                </a:solidFill>
              </a:rPr>
              <a:t>–  Every translation unit compiled. The build failed at link with five unresolved externals.</a:t>
            </a:r>
          </a:p>
          <a:p>
            <a:pPr>
              <a:lnSpc>
                <a:spcPct val="108000"/>
              </a:lnSpc>
              <a:spcBef>
                <a:spcPts val="1000"/>
              </a:spcBef>
              <a:spcAft>
                <a:spcPts val="0"/>
              </a:spcAft>
            </a:pPr>
            <a:r>
              <a:rPr sz="1800">
                <a:solidFill>
                  <a:srgbClr val="202020"/>
                </a:solidFill>
              </a:rPr>
              <a:t>▪  Non-exported inline functions at module scope solve both halves: module linkage keeps them invisible to importers, and inline lets the instantiating translation unit emit its own copy.</a:t>
            </a:r>
          </a:p>
          <a:p>
            <a:pPr>
              <a:lnSpc>
                <a:spcPct val="108000"/>
              </a:lnSpc>
              <a:spcBef>
                <a:spcPts val="1000"/>
              </a:spcBef>
              <a:spcAft>
                <a:spcPts val="0"/>
              </a:spcAft>
            </a:pPr>
            <a:r>
              <a:rPr sz="1800">
                <a:solidFill>
                  <a:srgbClr val="202020"/>
                </a:solidFill>
              </a:rPr>
              <a:t>▪  This is the one place in the project where the code carries a comment about the language rather than about the specification, and it earns it - the reflex answer compiles and does not link, and the failure names five symbols rather than the rule that was broken.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spcAft>
                <a:spcPts val="200"/>
              </a:spcAft>
              <a:defRPr sz="1200" b="1">
                <a:solidFill>
                  <a:srgbClr val="8EB4D4"/>
                </a:solidFill>
              </a:defRPr>
            </a:pPr>
            <a:r>
              <a:t>OUTPUT</a:t>
            </a:r>
          </a:p>
          <a:p>
            <a:pPr>
              <a:defRPr sz="3000" b="1">
                <a:solidFill>
                  <a:srgbClr val="FFFFFF"/>
                </a:solidFill>
              </a:defRPr>
            </a:pPr>
            <a:r>
              <a:t>Output: the Sink, and One Stream Mode</a:t>
            </a:r>
          </a:p>
        </p:txBody>
      </p:sp>
      <p:sp>
        <p:nvSpPr>
          <p:cNvPr id="5" name="TextBox 4"/>
          <p:cNvSpPr txBox="1"/>
          <p:nvPr/>
        </p:nvSpPr>
        <p:spPr>
          <a:xfrm>
            <a:off x="640080" y="1417320"/>
            <a:ext cx="10911535" cy="5074920"/>
          </a:xfrm>
          <a:prstGeom prst="rect">
            <a:avLst/>
          </a:prstGeom>
          <a:noFill/>
        </p:spPr>
        <p:txBody>
          <a:bodyPr wrap="square">
            <a:spAutoFit/>
          </a:bodyPr>
          <a:lstStyle/>
          <a:p>
            <a:pPr>
              <a:lnSpc>
                <a:spcPct val="108000"/>
              </a:lnSpc>
              <a:spcBef>
                <a:spcPts val="1000"/>
              </a:spcBef>
              <a:spcAft>
                <a:spcPts val="0"/>
              </a:spcAft>
            </a:pPr>
            <a:r>
              <a:rPr sz="1800">
                <a:solidFill>
                  <a:srgbClr val="202020"/>
                </a:solidFill>
              </a:rPr>
              <a:t>▪  It receives fully formed strings, writes each as one line, and adds nothing but the terminator. It does not know a block line from an announcement, does not indent a detail line, and does not apply /h, /n, or /L.</a:t>
            </a:r>
          </a:p>
          <a:p>
            <a:pPr>
              <a:lnSpc>
                <a:spcPct val="108000"/>
              </a:lnSpc>
              <a:spcBef>
                <a:spcPts val="1000"/>
              </a:spcBef>
              <a:spcAft>
                <a:spcPts val="0"/>
              </a:spcAft>
            </a:pPr>
            <a:r>
              <a:rPr sz="1800">
                <a:solidFill>
                  <a:srgbClr val="202020"/>
                </a:solidFill>
              </a:rPr>
              <a:t>▪  It takes no configuration - a decision with a history. Entry's specification said for several turns that the sink is constructed with formatting information, true of an earlier design; by the time this document was written, Dirnav had all the formatting.</a:t>
            </a:r>
          </a:p>
          <a:p>
            <a:pPr>
              <a:lnSpc>
                <a:spcPct val="108000"/>
              </a:lnSpc>
              <a:spcBef>
                <a:spcPts val="1000"/>
              </a:spcBef>
              <a:spcAft>
                <a:spcPts val="0"/>
              </a:spcAft>
            </a:pPr>
            <a:r>
              <a:rPr sz="1800">
                <a:solidFill>
                  <a:srgbClr val="202020"/>
                </a:solidFill>
              </a:rPr>
              <a:t>▪  That left a problem: a constructor with no arguments and no work cannot fail, yet Entry already handled a construction failure with exit code 2. Binary mode is what the constructor was given to do.</a:t>
            </a:r>
          </a:p>
        </p:txBody>
      </p:sp>
      <p:sp>
        <p:nvSpPr>
          <p:cNvPr id="6" name="Rectangle 5"/>
          <p:cNvSpPr/>
          <p:nvPr/>
        </p:nvSpPr>
        <p:spPr>
          <a:xfrm>
            <a:off x="868680" y="3931920"/>
            <a:ext cx="8595360" cy="192024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041648"/>
            <a:ext cx="8229600" cy="1700784"/>
          </a:xfrm>
          <a:prstGeom prst="rect">
            <a:avLst/>
          </a:prstGeom>
          <a:noFill/>
        </p:spPr>
        <p:txBody>
          <a:bodyPr wrap="square">
            <a:spAutoFit/>
          </a:bodyPr>
          <a:lstStyle/>
          <a:p>
            <a:pPr>
              <a:spcAft>
                <a:spcPts val="0"/>
              </a:spcAft>
              <a:defRPr sz="1250">
                <a:solidFill>
                  <a:srgbClr val="D8E2EC"/>
                </a:solidFill>
                <a:latin typeface="Consolas"/>
              </a:defRPr>
            </a:pPr>
            <a:r>
              <a:t>Cpp_TextFinder_Output::Cpp_TextFinder_Output() {</a:t>
            </a:r>
          </a:p>
          <a:p>
            <a:pPr>
              <a:spcAft>
                <a:spcPts val="0"/>
              </a:spcAft>
              <a:defRPr sz="1250">
                <a:solidFill>
                  <a:srgbClr val="D8E2EC"/>
                </a:solidFill>
                <a:latin typeface="Consolas"/>
              </a:defRPr>
            </a:pPr>
            <a:r>
              <a:t>    std::ios::sync_with_stdio(false);</a:t>
            </a:r>
          </a:p>
          <a:p>
            <a:pPr>
              <a:spcAft>
                <a:spcPts val="0"/>
              </a:spcAft>
              <a:defRPr sz="1250">
                <a:solidFill>
                  <a:srgbClr val="D8E2EC"/>
                </a:solidFill>
                <a:latin typeface="Consolas"/>
              </a:defRPr>
            </a:pPr>
            <a:r>
              <a:t>#ifdef _WIN32</a:t>
            </a:r>
          </a:p>
          <a:p>
            <a:pPr>
              <a:spcAft>
                <a:spcPts val="0"/>
              </a:spcAft>
              <a:defRPr sz="1250">
                <a:solidFill>
                  <a:srgbClr val="D8E2EC"/>
                </a:solidFill>
                <a:latin typeface="Consolas"/>
              </a:defRPr>
            </a:pPr>
            <a:r>
              <a:t>    if (_setmode(1, _O_BINARY) == -1)</a:t>
            </a:r>
          </a:p>
          <a:p>
            <a:pPr>
              <a:spcAft>
                <a:spcPts val="0"/>
              </a:spcAft>
              <a:defRPr sz="1250">
                <a:solidFill>
                  <a:srgbClr val="D8E2EC"/>
                </a:solidFill>
                <a:latin typeface="Consolas"/>
              </a:defRPr>
            </a:pPr>
            <a:r>
              <a:t>        throw std::runtime_error{"stdout cannot be set to binary mode"};</a:t>
            </a:r>
          </a:p>
          <a:p>
            <a:pPr>
              <a:spcAft>
                <a:spcPts val="0"/>
              </a:spcAft>
              <a:defRPr sz="1250">
                <a:solidFill>
                  <a:srgbClr val="D8E2EC"/>
                </a:solidFill>
                <a:latin typeface="Consolas"/>
              </a:defRPr>
            </a:pPr>
            <a:r>
              <a:t>#endif</a:t>
            </a:r>
          </a:p>
          <a:p>
            <a:pPr>
              <a:spcAft>
                <a:spcPts val="0"/>
              </a:spcAft>
              <a:defRPr sz="1250">
                <a:solidFill>
                  <a:srgbClr val="D8E2EC"/>
                </a:solidFill>
                <a:latin typeface="Consolas"/>
              </a:defRPr>
            </a:pPr>
            <a:r>
              <a:t>}</a:t>
            </a:r>
          </a:p>
        </p:txBody>
      </p:sp>
      <p:sp>
        <p:nvSpPr>
          <p:cNvPr id="8" name="TextBox 7"/>
          <p:cNvSpPr txBox="1"/>
          <p:nvPr/>
        </p:nvSpPr>
        <p:spPr>
          <a:xfrm>
            <a:off x="640080" y="5943600"/>
            <a:ext cx="10911535" cy="548640"/>
          </a:xfrm>
          <a:prstGeom prst="rect">
            <a:avLst/>
          </a:prstGeom>
          <a:noFill/>
        </p:spPr>
        <p:txBody>
          <a:bodyPr wrap="square">
            <a:spAutoFit/>
          </a:bodyPr>
          <a:lstStyle/>
          <a:p>
            <a:pPr>
              <a:lnSpc>
                <a:spcPct val="108000"/>
              </a:lnSpc>
              <a:spcBef>
                <a:spcPts val="1000"/>
              </a:spcBef>
              <a:spcAft>
                <a:spcPts val="0"/>
              </a:spcAft>
            </a:pPr>
            <a:r>
              <a:rPr sz="1600">
                <a:solidFill>
                  <a:srgbClr val="202020"/>
                </a:solidFill>
              </a:rPr>
              <a:t>▪  The rule has since moved up to the project specification, promoted on the C# case rather than the C++ one.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spcAft>
                <a:spcPts val="200"/>
              </a:spcAft>
              <a:defRPr sz="1200" b="1">
                <a:solidFill>
                  <a:srgbClr val="8EB4D4"/>
                </a:solidFill>
              </a:defRPr>
            </a:pPr>
            <a:r>
              <a:t>OUTPUT</a:t>
            </a:r>
          </a:p>
          <a:p>
            <a:pPr>
              <a:defRPr sz="3000" b="1">
                <a:solidFill>
                  <a:srgbClr val="FFFFFF"/>
                </a:solidFill>
              </a:defRPr>
            </a:pPr>
            <a:r>
              <a:t>Absorbing Failure, Deferring the Flush</a:t>
            </a:r>
          </a:p>
        </p:txBody>
      </p:sp>
      <p:sp>
        <p:nvSpPr>
          <p:cNvPr id="5" name="TextBox 4"/>
          <p:cNvSpPr txBox="1"/>
          <p:nvPr/>
        </p:nvSpPr>
        <p:spPr>
          <a:xfrm>
            <a:off x="640080" y="1463040"/>
            <a:ext cx="10911535" cy="5029200"/>
          </a:xfrm>
          <a:prstGeom prst="rect">
            <a:avLst/>
          </a:prstGeom>
          <a:noFill/>
        </p:spPr>
        <p:txBody>
          <a:bodyPr wrap="square">
            <a:spAutoFit/>
          </a:bodyPr>
          <a:lstStyle/>
          <a:p>
            <a:pPr>
              <a:lnSpc>
                <a:spcPct val="108000"/>
              </a:lnSpc>
              <a:spcBef>
                <a:spcPts val="1000"/>
              </a:spcBef>
              <a:spcAft>
                <a:spcPts val="0"/>
              </a:spcAft>
            </a:pPr>
            <a:r>
              <a:rPr sz="1700">
                <a:solidFill>
                  <a:srgbClr val="202020"/>
                </a:solidFill>
              </a:rPr>
              <a:t>▪  A failed write flushes stdout, writes one output failed line to stderr, and discards everything after. Three properties are stated in the specification rather than left to the code.</a:t>
            </a:r>
          </a:p>
          <a:p>
            <a:pPr lvl="1" marL="384048" indent="0">
              <a:lnSpc>
                <a:spcPct val="108000"/>
              </a:lnSpc>
              <a:spcBef>
                <a:spcPts val="300"/>
              </a:spcBef>
              <a:spcAft>
                <a:spcPts val="0"/>
              </a:spcAft>
            </a:pPr>
            <a:r>
              <a:rPr sz="1400">
                <a:solidFill>
                  <a:srgbClr val="55606B"/>
                </a:solidFill>
              </a:rPr>
              <a:t>–  The flush comes first, so every buffered line reaches the stream ahead of the notice explaining why the lines stop. It is best-effort.</a:t>
            </a:r>
          </a:p>
          <a:p>
            <a:pPr lvl="1" marL="384048" indent="0">
              <a:lnSpc>
                <a:spcPct val="108000"/>
              </a:lnSpc>
              <a:spcBef>
                <a:spcPts val="300"/>
              </a:spcBef>
              <a:spcAft>
                <a:spcPts val="0"/>
              </a:spcAft>
            </a:pPr>
            <a:r>
              <a:rPr sz="1400">
                <a:solidFill>
                  <a:srgbClr val="55606B"/>
                </a:solidFill>
              </a:rPr>
              <a:t>–  The failed state is permanent - one notice, not one per discarded line, which keeps a broken pipe from turning a long search into a long stderr transcript.</a:t>
            </a:r>
          </a:p>
          <a:p>
            <a:pPr lvl="1" marL="384048" indent="0">
              <a:lnSpc>
                <a:spcPct val="108000"/>
              </a:lnSpc>
              <a:spcBef>
                <a:spcPts val="300"/>
              </a:spcBef>
              <a:spcAft>
                <a:spcPts val="0"/>
              </a:spcAft>
            </a:pPr>
            <a:r>
              <a:rPr sz="1400">
                <a:solidFill>
                  <a:srgbClr val="55606B"/>
                </a:solidFill>
              </a:rPr>
              <a:t>–  The failure reaches no caller. The library never throws, never returns a status, and Dirnav goes on traversing.</a:t>
            </a:r>
          </a:p>
          <a:p>
            <a:pPr>
              <a:lnSpc>
                <a:spcPct val="108000"/>
              </a:lnSpc>
              <a:spcBef>
                <a:spcPts val="1000"/>
              </a:spcBef>
              <a:spcAft>
                <a:spcPts val="0"/>
              </a:spcAft>
            </a:pPr>
            <a:r>
              <a:rPr sz="1700">
                <a:solidFill>
                  <a:srgbClr val="202020"/>
                </a:solidFill>
              </a:rPr>
              <a:t>▪  A failed write does not affect the exit code. The exit code answers whether TextFinder could do what it was asked, not whether the reader received it.</a:t>
            </a:r>
          </a:p>
          <a:p>
            <a:pPr>
              <a:lnSpc>
                <a:spcPct val="108000"/>
              </a:lnSpc>
              <a:spcBef>
                <a:spcPts val="1000"/>
              </a:spcBef>
              <a:spcAft>
                <a:spcPts val="0"/>
              </a:spcAft>
            </a:pPr>
            <a:r>
              <a:rPr sz="1700">
                <a:solidFill>
                  <a:srgbClr val="202020"/>
                </a:solidFill>
              </a:rPr>
              <a:t>▪  No flush is performed per line - a run emitting 55 lines would pay 55 system calls for nothing. The stream is flushed when the instance is destroyed.</a:t>
            </a:r>
          </a:p>
          <a:p>
            <a:pPr lvl="1" marL="384048" indent="0">
              <a:lnSpc>
                <a:spcPct val="108000"/>
              </a:lnSpc>
              <a:spcBef>
                <a:spcPts val="300"/>
              </a:spcBef>
              <a:spcAft>
                <a:spcPts val="0"/>
              </a:spcAft>
            </a:pPr>
            <a:r>
              <a:rPr sz="1400">
                <a:solidFill>
                  <a:srgbClr val="55606B"/>
                </a:solidFill>
              </a:rPr>
              <a:t>–  That is the other half of Entry's every-exit-is-a-return rule: one requirement stated in two documents.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743200"/>
            <a:ext cx="109728" cy="1371600"/>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2651760"/>
            <a:ext cx="9814255" cy="1828800"/>
          </a:xfrm>
          <a:prstGeom prst="rect">
            <a:avLst/>
          </a:prstGeom>
          <a:noFill/>
        </p:spPr>
        <p:txBody>
          <a:bodyPr wrap="square">
            <a:spAutoFit/>
          </a:bodyPr>
          <a:lstStyle/>
          <a:p>
            <a:pPr>
              <a:defRPr sz="1400" b="1">
                <a:solidFill>
                  <a:srgbClr val="8EB4D4"/>
                </a:solidFill>
              </a:defRPr>
            </a:pPr>
            <a:r>
              <a:t>Part III</a:t>
            </a:r>
          </a:p>
          <a:p>
            <a:pPr>
              <a:defRPr sz="4000" b="1">
                <a:solidFill>
                  <a:srgbClr val="FFFFFF"/>
                </a:solidFill>
              </a:defRPr>
            </a:pPr>
            <a:r>
              <a:t>Verification</a:t>
            </a:r>
          </a:p>
          <a:p>
            <a:pPr>
              <a:spcBef>
                <a:spcPts val="1000"/>
              </a:spcBef>
              <a:defRPr sz="1700">
                <a:solidFill>
                  <a:srgbClr val="A9B8C6"/>
                </a:solidFill>
              </a:defRPr>
            </a:pPr>
            <a:r>
              <a:t>Four suites, eleven invocations, and what they found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spcAft>
                <a:spcPts val="200"/>
              </a:spcAft>
              <a:defRPr sz="1200" b="1">
                <a:solidFill>
                  <a:srgbClr val="8EB4D4"/>
                </a:solidFill>
              </a:defRPr>
            </a:pPr>
            <a:r>
              <a:t>TESTING</a:t>
            </a:r>
          </a:p>
          <a:p>
            <a:pPr>
              <a:defRPr sz="3000" b="1">
                <a:solidFill>
                  <a:srgbClr val="FFFFFF"/>
                </a:solidFill>
              </a:defRPr>
            </a:pPr>
            <a:r>
              <a:t>Four Suites, 151 Assertions, No Framework</a:t>
            </a:r>
          </a:p>
        </p:txBody>
      </p:sp>
      <p:graphicFrame>
        <p:nvGraphicFramePr>
          <p:cNvPr id="5" name="Table 4"/>
          <p:cNvGraphicFramePr>
            <a:graphicFrameLocks noGrp="1"/>
          </p:cNvGraphicFramePr>
          <p:nvPr/>
        </p:nvGraphicFramePr>
        <p:xfrm>
          <a:off x="640080" y="1463040"/>
          <a:ext cx="10881360" cy="1600200"/>
        </p:xfrm>
        <a:graphic>
          <a:graphicData uri="http://schemas.openxmlformats.org/drawingml/2006/table">
            <a:tbl>
              <a:tblPr firstRow="1" bandRow="1">
                <a:tableStyleId>{5C22544A-7EE6-4342-B048-85BDC9FD1C3A}</a:tableStyleId>
              </a:tblPr>
              <a:tblGrid>
                <a:gridCol w="1371600"/>
                <a:gridCol w="1188720"/>
                <a:gridCol w="8321040"/>
              </a:tblGrid>
              <a:tr h="320040">
                <a:tc>
                  <a:txBody>
                    <a:bodyPr/>
                    <a:lstStyle/>
                    <a:p>
                      <a:pPr>
                        <a:defRPr sz="1300" b="1">
                          <a:solidFill>
                            <a:srgbClr val="FFFFFF"/>
                          </a:solidFill>
                        </a:defRPr>
                      </a:pPr>
                      <a:r>
                        <a:t>Suite</a:t>
                      </a:r>
                    </a:p>
                  </a:txBody>
                  <a:tcPr marL="73152" marT="27432" marB="27432">
                    <a:solidFill>
                      <a:srgbClr val="1E2B3A"/>
                    </a:solidFill>
                  </a:tcPr>
                </a:tc>
                <a:tc>
                  <a:txBody>
                    <a:bodyPr/>
                    <a:lstStyle/>
                    <a:p>
                      <a:pPr>
                        <a:defRPr sz="1300" b="1">
                          <a:solidFill>
                            <a:srgbClr val="FFFFFF"/>
                          </a:solidFill>
                        </a:defRPr>
                      </a:pPr>
                      <a:r>
                        <a:t>Assertions</a:t>
                      </a:r>
                    </a:p>
                  </a:txBody>
                  <a:tcPr marL="73152" marT="27432" marB="27432">
                    <a:solidFill>
                      <a:srgbClr val="1E2B3A"/>
                    </a:solidFill>
                  </a:tcPr>
                </a:tc>
                <a:tc>
                  <a:txBody>
                    <a:bodyPr/>
                    <a:lstStyle/>
                    <a:p>
                      <a:pPr>
                        <a:defRPr sz="1300" b="1">
                          <a:solidFill>
                            <a:srgbClr val="FFFFFF"/>
                          </a:solidFill>
                        </a:defRPr>
                      </a:pPr>
                      <a:r>
                        <a:t>What it covers</a:t>
                      </a:r>
                    </a:p>
                  </a:txBody>
                  <a:tcPr marL="73152" marT="27432" marB="27432">
                    <a:solidFill>
                      <a:srgbClr val="1E2B3A"/>
                    </a:solidFill>
                  </a:tcPr>
                </a:tc>
              </a:tr>
              <a:tr h="320040">
                <a:tc>
                  <a:txBody>
                    <a:bodyPr/>
                    <a:lstStyle/>
                    <a:p>
                      <a:pPr>
                        <a:defRPr sz="1250" b="0">
                          <a:solidFill>
                            <a:srgbClr val="202020"/>
                          </a:solidFill>
                        </a:defRPr>
                      </a:pPr>
                      <a:r>
                        <a:t>Cmdline</a:t>
                      </a:r>
                    </a:p>
                  </a:txBody>
                  <a:tcPr marL="73152" marT="27432" marB="27432">
                    <a:solidFill>
                      <a:srgbClr val="F2F4F6"/>
                    </a:solidFill>
                  </a:tcPr>
                </a:tc>
                <a:tc>
                  <a:txBody>
                    <a:bodyPr/>
                    <a:lstStyle/>
                    <a:p>
                      <a:pPr>
                        <a:defRPr sz="1250" b="0">
                          <a:solidFill>
                            <a:srgbClr val="202020"/>
                          </a:solidFill>
                        </a:defRPr>
                      </a:pPr>
                      <a:r>
                        <a:t>50</a:t>
                      </a:r>
                    </a:p>
                  </a:txBody>
                  <a:tcPr marL="73152" marT="27432" marB="27432">
                    <a:solidFill>
                      <a:srgbClr val="F2F4F6"/>
                    </a:solidFill>
                  </a:tcPr>
                </a:tc>
                <a:tc>
                  <a:txBody>
                    <a:bodyPr/>
                    <a:lstStyle/>
                    <a:p>
                      <a:pPr>
                        <a:defRPr sz="1250" b="0">
                          <a:solidFill>
                            <a:srgbClr val="202020"/>
                          </a:solidFill>
                        </a:defRPr>
                      </a:pPr>
                      <a:r>
                        <a:t>Every default, both introducers, boolean case folding, last-wins, /P accumulation, the /p normalization rules, all six parse diagnostics, the rendered help and listing</a:t>
                      </a:r>
                    </a:p>
                  </a:txBody>
                  <a:tcPr marL="73152" marT="27432" marB="27432">
                    <a:solidFill>
                      <a:srgbClr val="F2F4F6"/>
                    </a:solidFill>
                  </a:tcPr>
                </a:tc>
              </a:tr>
              <a:tr h="320040">
                <a:tc>
                  <a:txBody>
                    <a:bodyPr/>
                    <a:lstStyle/>
                    <a:p>
                      <a:pPr>
                        <a:defRPr sz="1250" b="0">
                          <a:solidFill>
                            <a:srgbClr val="202020"/>
                          </a:solidFill>
                        </a:defRPr>
                      </a:pPr>
                      <a:r>
                        <a:t>Dirnav</a:t>
                      </a:r>
                    </a:p>
                  </a:txBody>
                  <a:tcPr marL="73152" marT="27432" marB="27432">
                    <a:solidFill>
                      <a:srgbClr val="FFFFFF"/>
                    </a:solidFill>
                  </a:tcPr>
                </a:tc>
                <a:tc>
                  <a:txBody>
                    <a:bodyPr/>
                    <a:lstStyle/>
                    <a:p>
                      <a:pPr>
                        <a:defRPr sz="1250" b="0">
                          <a:solidFill>
                            <a:srgbClr val="202020"/>
                          </a:solidFill>
                        </a:defRPr>
                      </a:pPr>
                      <a:r>
                        <a:t>39</a:t>
                      </a:r>
                    </a:p>
                  </a:txBody>
                  <a:tcPr marL="73152" marT="27432" marB="27432">
                    <a:solidFill>
                      <a:srgbClr val="FFFFFF"/>
                    </a:solidFill>
                  </a:tcPr>
                </a:tc>
                <a:tc>
                  <a:txBody>
                    <a:bodyPr/>
                    <a:lstStyle/>
                    <a:p>
                      <a:pPr>
                        <a:defRPr sz="1250" b="0">
                          <a:solidFill>
                            <a:srgbClr val="202020"/>
                          </a:solidFill>
                        </a:defRPr>
                      </a:pPr>
                      <a:r>
                        <a:t>Skip-list pruning including the root carve-out, /p selection with the dot-file rule, /s false, all four block forms, /h gating, the three terminators, BOM, the 10 MB boundary</a:t>
                      </a:r>
                    </a:p>
                  </a:txBody>
                  <a:tcPr marL="73152" marT="27432" marB="27432">
                    <a:solidFill>
                      <a:srgbClr val="FFFFFF"/>
                    </a:solidFill>
                  </a:tcPr>
                </a:tc>
              </a:tr>
              <a:tr h="320040">
                <a:tc>
                  <a:txBody>
                    <a:bodyPr/>
                    <a:lstStyle/>
                    <a:p>
                      <a:pPr>
                        <a:defRPr sz="1250" b="0">
                          <a:solidFill>
                            <a:srgbClr val="202020"/>
                          </a:solidFill>
                        </a:defRPr>
                      </a:pPr>
                      <a:r>
                        <a:t>Output</a:t>
                      </a:r>
                    </a:p>
                  </a:txBody>
                  <a:tcPr marL="73152" marT="27432" marB="27432">
                    <a:solidFill>
                      <a:srgbClr val="F2F4F6"/>
                    </a:solidFill>
                  </a:tcPr>
                </a:tc>
                <a:tc>
                  <a:txBody>
                    <a:bodyPr/>
                    <a:lstStyle/>
                    <a:p>
                      <a:pPr>
                        <a:defRPr sz="1250" b="0">
                          <a:solidFill>
                            <a:srgbClr val="202020"/>
                          </a:solidFill>
                        </a:defRPr>
                      </a:pPr>
                      <a:r>
                        <a:t>9</a:t>
                      </a:r>
                    </a:p>
                  </a:txBody>
                  <a:tcPr marL="73152" marT="27432" marB="27432">
                    <a:solidFill>
                      <a:srgbClr val="F2F4F6"/>
                    </a:solidFill>
                  </a:tcPr>
                </a:tc>
                <a:tc>
                  <a:txBody>
                    <a:bodyPr/>
                    <a:lstStyle/>
                    <a:p>
                      <a:pPr>
                        <a:defRPr sz="1250" b="0">
                          <a:solidFill>
                            <a:srgbClr val="202020"/>
                          </a:solidFill>
                        </a:defRPr>
                      </a:pPr>
                      <a:r>
                        <a:t>The single LF terminator, the absence of CR, unchanged pass-through, dispatch through Output&amp;</a:t>
                      </a:r>
                    </a:p>
                  </a:txBody>
                  <a:tcPr marL="73152" marT="27432" marB="27432">
                    <a:solidFill>
                      <a:srgbClr val="F2F4F6"/>
                    </a:solidFill>
                  </a:tcPr>
                </a:tc>
              </a:tr>
              <a:tr h="320040">
                <a:tc>
                  <a:txBody>
                    <a:bodyPr/>
                    <a:lstStyle/>
                    <a:p>
                      <a:pPr>
                        <a:defRPr sz="1250" b="0">
                          <a:solidFill>
                            <a:srgbClr val="202020"/>
                          </a:solidFill>
                        </a:defRPr>
                      </a:pPr>
                      <a:r>
                        <a:t>Integration</a:t>
                      </a:r>
                    </a:p>
                  </a:txBody>
                  <a:tcPr marL="73152" marT="27432" marB="27432">
                    <a:solidFill>
                      <a:srgbClr val="FFFFFF"/>
                    </a:solidFill>
                  </a:tcPr>
                </a:tc>
                <a:tc>
                  <a:txBody>
                    <a:bodyPr/>
                    <a:lstStyle/>
                    <a:p>
                      <a:pPr>
                        <a:defRPr sz="1250" b="0">
                          <a:solidFill>
                            <a:srgbClr val="202020"/>
                          </a:solidFill>
                        </a:defRPr>
                      </a:pPr>
                      <a:r>
                        <a:t>53</a:t>
                      </a:r>
                    </a:p>
                  </a:txBody>
                  <a:tcPr marL="73152" marT="27432" marB="27432">
                    <a:solidFill>
                      <a:srgbClr val="FFFFFF"/>
                    </a:solidFill>
                  </a:tcPr>
                </a:tc>
                <a:tc>
                  <a:txBody>
                    <a:bodyPr/>
                    <a:lstStyle/>
                    <a:p>
                      <a:pPr>
                        <a:defRPr sz="1250" b="0">
                          <a:solidFill>
                            <a:srgbClr val="202020"/>
                          </a:solidFill>
                        </a:defRPr>
                      </a:pPr>
                      <a:r>
                        <a:t>The executable end to end: exit codes, stream routing, /H, the bare command line, the /v ordering, LF-only output, all seven usage diagnostics</a:t>
                      </a:r>
                    </a:p>
                  </a:txBody>
                  <a:tcPr marL="73152" marT="27432" marB="27432">
                    <a:solidFill>
                      <a:srgbClr val="FFFFFF"/>
                    </a:solidFill>
                  </a:tcPr>
                </a:tc>
              </a:tr>
            </a:tbl>
          </a:graphicData>
        </a:graphic>
      </p:graphicFrame>
      <p:sp>
        <p:nvSpPr>
          <p:cNvPr id="6" name="TextBox 5"/>
          <p:cNvSpPr txBox="1"/>
          <p:nvPr/>
        </p:nvSpPr>
        <p:spPr>
          <a:xfrm>
            <a:off x="640080" y="3566160"/>
            <a:ext cx="10911535" cy="2926080"/>
          </a:xfrm>
          <a:prstGeom prst="rect">
            <a:avLst/>
          </a:prstGeom>
          <a:noFill/>
        </p:spPr>
        <p:txBody>
          <a:bodyPr wrap="square">
            <a:spAutoFit/>
          </a:bodyPr>
          <a:lstStyle/>
          <a:p>
            <a:pPr>
              <a:lnSpc>
                <a:spcPct val="108000"/>
              </a:lnSpc>
              <a:spcBef>
                <a:spcPts val="1000"/>
              </a:spcBef>
              <a:spcAft>
                <a:spcPts val="0"/>
              </a:spcAft>
            </a:pPr>
            <a:r>
              <a:rPr sz="1700">
                <a:solidFill>
                  <a:srgbClr val="202020"/>
                </a:solidFill>
              </a:rPr>
              <a:t>▪  No test framework. The dependency rule confines the project to the standard library, so each test module carries its own small Checker struct.</a:t>
            </a:r>
          </a:p>
          <a:p>
            <a:pPr lvl="1" marL="384048" indent="0">
              <a:lnSpc>
                <a:spcPct val="108000"/>
              </a:lnSpc>
              <a:spcBef>
                <a:spcPts val="300"/>
              </a:spcBef>
              <a:spcAft>
                <a:spcPts val="0"/>
              </a:spcAft>
            </a:pPr>
            <a:r>
              <a:rPr sz="1400">
                <a:solidFill>
                  <a:srgbClr val="55606B"/>
                </a:solidFill>
              </a:rPr>
              <a:t>–  Factoring it into a shared module was proposed and rejected - a component that owns its own harness can be read and built alone.</a:t>
            </a:r>
          </a:p>
          <a:p>
            <a:pPr>
              <a:lnSpc>
                <a:spcPct val="108000"/>
              </a:lnSpc>
              <a:spcBef>
                <a:spcPts val="1000"/>
              </a:spcBef>
              <a:spcAft>
                <a:spcPts val="0"/>
              </a:spcAft>
            </a:pPr>
            <a:r>
              <a:rPr sz="1700">
                <a:solidFill>
                  <a:srgbClr val="202020"/>
                </a:solidFill>
              </a:rPr>
              <a:t>▪  The Dirnav and integration suites sort emitted lines before comparing, because the specification leaves a directory's entry order to the filesystem. A suite comparing unsorted output would assert a property the specification declines to guarantee.</a:t>
            </a:r>
          </a:p>
          <a:p>
            <a:pPr>
              <a:lnSpc>
                <a:spcPct val="108000"/>
              </a:lnSpc>
              <a:spcBef>
                <a:spcPts val="1000"/>
              </a:spcBef>
              <a:spcAft>
                <a:spcPts val="0"/>
              </a:spcAft>
            </a:pPr>
            <a:r>
              <a:rPr sz="1700">
                <a:solidFill>
                  <a:srgbClr val="202020"/>
                </a:solidFill>
              </a:rPr>
              <a:t>▪  The integration suite reads captured output back in binary, which is the only way to assert the LF rule at all.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spcAft>
                <a:spcPts val="200"/>
              </a:spcAft>
              <a:defRPr sz="1200" b="1">
                <a:solidFill>
                  <a:srgbClr val="8EB4D4"/>
                </a:solidFill>
              </a:defRPr>
            </a:pPr>
            <a:r>
              <a:t>TESTING</a:t>
            </a:r>
          </a:p>
          <a:p>
            <a:pPr>
              <a:defRPr sz="3000" b="1">
                <a:solidFill>
                  <a:srgbClr val="FFFFFF"/>
                </a:solidFill>
              </a:defRPr>
            </a:pPr>
            <a:r>
              <a:t>The Runners</a:t>
            </a:r>
          </a:p>
        </p:txBody>
      </p:sp>
      <p:sp>
        <p:nvSpPr>
          <p:cNvPr id="5" name="TextBox 4"/>
          <p:cNvSpPr txBox="1"/>
          <p:nvPr/>
        </p:nvSpPr>
        <p:spPr>
          <a:xfrm>
            <a:off x="640080" y="1463040"/>
            <a:ext cx="10911535" cy="5029200"/>
          </a:xfrm>
          <a:prstGeom prst="rect">
            <a:avLst/>
          </a:prstGeom>
          <a:noFill/>
        </p:spPr>
        <p:txBody>
          <a:bodyPr wrap="square">
            <a:spAutoFit/>
          </a:bodyPr>
          <a:lstStyle/>
          <a:p>
            <a:pPr>
              <a:lnSpc>
                <a:spcPct val="108000"/>
              </a:lnSpc>
              <a:spcBef>
                <a:spcPts val="1000"/>
              </a:spcBef>
              <a:spcAft>
                <a:spcPts val="0"/>
              </a:spcAft>
            </a:pPr>
            <a:r>
              <a:rPr sz="1600">
                <a:solidFill>
                  <a:srgbClr val="202020"/>
                </a:solidFill>
              </a:rPr>
              <a:t>▪  Three batch files, each bracketing a suite with a banner and an exit-status line, then printing a summary and returning the number of failed suites.</a:t>
            </a:r>
          </a:p>
          <a:p>
            <a:pPr>
              <a:lnSpc>
                <a:spcPct val="108000"/>
              </a:lnSpc>
              <a:spcBef>
                <a:spcPts val="1000"/>
              </a:spcBef>
              <a:spcAft>
                <a:spcPts val="0"/>
              </a:spcAft>
            </a:pPr>
            <a:r>
              <a:rPr sz="1600">
                <a:solidFill>
                  <a:srgbClr val="202020"/>
                </a:solidFill>
              </a:rPr>
              <a:t>▪  A suite that was never built is reported as not built: with its path and counted as a failure rather than skipped - the difference between a green run and a run that tested nothing.</a:t>
            </a:r>
          </a:p>
          <a:p>
            <a:pPr lvl="1" marL="384048" indent="0">
              <a:lnSpc>
                <a:spcPct val="108000"/>
              </a:lnSpc>
              <a:spcBef>
                <a:spcPts val="300"/>
              </a:spcBef>
              <a:spcAft>
                <a:spcPts val="0"/>
              </a:spcAft>
            </a:pPr>
            <a:r>
              <a:rPr sz="1350">
                <a:solidFill>
                  <a:srgbClr val="55606B"/>
                </a:solidFill>
              </a:rPr>
              <a:t>–  That failure path was verified by pointing the integration script at a nonexistent executable.</a:t>
            </a:r>
          </a:p>
          <a:p>
            <a:pPr>
              <a:lnSpc>
                <a:spcPct val="108000"/>
              </a:lnSpc>
              <a:spcBef>
                <a:spcPts val="1000"/>
              </a:spcBef>
              <a:spcAft>
                <a:spcPts val="0"/>
              </a:spcAft>
            </a:pPr>
            <a:r>
              <a:rPr sz="1600">
                <a:solidFill>
                  <a:srgbClr val="202020"/>
                </a:solidFill>
              </a:rPr>
              <a:t>▪  Each builds before its first suite, so a fresh checkout needs no separate step and a reader cannot run yesterday's binary against today's source. C++ pays more for that rule than either sibling.</a:t>
            </a:r>
          </a:p>
          <a:p>
            <a:pPr lvl="1" marL="384048" indent="0">
              <a:lnSpc>
                <a:spcPct val="108000"/>
              </a:lnSpc>
              <a:spcBef>
                <a:spcPts val="300"/>
              </a:spcBef>
              <a:spcAft>
                <a:spcPts val="0"/>
              </a:spcAft>
            </a:pPr>
            <a:r>
              <a:rPr sz="1350">
                <a:solidFill>
                  <a:srgbClr val="55606B"/>
                </a:solidFill>
              </a:rPr>
              <a:t>–  Configure when build\CMakeCache.txt is absent, then build in either case.</a:t>
            </a:r>
          </a:p>
          <a:p>
            <a:pPr lvl="1" marL="384048" indent="0">
              <a:lnSpc>
                <a:spcPct val="108000"/>
              </a:lnSpc>
              <a:spcBef>
                <a:spcPts val="300"/>
              </a:spcBef>
              <a:spcAft>
                <a:spcPts val="0"/>
              </a:spcAft>
            </a:pPr>
            <a:r>
              <a:rPr sz="1350">
                <a:solidFill>
                  <a:srgbClr val="55606B"/>
                </a:solidFill>
              </a:rPr>
              <a:t>–  The MSVC environment, when the shell lacks it: the runner asks vswhere for the latest installation with the C++ toolset and calls its vcvars64.bat inside its own setlocal.</a:t>
            </a:r>
          </a:p>
          <a:p>
            <a:pPr>
              <a:lnSpc>
                <a:spcPct val="108000"/>
              </a:lnSpc>
              <a:spcBef>
                <a:spcPts val="1000"/>
              </a:spcBef>
              <a:spcAft>
                <a:spcPts val="0"/>
              </a:spcAft>
            </a:pPr>
            <a:r>
              <a:rPr sz="1600">
                <a:solidFill>
                  <a:srgbClr val="202020"/>
                </a:solidFill>
              </a:rPr>
              <a:t>▪  Each holds the console after its summary. Two of the three held already and held in the wrong place; both now hold once, last, through one :hold subroutine.</a:t>
            </a:r>
          </a:p>
          <a:p>
            <a:pPr lvl="1" marL="384048" indent="0">
              <a:lnSpc>
                <a:spcPct val="108000"/>
              </a:lnSpc>
              <a:spcBef>
                <a:spcPts val="300"/>
              </a:spcBef>
              <a:spcAft>
                <a:spcPts val="0"/>
              </a:spcAft>
            </a:pPr>
            <a:r>
              <a:rPr sz="1350">
                <a:solidFill>
                  <a:srgbClr val="55606B"/>
                </a:solidFill>
              </a:rPr>
              <a:t>–  A pause leaves ERRORLEVEL untouched - worth stating because the opposite is widely assumed.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spcAft>
                <a:spcPts val="200"/>
              </a:spcAft>
              <a:defRPr sz="1200" b="1">
                <a:solidFill>
                  <a:srgbClr val="8EB4D4"/>
                </a:solidFill>
              </a:defRPr>
            </a:pPr>
            <a:r>
              <a:t>TESTING</a:t>
            </a:r>
          </a:p>
          <a:p>
            <a:pPr>
              <a:defRPr sz="3000" b="1">
                <a:solidFill>
                  <a:srgbClr val="FFFFFF"/>
                </a:solidFill>
              </a:defRPr>
            </a:pPr>
            <a:r>
              <a:t>What the First Run Found</a:t>
            </a:r>
          </a:p>
        </p:txBody>
      </p:sp>
      <p:sp>
        <p:nvSpPr>
          <p:cNvPr id="5" name="TextBox 4"/>
          <p:cNvSpPr txBox="1"/>
          <p:nvPr/>
        </p:nvSpPr>
        <p:spPr>
          <a:xfrm>
            <a:off x="640080" y="1463040"/>
            <a:ext cx="10911535" cy="5029200"/>
          </a:xfrm>
          <a:prstGeom prst="rect">
            <a:avLst/>
          </a:prstGeom>
          <a:noFill/>
        </p:spPr>
        <p:txBody>
          <a:bodyPr wrap="square">
            <a:spAutoFit/>
          </a:bodyPr>
          <a:lstStyle/>
          <a:p>
            <a:pPr>
              <a:lnSpc>
                <a:spcPct val="108000"/>
              </a:lnSpc>
              <a:spcBef>
                <a:spcPts val="1000"/>
              </a:spcBef>
              <a:spcAft>
                <a:spcPts val="0"/>
              </a:spcAft>
            </a:pPr>
            <a:r>
              <a:rPr sz="1700">
                <a:solidFill>
                  <a:srgbClr val="202020"/>
                </a:solidFill>
              </a:rPr>
              <a:t>▪  The three unit suites passed on their first run. Eight integration assertions failed with expected and actual text that looked identical - the signature of CRLF against LF.</a:t>
            </a:r>
          </a:p>
          <a:p>
            <a:pPr>
              <a:lnSpc>
                <a:spcPct val="108000"/>
              </a:lnSpc>
              <a:spcBef>
                <a:spcPts val="1000"/>
              </a:spcBef>
              <a:spcAft>
                <a:spcPts val="0"/>
              </a:spcAft>
            </a:pPr>
            <a:r>
              <a:rPr sz="1700">
                <a:solidFill>
                  <a:srgbClr val="202020"/>
                </a:solidFill>
              </a:rPr>
              <a:t>▪  Two outputs bypassed the sink: the /H help text went to std::cout before the sink was constructed, and the usage diagnostics go to std::cerr, which is never set to binary.</a:t>
            </a:r>
          </a:p>
          <a:p>
            <a:pPr>
              <a:lnSpc>
                <a:spcPct val="108000"/>
              </a:lnSpc>
              <a:spcBef>
                <a:spcPts val="1000"/>
              </a:spcBef>
              <a:spcAft>
                <a:spcPts val="0"/>
              </a:spcAft>
            </a:pPr>
            <a:r>
              <a:rPr sz="1700">
                <a:solidFill>
                  <a:srgbClr val="202020"/>
                </a:solidFill>
              </a:rPr>
              <a:t>▪  Whether that was a defect depended on how the specifications were read then, and the record says so rather than deciding.</a:t>
            </a:r>
          </a:p>
          <a:p>
            <a:pPr lvl="1" marL="384048" indent="0">
              <a:lnSpc>
                <a:spcPct val="108000"/>
              </a:lnSpc>
              <a:spcBef>
                <a:spcPts val="300"/>
              </a:spcBef>
              <a:spcAft>
                <a:spcPts val="0"/>
              </a:spcAft>
            </a:pPr>
            <a:r>
              <a:rPr sz="1400">
                <a:solidFill>
                  <a:srgbClr val="55606B"/>
                </a:solidFill>
              </a:rPr>
              <a:t>–  The specification has since conceded half the argument: 5.2 no longer binds the reason lines, so the contradiction is gone because the claim it contradicted is gone.</a:t>
            </a:r>
          </a:p>
          <a:p>
            <a:pPr lvl="1" marL="384048" indent="0">
              <a:lnSpc>
                <a:spcPct val="108000"/>
              </a:lnSpc>
              <a:spcBef>
                <a:spcPts val="300"/>
              </a:spcBef>
              <a:spcAft>
                <a:spcPts val="0"/>
              </a:spcAft>
            </a:pPr>
            <a:r>
              <a:rPr sz="1400">
                <a:solidFill>
                  <a:srgbClr val="55606B"/>
                </a:solidFill>
              </a:rPr>
              <a:t>–  The other half closed for an unrelated reason - the step swap moved /H after Output construction, so the help text now carries LF and the suite asserts it.</a:t>
            </a:r>
          </a:p>
          <a:p>
            <a:pPr>
              <a:lnSpc>
                <a:spcPct val="108000"/>
              </a:lnSpc>
              <a:spcBef>
                <a:spcPts val="1000"/>
              </a:spcBef>
              <a:spcAft>
                <a:spcPts val="0"/>
              </a:spcAft>
            </a:pPr>
            <a:r>
              <a:rPr sz="1700">
                <a:solidFill>
                  <a:srgbClr val="202020"/>
                </a:solidFill>
              </a:rPr>
              <a:t>▪  Assertion counts have moved four times, and each move was a specification change rather than a test change: 48/19/8/40, then 48/22/8/41, then 48/24/8/42, then 50/28/9/49.</a:t>
            </a:r>
          </a:p>
          <a:p>
            <a:pPr>
              <a:lnSpc>
                <a:spcPct val="108000"/>
              </a:lnSpc>
              <a:spcBef>
                <a:spcPts val="1000"/>
              </a:spcBef>
              <a:spcAft>
                <a:spcPts val="0"/>
              </a:spcAft>
            </a:pPr>
            <a:r>
              <a:rPr sz="1700">
                <a:solidFill>
                  <a:srgbClr val="202020"/>
                </a:solidFill>
              </a:rPr>
              <a:t>▪  One change did not move them, and that is named as a gap rather than glossed: no fixture builds a file name that will not render, so the substitution branch of renderPath is currently unchecked.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spcAft>
                <a:spcPts val="200"/>
              </a:spcAft>
              <a:defRPr sz="1200" b="1">
                <a:solidFill>
                  <a:srgbClr val="8EB4D4"/>
                </a:solidFill>
              </a:defRPr>
            </a:pPr>
            <a:r>
              <a:t>DEMONSTRATION</a:t>
            </a:r>
          </a:p>
          <a:p>
            <a:pPr>
              <a:defRPr sz="3000" b="1">
                <a:solidFill>
                  <a:srgbClr val="FFFFFF"/>
                </a:solidFill>
              </a:defRPr>
            </a:pPr>
            <a:r>
              <a:t>Demonstration: Eleven Invocations</a:t>
            </a:r>
          </a:p>
        </p:txBody>
      </p:sp>
      <p:sp>
        <p:nvSpPr>
          <p:cNvPr id="5" name="TextBox 4"/>
          <p:cNvSpPr txBox="1"/>
          <p:nvPr/>
        </p:nvSpPr>
        <p:spPr>
          <a:xfrm>
            <a:off x="640080" y="1417320"/>
            <a:ext cx="10911535" cy="5074920"/>
          </a:xfrm>
          <a:prstGeom prst="rect">
            <a:avLst/>
          </a:prstGeom>
          <a:noFill/>
        </p:spPr>
        <p:txBody>
          <a:bodyPr wrap="square">
            <a:spAutoFit/>
          </a:bodyPr>
          <a:lstStyle/>
          <a:p>
            <a:pPr>
              <a:lnSpc>
                <a:spcPct val="108000"/>
              </a:lnSpc>
              <a:spcBef>
                <a:spcPts val="1000"/>
              </a:spcBef>
              <a:spcAft>
                <a:spcPts val="0"/>
              </a:spcAft>
            </a:pPr>
            <a:r>
              <a:rPr sz="1700">
                <a:solidFill>
                  <a:srgbClr val="202020"/>
                </a:solidFill>
              </a:rPr>
              <a:t>▪  The built executable run against this project's own tree, rooted at Spec_driven_TextFinder/. Every block is captured output - nothing is paraphrased, reconstructed from the specification, or edited after capture.</a:t>
            </a:r>
          </a:p>
          <a:p>
            <a:pPr>
              <a:lnSpc>
                <a:spcPct val="108000"/>
              </a:lnSpc>
              <a:spcBef>
                <a:spcPts val="1000"/>
              </a:spcBef>
              <a:spcAft>
                <a:spcPts val="0"/>
              </a:spcAft>
            </a:pPr>
            <a:r>
              <a:rPr sz="1700">
                <a:solidFill>
                  <a:srgbClr val="202020"/>
                </a:solidFill>
              </a:rPr>
              <a:t>▪  Each block takes the same six parts: the purpose, the echoed command line, at most 14 output lines, the run summary when the excerpt withheld it, each stderr line, and the total line count with the exit code.</a:t>
            </a:r>
          </a:p>
          <a:p>
            <a:pPr lvl="1" marL="384048" indent="0">
              <a:lnSpc>
                <a:spcPct val="108000"/>
              </a:lnSpc>
              <a:spcBef>
                <a:spcPts val="300"/>
              </a:spcBef>
              <a:spcAft>
                <a:spcPts val="0"/>
              </a:spcAft>
            </a:pPr>
            <a:r>
              <a:rPr sz="1400">
                <a:solidFill>
                  <a:srgbClr val="55606B"/>
                </a:solidFill>
              </a:rPr>
              <a:t>–  The fifth part exists because the summary is the last thing a traversing run writes, so any excerpt over 14 lines would otherwise withhold the one line reporting what the run reached.</a:t>
            </a:r>
          </a:p>
          <a:p>
            <a:pPr>
              <a:lnSpc>
                <a:spcPct val="108000"/>
              </a:lnSpc>
              <a:spcBef>
                <a:spcPts val="1000"/>
              </a:spcBef>
              <a:spcAft>
                <a:spcPts val="0"/>
              </a:spcAft>
            </a:pPr>
            <a:r>
              <a:rPr sz="1700">
                <a:solidFill>
                  <a:srgbClr val="202020"/>
                </a:solidFill>
              </a:rPr>
              <a:t>▪  Two rules govern which patterns a demonstration may use, and the set satisfies both.</a:t>
            </a:r>
          </a:p>
          <a:p>
            <a:pPr lvl="1" marL="384048" indent="0">
              <a:lnSpc>
                <a:spcPct val="108000"/>
              </a:lnSpc>
              <a:spcBef>
                <a:spcPts val="300"/>
              </a:spcBef>
              <a:spcAft>
                <a:spcPts val="0"/>
              </a:spcAft>
            </a:pPr>
            <a:r>
              <a:rPr sz="1400">
                <a:solidFill>
                  <a:srgbClr val="55606B"/>
                </a:solidFill>
              </a:rPr>
              <a:t>–  Every pattern stays inside the portable subset, and none that matches uses ., a character class, or a class escape - so none turns on which engine an implementation names.</a:t>
            </a:r>
          </a:p>
          <a:p>
            <a:pPr lvl="1" marL="384048" indent="0">
              <a:lnSpc>
                <a:spcPct val="108000"/>
              </a:lnSpc>
              <a:spcBef>
                <a:spcPts val="300"/>
              </a:spcBef>
              <a:spcAft>
                <a:spcPts val="0"/>
              </a:spcAft>
            </a:pPr>
            <a:r>
              <a:rPr sz="1400">
                <a:solidFill>
                  <a:srgbClr val="55606B"/>
                </a:solidFill>
              </a:rPr>
              <a:t>–  ^export is confined to the invocations rooted where C++ files sit and nothing else.</a:t>
            </a:r>
          </a:p>
        </p:txBody>
      </p:sp>
      <p:sp>
        <p:nvSpPr>
          <p:cNvPr id="6" name="Rectangle 5"/>
          <p:cNvSpPr/>
          <p:nvPr/>
        </p:nvSpPr>
        <p:spPr>
          <a:xfrm>
            <a:off x="868680" y="4434840"/>
            <a:ext cx="4572000" cy="16002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544568"/>
            <a:ext cx="4206240" cy="1380744"/>
          </a:xfrm>
          <a:prstGeom prst="rect">
            <a:avLst/>
          </a:prstGeom>
          <a:noFill/>
        </p:spPr>
        <p:txBody>
          <a:bodyPr wrap="square">
            <a:spAutoFit/>
          </a:bodyPr>
          <a:lstStyle/>
          <a:p>
            <a:pPr>
              <a:spcAft>
                <a:spcPts val="0"/>
              </a:spcAft>
              <a:defRPr sz="1250">
                <a:solidFill>
                  <a:srgbClr val="D8E2EC"/>
                </a:solidFill>
                <a:latin typeface="Consolas"/>
              </a:defRPr>
            </a:pPr>
            <a:r>
              <a:t>$ Cpp_TextFinder</a:t>
            </a:r>
          </a:p>
          <a:p>
            <a:pPr>
              <a:spcAft>
                <a:spcPts val="0"/>
              </a:spcAft>
              <a:defRPr sz="1250">
                <a:solidFill>
                  <a:srgbClr val="D8E2EC"/>
                </a:solidFill>
                <a:latin typeface="Consolas"/>
              </a:defRPr>
            </a:pPr>
            <a:r>
              <a:t>      /P .</a:t>
            </a:r>
          </a:p>
          <a:p>
            <a:pPr>
              <a:spcAft>
                <a:spcPts val="0"/>
              </a:spcAft>
              <a:defRPr sz="1250">
                <a:solidFill>
                  <a:srgbClr val="D8E2EC"/>
                </a:solidFill>
                <a:latin typeface="Consolas"/>
              </a:defRPr>
            </a:pPr>
            <a:r>
              <a:t>      /p</a:t>
            </a:r>
          </a:p>
          <a:p>
            <a:pPr>
              <a:spcAft>
                <a:spcPts val="0"/>
              </a:spcAft>
              <a:defRPr sz="1250">
                <a:solidFill>
                  <a:srgbClr val="D8E2EC"/>
                </a:solidFill>
                <a:latin typeface="Consolas"/>
              </a:defRPr>
            </a:pPr>
            <a:r>
              <a:t>      /r .</a:t>
            </a:r>
          </a:p>
          <a:p>
            <a:pPr>
              <a:spcAft>
                <a:spcPts val="0"/>
              </a:spcAft>
              <a:defRPr sz="1250">
                <a:solidFill>
                  <a:srgbClr val="D8E2EC"/>
                </a:solidFill>
                <a:latin typeface="Consolas"/>
              </a:defRPr>
            </a:pPr>
            <a:r>
              <a:t>      ...</a:t>
            </a:r>
          </a:p>
          <a:p>
            <a:pPr>
              <a:spcAft>
                <a:spcPts val="0"/>
              </a:spcAft>
              <a:defRPr sz="1250">
                <a:solidFill>
                  <a:srgbClr val="D8E2EC"/>
                </a:solidFill>
                <a:latin typeface="Consolas"/>
              </a:defRPr>
            </a:pPr>
            <a:r>
              <a:t>  9 line(s), exit 0</a:t>
            </a:r>
          </a:p>
        </p:txBody>
      </p:sp>
      <p:sp>
        <p:nvSpPr>
          <p:cNvPr id="8" name="TextBox 7"/>
          <p:cNvSpPr txBox="1"/>
          <p:nvPr/>
        </p:nvSpPr>
        <p:spPr>
          <a:xfrm>
            <a:off x="5852160" y="4480560"/>
            <a:ext cx="5669280" cy="2011680"/>
          </a:xfrm>
          <a:prstGeom prst="rect">
            <a:avLst/>
          </a:prstGeom>
          <a:noFill/>
        </p:spPr>
        <p:txBody>
          <a:bodyPr wrap="square">
            <a:spAutoFit/>
          </a:bodyPr>
          <a:lstStyle/>
          <a:p>
            <a:pPr lvl="1" marL="384048" indent="0">
              <a:lnSpc>
                <a:spcPct val="108000"/>
              </a:lnSpc>
              <a:spcBef>
                <a:spcPts val="300"/>
              </a:spcBef>
              <a:spcAft>
                <a:spcPts val="0"/>
              </a:spcAft>
            </a:pPr>
            <a:r>
              <a:rPr sz="1400">
                <a:solidFill>
                  <a:srgbClr val="55606B"/>
                </a:solidFill>
              </a:rPr>
              <a:t>–  The bare command line: nine lines, in table order, /v reading false.</a:t>
            </a:r>
          </a:p>
          <a:p>
            <a:pPr lvl="1" marL="384048" indent="0">
              <a:lnSpc>
                <a:spcPct val="108000"/>
              </a:lnSpc>
              <a:spcBef>
                <a:spcPts val="300"/>
              </a:spcBef>
              <a:spcAft>
                <a:spcPts val="0"/>
              </a:spcAft>
            </a:pPr>
            <a:r>
              <a:rPr sz="1400">
                <a:solidFill>
                  <a:srgbClr val="55606B"/>
                </a:solidFill>
              </a:rPr>
              <a:t>–  The /p line carries no value and no trailing space, which is the rule that lets this text serve as a test fixture.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spcAft>
                <a:spcPts val="200"/>
              </a:spcAft>
              <a:defRPr sz="1200" b="1">
                <a:solidFill>
                  <a:srgbClr val="8EB4D4"/>
                </a:solidFill>
              </a:defRPr>
            </a:pPr>
            <a:r>
              <a:t>DEMONSTRATION</a:t>
            </a:r>
          </a:p>
          <a:p>
            <a:pPr>
              <a:defRPr sz="3000" b="1">
                <a:solidFill>
                  <a:srgbClr val="FFFFFF"/>
                </a:solidFill>
              </a:defRPr>
            </a:pPr>
            <a:r>
              <a:t>Comparability, and the Dated Capture</a:t>
            </a:r>
          </a:p>
        </p:txBody>
      </p:sp>
      <p:graphicFrame>
        <p:nvGraphicFramePr>
          <p:cNvPr id="5" name="Table 4"/>
          <p:cNvGraphicFramePr>
            <a:graphicFrameLocks noGrp="1"/>
          </p:cNvGraphicFramePr>
          <p:nvPr/>
        </p:nvGraphicFramePr>
        <p:xfrm>
          <a:off x="640080" y="1463040"/>
          <a:ext cx="10881360" cy="1600200"/>
        </p:xfrm>
        <a:graphic>
          <a:graphicData uri="http://schemas.openxmlformats.org/drawingml/2006/table">
            <a:tbl>
              <a:tblPr firstRow="1" bandRow="1">
                <a:tableStyleId>{5C22544A-7EE6-4342-B048-85BDC9FD1C3A}</a:tableStyleId>
              </a:tblPr>
              <a:tblGrid>
                <a:gridCol w="5669280"/>
                <a:gridCol w="5212080"/>
              </a:tblGrid>
              <a:tr h="320040">
                <a:tc>
                  <a:txBody>
                    <a:bodyPr/>
                    <a:lstStyle/>
                    <a:p>
                      <a:pPr>
                        <a:defRPr sz="1300" b="1">
                          <a:solidFill>
                            <a:srgbClr val="FFFFFF"/>
                          </a:solidFill>
                        </a:defRPr>
                      </a:pPr>
                      <a:r>
                        <a:t>Must agree across implementations</a:t>
                      </a:r>
                    </a:p>
                  </a:txBody>
                  <a:tcPr marL="73152" marT="27432" marB="27432">
                    <a:solidFill>
                      <a:srgbClr val="1E2B3A"/>
                    </a:solidFill>
                  </a:tcPr>
                </a:tc>
                <a:tc>
                  <a:txBody>
                    <a:bodyPr/>
                    <a:lstStyle/>
                    <a:p>
                      <a:pPr>
                        <a:defRPr sz="1300" b="1">
                          <a:solidFill>
                            <a:srgbClr val="FFFFFF"/>
                          </a:solidFill>
                        </a:defRPr>
                      </a:pPr>
                      <a:r>
                        <a:t>Is each run's own</a:t>
                      </a:r>
                    </a:p>
                  </a:txBody>
                  <a:tcPr marL="73152" marT="27432" marB="27432">
                    <a:solidFill>
                      <a:srgbClr val="1E2B3A"/>
                    </a:solidFill>
                  </a:tcPr>
                </a:tc>
              </a:tr>
              <a:tr h="320040">
                <a:tc>
                  <a:txBody>
                    <a:bodyPr/>
                    <a:lstStyle/>
                    <a:p>
                      <a:pPr>
                        <a:defRPr sz="1300" b="0">
                          <a:solidFill>
                            <a:srgbClr val="202020"/>
                          </a:solidFill>
                        </a:defRPr>
                      </a:pPr>
                      <a:r>
                        <a:t>The exit code, all three values being fixed</a:t>
                      </a:r>
                    </a:p>
                  </a:txBody>
                  <a:tcPr marL="73152" marT="27432" marB="27432">
                    <a:solidFill>
                      <a:srgbClr val="F2F4F6"/>
                    </a:solidFill>
                  </a:tcPr>
                </a:tc>
                <a:tc>
                  <a:txBody>
                    <a:bodyPr/>
                    <a:lstStyle/>
                    <a:p>
                      <a:pPr>
                        <a:defRPr sz="1300" b="0">
                          <a:solidFill>
                            <a:srgbClr val="202020"/>
                          </a:solidFill>
                        </a:defRPr>
                      </a:pPr>
                      <a:r>
                        <a:t>The source paths, and the line counts that follow from them</a:t>
                      </a:r>
                    </a:p>
                  </a:txBody>
                  <a:tcPr marL="73152" marT="27432" marB="27432">
                    <a:solidFill>
                      <a:srgbClr val="F2F4F6"/>
                    </a:solidFill>
                  </a:tcPr>
                </a:tc>
              </a:tr>
              <a:tr h="320040">
                <a:tc>
                  <a:txBody>
                    <a:bodyPr/>
                    <a:lstStyle/>
                    <a:p>
                      <a:pPr>
                        <a:defRPr sz="1300" b="0">
                          <a:solidFill>
                            <a:srgbClr val="202020"/>
                          </a:solidFill>
                        </a:defRPr>
                      </a:pPr>
                      <a:r>
                        <a:t>The nine option-listing lines, but for the /p line</a:t>
                      </a:r>
                    </a:p>
                  </a:txBody>
                  <a:tcPr marL="73152" marT="27432" marB="27432">
                    <a:solidFill>
                      <a:srgbClr val="FFFFFF"/>
                    </a:solidFill>
                  </a:tcPr>
                </a:tc>
                <a:tc>
                  <a:txBody>
                    <a:bodyPr/>
                    <a:lstStyle/>
                    <a:p>
                      <a:pPr>
                        <a:defRPr sz="1300" b="0">
                          <a:solidFill>
                            <a:srgbClr val="202020"/>
                          </a:solidFill>
                        </a:defRPr>
                      </a:pPr>
                      <a:r>
                        <a:t>The header's executable and search root</a:t>
                      </a:r>
                    </a:p>
                  </a:txBody>
                  <a:tcPr marL="73152" marT="27432" marB="27432">
                    <a:solidFill>
                      <a:srgbClr val="FFFFFF"/>
                    </a:solidFill>
                  </a:tcPr>
                </a:tc>
              </a:tr>
              <a:tr h="320040">
                <a:tc>
                  <a:txBody>
                    <a:bodyPr/>
                    <a:lstStyle/>
                    <a:p>
                      <a:pPr>
                        <a:defRPr sz="1300" b="0">
                          <a:solidFill>
                            <a:srgbClr val="202020"/>
                          </a:solidFill>
                        </a:defRPr>
                      </a:pPr>
                      <a:r>
                        <a:t>The 22 help lines, but for the executable name</a:t>
                      </a:r>
                    </a:p>
                  </a:txBody>
                  <a:tcPr marL="73152" marT="27432" marB="27432">
                    <a:solidFill>
                      <a:srgbClr val="F2F4F6"/>
                    </a:solidFill>
                  </a:tcPr>
                </a:tc>
                <a:tc>
                  <a:txBody>
                    <a:bodyPr/>
                    <a:lstStyle/>
                    <a:p>
                      <a:pPr>
                        <a:defRPr sz="1300" b="0">
                          <a:solidFill>
                            <a:srgbClr val="202020"/>
                          </a:solidFill>
                        </a:defRPr>
                      </a:pPr>
                      <a:r>
                        <a:t>The invocations rooted in this implementation's own directories</a:t>
                      </a:r>
                    </a:p>
                  </a:txBody>
                  <a:tcPr marL="73152" marT="27432" marB="27432">
                    <a:solidFill>
                      <a:srgbClr val="F2F4F6"/>
                    </a:solidFill>
                  </a:tcPr>
                </a:tc>
              </a:tr>
              <a:tr h="320040">
                <a:tc>
                  <a:txBody>
                    <a:bodyPr/>
                    <a:lstStyle/>
                    <a:p>
                      <a:pPr>
                        <a:defRPr sz="1300" b="0">
                          <a:solidFill>
                            <a:srgbClr val="202020"/>
                          </a:solidFill>
                        </a:defRPr>
                      </a:pPr>
                      <a:r>
                        <a:t>The form of every run summary: one line, two decimal counts, neither noun inflected</a:t>
                      </a:r>
                    </a:p>
                  </a:txBody>
                  <a:tcPr marL="73152" marT="27432" marB="27432">
                    <a:solidFill>
                      <a:srgbClr val="FFFFFF"/>
                    </a:solidFill>
                  </a:tcPr>
                </a:tc>
                <a:tc>
                  <a:txBody>
                    <a:bodyPr/>
                    <a:lstStyle/>
                    <a:p>
                      <a:pPr>
                        <a:defRPr sz="1300" b="0">
                          <a:solidFill>
                            <a:srgbClr val="202020"/>
                          </a:solidFill>
                        </a:defRPr>
                      </a:pPr>
                      <a:r>
                        <a:t>The two counts in every run summary that reaches this implementation's sources</a:t>
                      </a:r>
                    </a:p>
                  </a:txBody>
                  <a:tcPr marL="73152" marT="27432" marB="27432">
                    <a:solidFill>
                      <a:srgbClr val="FFFFFF"/>
                    </a:solidFill>
                  </a:tcPr>
                </a:tc>
              </a:tr>
            </a:tbl>
          </a:graphicData>
        </a:graphic>
      </p:graphicFrame>
      <p:sp>
        <p:nvSpPr>
          <p:cNvPr id="6" name="TextBox 5"/>
          <p:cNvSpPr txBox="1"/>
          <p:nvPr/>
        </p:nvSpPr>
        <p:spPr>
          <a:xfrm>
            <a:off x="640080" y="3291840"/>
            <a:ext cx="10911535" cy="3200400"/>
          </a:xfrm>
          <a:prstGeom prst="rect">
            <a:avLst/>
          </a:prstGeom>
          <a:noFill/>
        </p:spPr>
        <p:txBody>
          <a:bodyPr wrap="square">
            <a:spAutoFit/>
          </a:bodyPr>
          <a:lstStyle/>
          <a:p>
            <a:pPr>
              <a:lnSpc>
                <a:spcPct val="108000"/>
              </a:lnSpc>
              <a:spcBef>
                <a:spcPts val="1000"/>
              </a:spcBef>
              <a:spcAft>
                <a:spcPts val="0"/>
              </a:spcAft>
            </a:pPr>
            <a:r>
              <a:rPr sz="1700">
                <a:solidFill>
                  <a:srgbClr val="202020"/>
                </a:solidFill>
              </a:rPr>
              <a:t>▪  Two numbers agreeing across three implementations is a narrower claim than eight paths agreeing, and a stronger one: the paths could agree while a count disagreed, and that would be a defect in whichever counted differently.</a:t>
            </a:r>
          </a:p>
          <a:p>
            <a:pPr lvl="1" marL="384048" indent="0">
              <a:lnSpc>
                <a:spcPct val="108000"/>
              </a:lnSpc>
              <a:spcBef>
                <a:spcPts val="300"/>
              </a:spcBef>
              <a:spcAft>
                <a:spcPts val="0"/>
              </a:spcAft>
            </a:pPr>
            <a:r>
              <a:rPr sz="1400">
                <a:solidFill>
                  <a:srgbClr val="55606B"/>
                </a:solidFill>
              </a:rPr>
              <a:t>–  Run over the shared documents with the same command line, all three report accessed 47 files, 36 directories.</a:t>
            </a:r>
          </a:p>
          <a:p>
            <a:pPr>
              <a:lnSpc>
                <a:spcPct val="108000"/>
              </a:lnSpc>
              <a:spcBef>
                <a:spcPts val="1000"/>
              </a:spcBef>
              <a:spcAft>
                <a:spcPts val="0"/>
              </a:spcAft>
            </a:pPr>
            <a:r>
              <a:rPr sz="1700">
                <a:solidFill>
                  <a:srgbClr val="202020"/>
                </a:solidFill>
              </a:rPr>
              <a:t>▪  The extension list is cumulative, so this capture selects the fewest files and every file it selects the other three select too. A reader comparing it against the C# one compares a list against a longer list containing it.</a:t>
            </a:r>
          </a:p>
          <a:p>
            <a:pPr>
              <a:lnSpc>
                <a:spcPct val="108000"/>
              </a:lnSpc>
              <a:spcBef>
                <a:spcPts val="1000"/>
              </a:spcBef>
              <a:spcAft>
                <a:spcPts val="0"/>
              </a:spcAft>
            </a:pPr>
            <a:r>
              <a:rPr sz="1700">
                <a:solidFill>
                  <a:srgbClr val="202020"/>
                </a:solidFill>
              </a:rPr>
              <a:t>▪  The capture is dated 2026-09-16, and the date is doing work. Seven invocations count files in this project, so their output moves when a document is added or removed.</a:t>
            </a:r>
          </a:p>
          <a:p>
            <a:pPr lvl="1" marL="384048" indent="0">
              <a:lnSpc>
                <a:spcPct val="108000"/>
              </a:lnSpc>
              <a:spcBef>
                <a:spcPts val="300"/>
              </a:spcBef>
              <a:spcAft>
                <a:spcPts val="0"/>
              </a:spcAft>
            </a:pPr>
            <a:r>
              <a:rPr sz="1400">
                <a:solidFill>
                  <a:srgbClr val="55606B"/>
                </a:solidFill>
              </a:rPr>
              <a:t>–  A page whose counts disagree with a fresh run is stale rather than wrong, and recapturing is one command. A superseded capture is deleted rather than kept.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E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F6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85855" cy="868680"/>
          </a:xfrm>
          <a:prstGeom prst="rect">
            <a:avLst/>
          </a:prstGeom>
          <a:noFill/>
        </p:spPr>
        <p:txBody>
          <a:bodyPr wrap="square" anchor="ctr">
            <a:spAutoFit/>
          </a:bodyPr>
          <a:lstStyle/>
          <a:p>
            <a:pPr>
              <a:defRPr sz="3000" b="1">
                <a:solidFill>
                  <a:srgbClr val="FFFFFF"/>
                </a:solidFill>
              </a:defRPr>
            </a:pPr>
            <a:r>
              <a:t>What the C++ Thread Shows</a:t>
            </a:r>
          </a:p>
        </p:txBody>
      </p:sp>
      <p:sp>
        <p:nvSpPr>
          <p:cNvPr id="5" name="TextBox 4"/>
          <p:cNvSpPr txBox="1"/>
          <p:nvPr/>
        </p:nvSpPr>
        <p:spPr>
          <a:xfrm>
            <a:off x="640080" y="1463040"/>
            <a:ext cx="10911535" cy="5029200"/>
          </a:xfrm>
          <a:prstGeom prst="rect">
            <a:avLst/>
          </a:prstGeom>
          <a:noFill/>
        </p:spPr>
        <p:txBody>
          <a:bodyPr wrap="square">
            <a:spAutoFit/>
          </a:bodyPr>
          <a:lstStyle/>
          <a:p>
            <a:pPr>
              <a:lnSpc>
                <a:spcPct val="108000"/>
              </a:lnSpc>
              <a:spcBef>
                <a:spcPts val="1000"/>
              </a:spcBef>
              <a:spcAft>
                <a:spcPts val="0"/>
              </a:spcAft>
            </a:pPr>
            <a:r>
              <a:rPr sz="1700">
                <a:solidFill>
                  <a:srgbClr val="202020"/>
                </a:solidFill>
              </a:rPr>
              <a:t>▪  The specifications held. Four sources written in one turn from five documents and nothing else, and the three unit suites passed first time.</a:t>
            </a:r>
          </a:p>
          <a:p>
            <a:pPr>
              <a:lnSpc>
                <a:spcPct val="108000"/>
              </a:lnSpc>
              <a:spcBef>
                <a:spcPts val="1000"/>
              </a:spcBef>
              <a:spcAft>
                <a:spcPts val="0"/>
              </a:spcAft>
            </a:pPr>
            <a:r>
              <a:rPr sz="1700">
                <a:solidFill>
                  <a:srgbClr val="202020"/>
                </a:solidFill>
              </a:rPr>
              <a:t>▪  What the documents could not settle, the reviews did. 83 items across six reviews, each one a decision the code could not avoid making.</a:t>
            </a:r>
          </a:p>
          <a:p>
            <a:pPr>
              <a:lnSpc>
                <a:spcPct val="108000"/>
              </a:lnSpc>
              <a:spcBef>
                <a:spcPts val="1000"/>
              </a:spcBef>
              <a:spcAft>
                <a:spcPts val="0"/>
              </a:spcAft>
            </a:pPr>
            <a:r>
              <a:rPr sz="1700">
                <a:solidFill>
                  <a:srgbClr val="202020"/>
                </a:solidFill>
              </a:rPr>
              <a:t>▪  What no document could anticipate, the build found: an undocumented CMake opt-in token, and five unresolved externals from the reflex answer to "private to this file".</a:t>
            </a:r>
          </a:p>
          <a:p>
            <a:pPr>
              <a:lnSpc>
                <a:spcPct val="108000"/>
              </a:lnSpc>
              <a:spcBef>
                <a:spcPts val="1000"/>
              </a:spcBef>
              <a:spcAft>
                <a:spcPts val="0"/>
              </a:spcAft>
            </a:pPr>
            <a:r>
              <a:rPr sz="1700">
                <a:solidFill>
                  <a:srgbClr val="202020"/>
                </a:solidFill>
              </a:rPr>
              <a:t>▪  What no unit suite could reach, the integration suite found: eight assertions failing on CRLF, which sent one claim back to the parent specification to be weakened.</a:t>
            </a:r>
          </a:p>
          <a:p>
            <a:pPr>
              <a:lnSpc>
                <a:spcPct val="108000"/>
              </a:lnSpc>
              <a:spcBef>
                <a:spcPts val="1000"/>
              </a:spcBef>
              <a:spcAft>
                <a:spcPts val="0"/>
              </a:spcAft>
            </a:pPr>
            <a:r>
              <a:rPr sz="1700">
                <a:solidFill>
                  <a:srgbClr val="202020"/>
                </a:solidFill>
              </a:rPr>
              <a:t>▪  Rules kept moving to where they bind. Ten out of the Dirnav spec, the help text out of the Cmdline spec, the binary-mode rule out of the Output spec - the last promoted on the C# case, not the C++ one.</a:t>
            </a:r>
          </a:p>
          <a:p>
            <a:pPr>
              <a:lnSpc>
                <a:spcPct val="108000"/>
              </a:lnSpc>
              <a:spcBef>
                <a:spcPts val="1000"/>
              </a:spcBef>
              <a:spcAft>
                <a:spcPts val="0"/>
              </a:spcAft>
            </a:pPr>
            <a:r>
              <a:rPr sz="1700">
                <a:solidFill>
                  <a:srgbClr val="202020"/>
                </a:solidFill>
              </a:rPr>
              <a:t>▪  The record says which route each decision took, including the retreats. That is what makes the next implementation something to compare against rather than something to copy.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