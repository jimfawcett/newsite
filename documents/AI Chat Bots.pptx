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5" r:id="rId3"/>
    <p:sldId id="263" r:id="rId4"/>
    <p:sldId id="257" r:id="rId5"/>
    <p:sldId id="258" r:id="rId6"/>
    <p:sldId id="259" r:id="rId7"/>
    <p:sldId id="260" r:id="rId8"/>
    <p:sldId id="261" r:id="rId9"/>
    <p:sldId id="264" r:id="rId10"/>
    <p:sldId id="262"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09" autoAdjust="0"/>
  </p:normalViewPr>
  <p:slideViewPr>
    <p:cSldViewPr snapToGrid="0">
      <p:cViewPr varScale="1">
        <p:scale>
          <a:sx n="83" d="100"/>
          <a:sy n="83" d="100"/>
        </p:scale>
        <p:origin x="864" y="336"/>
      </p:cViewPr>
      <p:guideLst/>
    </p:cSldViewPr>
  </p:slideViewPr>
  <p:outlineViewPr>
    <p:cViewPr>
      <p:scale>
        <a:sx n="33" d="100"/>
        <a:sy n="33" d="100"/>
      </p:scale>
      <p:origin x="0" y="-5202"/>
    </p:cViewPr>
  </p:outlineViewPr>
  <p:notesTextViewPr>
    <p:cViewPr>
      <p:scale>
        <a:sx n="1" d="1"/>
        <a:sy n="1" d="1"/>
      </p:scale>
      <p:origin x="0" y="0"/>
    </p:cViewPr>
  </p:notesTextViewPr>
  <p:notesViewPr>
    <p:cSldViewPr snapToGrid="0">
      <p:cViewPr varScale="1">
        <p:scale>
          <a:sx n="82" d="100"/>
          <a:sy n="82" d="100"/>
        </p:scale>
        <p:origin x="395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3D157-EEDE-449D-AE80-1B38B030D616}"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213F28-0EC6-4CCF-A1EF-787A01983284}" type="slidenum">
              <a:rPr lang="en-US" smtClean="0"/>
              <a:t>‹#›</a:t>
            </a:fld>
            <a:endParaRPr lang="en-US"/>
          </a:p>
        </p:txBody>
      </p:sp>
    </p:spTree>
    <p:extLst>
      <p:ext uri="{BB962C8B-B14F-4D97-AF65-F5344CB8AC3E}">
        <p14:creationId xmlns:p14="http://schemas.microsoft.com/office/powerpoint/2010/main" val="375734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Hello and welcome to the first of three videos about using AI for software development.  In this first video Mike and I will talk about using AI chat bots.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1</a:t>
            </a:fld>
            <a:endParaRPr lang="en-US"/>
          </a:p>
        </p:txBody>
      </p:sp>
    </p:spTree>
    <p:extLst>
      <p:ext uri="{BB962C8B-B14F-4D97-AF65-F5344CB8AC3E}">
        <p14:creationId xmlns:p14="http://schemas.microsoft.com/office/powerpoint/2010/main" val="2180026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AI can improve software development productivity by automating tasks,</a:t>
            </a:r>
            <a:r>
              <a:rPr lang="en-US" baseline="0" dirty="0"/>
              <a:t> e.g.,</a:t>
            </a:r>
            <a:r>
              <a:rPr lang="en-US" dirty="0"/>
              <a:t> writing unit tests, analyzing code, and explaining syntax. Each video in this series highlights a specific AI tool, demonstrating useful ways AI supports development workflows.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2</a:t>
            </a:fld>
            <a:endParaRPr lang="en-US"/>
          </a:p>
        </p:txBody>
      </p:sp>
    </p:spTree>
    <p:extLst>
      <p:ext uri="{BB962C8B-B14F-4D97-AF65-F5344CB8AC3E}">
        <p14:creationId xmlns:p14="http://schemas.microsoft.com/office/powerpoint/2010/main" val="2631834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Generated by Copilot</a:t>
            </a:r>
            <a:br>
              <a:rPr lang="en-US"/>
            </a:br>
            <a:br>
              <a:rPr lang="en-US"/>
            </a:br>
            <a:r>
              <a:rPr lang="en-US"/>
              <a:t>There are three main ways to interact with Large Language Models (LLMs) across various AI platforms: chat bot web apps, agents, and consoles. Chat bots provide a web interface but have limited access to local or GitHub repositories. Agents integrate with local applications and can read and write to local repositories. Consoles offer similar capabilities to agents but without requiring custom agent code, making them more accessible for developers. </a:t>
            </a:r>
            <a:br>
              <a:rPr lang="en-US"/>
            </a:br>
            <a:endParaRPr lang="en-US"/>
          </a:p>
          <a:p>
            <a:pPr>
              <a:buNone/>
            </a:pPr>
            <a:r>
              <a:rPr lang="en-US"/>
              <a:t>______</a:t>
            </a:r>
          </a:p>
          <a:p>
            <a:pPr>
              <a:buNone/>
            </a:pPr>
            <a:br>
              <a:rPr lang="en-US"/>
            </a:br>
            <a:endParaRPr lang="en-US"/>
          </a:p>
        </p:txBody>
      </p:sp>
      <p:sp>
        <p:nvSpPr>
          <p:cNvPr id="4" name="Slide Number Placeholder 3"/>
          <p:cNvSpPr>
            <a:spLocks noGrp="1"/>
          </p:cNvSpPr>
          <p:nvPr>
            <p:ph type="sldNum" sz="quarter" idx="5"/>
          </p:nvPr>
        </p:nvSpPr>
        <p:spPr/>
        <p:txBody>
          <a:bodyPr/>
          <a:lstStyle/>
          <a:p>
            <a:fld id="{58213F28-0EC6-4CCF-A1EF-787A01983284}" type="slidenum">
              <a:rPr lang="en-US" smtClean="0"/>
              <a:t>3</a:t>
            </a:fld>
            <a:endParaRPr lang="en-US"/>
          </a:p>
        </p:txBody>
      </p:sp>
    </p:spTree>
    <p:extLst>
      <p:ext uri="{BB962C8B-B14F-4D97-AF65-F5344CB8AC3E}">
        <p14:creationId xmlns:p14="http://schemas.microsoft.com/office/powerpoint/2010/main" val="611249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Chat bots operate as web applications with a browser-based interface for user prompts and responses. They rely on containerized, pre-trained LLMs hosted on Linux servers in data centers. Communication between the user and the LLM happens over secure HTTPS connections, enabling prompt</a:t>
            </a:r>
            <a:r>
              <a:rPr lang="en-US" baseline="0" dirty="0"/>
              <a:t> </a:t>
            </a:r>
            <a:r>
              <a:rPr lang="en-US" dirty="0"/>
              <a:t>delivery and response retrieval.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4</a:t>
            </a:fld>
            <a:endParaRPr lang="en-US"/>
          </a:p>
        </p:txBody>
      </p:sp>
    </p:spTree>
    <p:extLst>
      <p:ext uri="{BB962C8B-B14F-4D97-AF65-F5344CB8AC3E}">
        <p14:creationId xmlns:p14="http://schemas.microsoft.com/office/powerpoint/2010/main" val="323654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This diagram illustrates the architecture of an AI web application, showing how the user interface, server hosting the LLM, and communication protocols interact. It</a:t>
            </a:r>
            <a:r>
              <a:rPr lang="en-US" baseline="0" dirty="0"/>
              <a:t> is intended to</a:t>
            </a:r>
            <a:r>
              <a:rPr lang="en-US" dirty="0"/>
              <a:t> clarify how chat bots process requests and deliver AI-generated responses efficiently. </a:t>
            </a:r>
          </a:p>
          <a:p>
            <a:pPr>
              <a:buNone/>
            </a:pPr>
            <a:r>
              <a:rPr lang="en-US" dirty="0"/>
              <a:t>The diagram was generated by Gemini nano banana.</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5</a:t>
            </a:fld>
            <a:endParaRPr lang="en-US"/>
          </a:p>
        </p:txBody>
      </p:sp>
    </p:spTree>
    <p:extLst>
      <p:ext uri="{BB962C8B-B14F-4D97-AF65-F5344CB8AC3E}">
        <p14:creationId xmlns:p14="http://schemas.microsoft.com/office/powerpoint/2010/main" val="1088079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AI chat bots have inherent limitations due to their web-based nature. They cannot directly access or modify local code repositories or read files from GitHub. This restricts their ability to interact with a developer's full codebase, which is important to consider when planning use of these tools.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6</a:t>
            </a:fld>
            <a:endParaRPr lang="en-US"/>
          </a:p>
        </p:txBody>
      </p:sp>
    </p:spTree>
    <p:extLst>
      <p:ext uri="{BB962C8B-B14F-4D97-AF65-F5344CB8AC3E}">
        <p14:creationId xmlns:p14="http://schemas.microsoft.com/office/powerpoint/2010/main" val="880237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To overcome chat bots' access limitations, users can paste code snippets or entire zipped repositories directly into prompts. This allows the LLM to analyze the provided code. Additionally, chat bots can be instructed to download their output to the user's local system, making</a:t>
            </a:r>
            <a:r>
              <a:rPr lang="en-US" baseline="0" dirty="0"/>
              <a:t> it</a:t>
            </a:r>
            <a:r>
              <a:rPr lang="en-US" dirty="0"/>
              <a:t> easier to integrate AI-generated responses with build documentation.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7</a:t>
            </a:fld>
            <a:endParaRPr lang="en-US"/>
          </a:p>
        </p:txBody>
      </p:sp>
    </p:spTree>
    <p:extLst>
      <p:ext uri="{BB962C8B-B14F-4D97-AF65-F5344CB8AC3E}">
        <p14:creationId xmlns:p14="http://schemas.microsoft.com/office/powerpoint/2010/main" val="1605611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The example prompt requests the AI to analyze a zipped Rust thread pool codebase, generating a list of functions with their line counts and complexity metrics based on open braces. Rust's syntax simplicity compared to C++ makes it easier for the AI to parse and analyze, demonstrating practical code analysis capabilities of AI chat bots.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8</a:t>
            </a:fld>
            <a:endParaRPr lang="en-US"/>
          </a:p>
        </p:txBody>
      </p:sp>
    </p:spTree>
    <p:extLst>
      <p:ext uri="{BB962C8B-B14F-4D97-AF65-F5344CB8AC3E}">
        <p14:creationId xmlns:p14="http://schemas.microsoft.com/office/powerpoint/2010/main" val="1353927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Here is a sample of the AI-generated analysis results, showing function names, line counts and complexity scores. Such output helps developers assess code structure and identify complex or lengthy functions that may need refactoring.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9</a:t>
            </a:fld>
            <a:endParaRPr lang="en-US"/>
          </a:p>
        </p:txBody>
      </p:sp>
    </p:spTree>
    <p:extLst>
      <p:ext uri="{BB962C8B-B14F-4D97-AF65-F5344CB8AC3E}">
        <p14:creationId xmlns:p14="http://schemas.microsoft.com/office/powerpoint/2010/main" val="3713454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For more detailed information, click the URL. </a:t>
            </a:r>
          </a:p>
          <a:p>
            <a:pPr>
              <a:buNone/>
            </a:pPr>
            <a:r>
              <a:rPr lang="en-US" dirty="0"/>
              <a:t>Upcoming presentations will explore AI agents, which interact with local applications and file systems via HTTPS APIs, and AI consoles, which offer repository access without requiring agent code. </a:t>
            </a:r>
            <a:br>
              <a:rPr lang="en-US" dirty="0"/>
            </a:br>
            <a:endParaRPr lang="en-US" dirty="0"/>
          </a:p>
          <a:p>
            <a:pPr>
              <a:buNone/>
            </a:pPr>
            <a:r>
              <a:rPr lang="en-US" dirty="0"/>
              <a:t>______</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58213F28-0EC6-4CCF-A1EF-787A01983284}" type="slidenum">
              <a:rPr lang="en-US" smtClean="0"/>
              <a:t>10</a:t>
            </a:fld>
            <a:endParaRPr lang="en-US"/>
          </a:p>
        </p:txBody>
      </p:sp>
    </p:spTree>
    <p:extLst>
      <p:ext uri="{BB962C8B-B14F-4D97-AF65-F5344CB8AC3E}">
        <p14:creationId xmlns:p14="http://schemas.microsoft.com/office/powerpoint/2010/main" val="278842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Generated by Copilot</a:t>
            </a:r>
            <a:br>
              <a:rPr lang="en-US"/>
            </a:br>
            <a:br>
              <a:rPr lang="en-US"/>
            </a:br>
            <a:r>
              <a:rPr lang="en-US"/>
              <a:t>This marks the end of the presentation. It provides a moment to recap key points and invite any final questions or discussions before concluding the session. </a:t>
            </a:r>
            <a:br>
              <a:rPr lang="en-US"/>
            </a:br>
            <a:endParaRPr lang="en-US"/>
          </a:p>
          <a:p>
            <a:pPr>
              <a:buNone/>
            </a:pPr>
            <a:r>
              <a:rPr lang="en-US"/>
              <a:t>______</a:t>
            </a:r>
          </a:p>
          <a:p>
            <a:pPr>
              <a:buNone/>
            </a:pPr>
            <a:br>
              <a:rPr lang="en-US"/>
            </a:br>
            <a:endParaRPr lang="en-US"/>
          </a:p>
        </p:txBody>
      </p:sp>
      <p:sp>
        <p:nvSpPr>
          <p:cNvPr id="4" name="Slide Number Placeholder 3"/>
          <p:cNvSpPr>
            <a:spLocks noGrp="1"/>
          </p:cNvSpPr>
          <p:nvPr>
            <p:ph type="sldNum" sz="quarter" idx="5"/>
          </p:nvPr>
        </p:nvSpPr>
        <p:spPr/>
        <p:txBody>
          <a:bodyPr/>
          <a:lstStyle/>
          <a:p>
            <a:fld id="{58213F28-0EC6-4CCF-A1EF-787A01983284}" type="slidenum">
              <a:rPr lang="en-US" smtClean="0"/>
              <a:t>11</a:t>
            </a:fld>
            <a:endParaRPr lang="en-US"/>
          </a:p>
        </p:txBody>
      </p:sp>
    </p:spTree>
    <p:extLst>
      <p:ext uri="{BB962C8B-B14F-4D97-AF65-F5344CB8AC3E}">
        <p14:creationId xmlns:p14="http://schemas.microsoft.com/office/powerpoint/2010/main" val="1966655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66BE-EE34-D113-1CEC-FCC937D9B2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098B94-AC61-07EF-BBA4-202F9A0081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EEC3B3-4680-F8C9-AED0-C07E8240DA39}"/>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5" name="Footer Placeholder 4">
            <a:extLst>
              <a:ext uri="{FF2B5EF4-FFF2-40B4-BE49-F238E27FC236}">
                <a16:creationId xmlns:a16="http://schemas.microsoft.com/office/drawing/2014/main" id="{05794293-E0D6-7E74-A27A-C7E587C04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1FF119-3755-F828-AAB4-BC01634264CF}"/>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352272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7400-A473-7342-F494-6EF619BA47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5444D7-B737-46E0-AAEE-9950A4D3A2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1DFC61-AEBF-B315-4C41-6F7B54B67C5C}"/>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5" name="Footer Placeholder 4">
            <a:extLst>
              <a:ext uri="{FF2B5EF4-FFF2-40B4-BE49-F238E27FC236}">
                <a16:creationId xmlns:a16="http://schemas.microsoft.com/office/drawing/2014/main" id="{9716E64D-2675-7FCD-E815-74FAD6342F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407B2-1A57-A02A-795F-9EC2E505FBC8}"/>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2897200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0C6B-6A82-A08F-656B-E4C4B27C2D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B03417-32DB-D35E-00B5-D225CC9766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53EAAF-E7E7-F716-C2BE-5B9EBD3670E9}"/>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5" name="Footer Placeholder 4">
            <a:extLst>
              <a:ext uri="{FF2B5EF4-FFF2-40B4-BE49-F238E27FC236}">
                <a16:creationId xmlns:a16="http://schemas.microsoft.com/office/drawing/2014/main" id="{1B473C9E-A11B-1BF0-9AAF-AD3A55706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1C6AE-EFB0-88EA-BBDD-2688794079AE}"/>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3756146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394CA-650F-1C84-1E94-D5F6AE3BE9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87BD05-AA72-F363-D5EF-142F55AEBD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C242-D407-819F-7F7C-531AFDFD38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B6A583-9433-F90A-A3D4-6C77594F3896}"/>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6" name="Footer Placeholder 5">
            <a:extLst>
              <a:ext uri="{FF2B5EF4-FFF2-40B4-BE49-F238E27FC236}">
                <a16:creationId xmlns:a16="http://schemas.microsoft.com/office/drawing/2014/main" id="{0BB9D922-A815-01B2-0022-F784D3774C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9792CF-F677-4901-FE8B-D35D294AAE8F}"/>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121962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590C-E7B3-ABFA-2C50-02643D8BB8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FBC3A6-6B42-8635-9F8E-1D3DD179A8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99EC4-F013-7D03-170D-8287827842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21E012-F621-F07E-5360-02CB492154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560099-B9E6-6D0B-E9FF-E3B7EE4071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A0B343-FEE6-0DFE-5D90-74B6BF453C13}"/>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8" name="Footer Placeholder 7">
            <a:extLst>
              <a:ext uri="{FF2B5EF4-FFF2-40B4-BE49-F238E27FC236}">
                <a16:creationId xmlns:a16="http://schemas.microsoft.com/office/drawing/2014/main" id="{2C8D36BB-053E-D5D7-F101-4A0576DBB4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73EB19-0230-5073-B4F7-1DBC323FE5AB}"/>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1649954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8196-B297-59C4-726F-9532F64D0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D7D712-CB05-C556-CAC7-07EABB2E4BB5}"/>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4" name="Footer Placeholder 3">
            <a:extLst>
              <a:ext uri="{FF2B5EF4-FFF2-40B4-BE49-F238E27FC236}">
                <a16:creationId xmlns:a16="http://schemas.microsoft.com/office/drawing/2014/main" id="{C079F170-3F2B-2FFF-6B27-DF54F98312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F330BD-A69D-379C-26F7-3AF33A40BEAD}"/>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3342497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82B6DE-53A1-70AF-51D6-E82DAB39E8FE}"/>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3" name="Footer Placeholder 2">
            <a:extLst>
              <a:ext uri="{FF2B5EF4-FFF2-40B4-BE49-F238E27FC236}">
                <a16:creationId xmlns:a16="http://schemas.microsoft.com/office/drawing/2014/main" id="{A90D6AF6-76F2-C845-5236-7A4211EC3B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556A71-A941-1DA0-15DF-58A1544714EE}"/>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116554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FDE1-DEC2-1557-47F6-DAD88801A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3E37AC-CD98-0419-8412-3312BC80A1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184AB5-4AF7-B758-95AB-284F0507AC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ECDB8-8AFB-903A-D753-80DA9C9A80DF}"/>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6" name="Footer Placeholder 5">
            <a:extLst>
              <a:ext uri="{FF2B5EF4-FFF2-40B4-BE49-F238E27FC236}">
                <a16:creationId xmlns:a16="http://schemas.microsoft.com/office/drawing/2014/main" id="{5CC97716-4736-708B-A60D-9072327D9D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CCD54-9362-7A10-A972-39D090C3C924}"/>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3755578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37E7-1DBA-09D0-C357-3259F24063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583958-D328-7694-345D-651B0FEF66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4B580E-6717-7B81-D77E-F01A14A54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AB1E3-3CB0-1CD6-C666-3F992D3F110B}"/>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6" name="Footer Placeholder 5">
            <a:extLst>
              <a:ext uri="{FF2B5EF4-FFF2-40B4-BE49-F238E27FC236}">
                <a16:creationId xmlns:a16="http://schemas.microsoft.com/office/drawing/2014/main" id="{1ADF9AA8-9C67-3B00-4C8A-2C1C027E5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A0208-3F61-2C61-7372-293CA0E48D5D}"/>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2441474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74BB2-37DF-E058-1532-8837ECE2FC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33B780-4406-9BDC-A7AD-5D8D8F99C4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82256-DC0F-3D59-F346-65855485665D}"/>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5" name="Footer Placeholder 4">
            <a:extLst>
              <a:ext uri="{FF2B5EF4-FFF2-40B4-BE49-F238E27FC236}">
                <a16:creationId xmlns:a16="http://schemas.microsoft.com/office/drawing/2014/main" id="{771DEE1C-EF84-1EDF-CDE2-B88EF305F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D72C3-B223-E2F7-A987-2CCFC09DB6D5}"/>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413465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1896EE-29AE-EA41-F42B-3CFDE78DD3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D00821-2B04-79D0-4081-C6E05AE9A8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59BD31-9439-0378-47D4-5D52799C43FD}"/>
              </a:ext>
            </a:extLst>
          </p:cNvPr>
          <p:cNvSpPr>
            <a:spLocks noGrp="1"/>
          </p:cNvSpPr>
          <p:nvPr>
            <p:ph type="dt" sz="half" idx="10"/>
          </p:nvPr>
        </p:nvSpPr>
        <p:spPr/>
        <p:txBody>
          <a:bodyPr/>
          <a:lstStyle/>
          <a:p>
            <a:fld id="{0B145D97-B311-40A5-ABD8-7A6BD9406EAF}" type="datetimeFigureOut">
              <a:rPr lang="en-US" smtClean="0"/>
              <a:t>2/20/2026</a:t>
            </a:fld>
            <a:endParaRPr lang="en-US"/>
          </a:p>
        </p:txBody>
      </p:sp>
      <p:sp>
        <p:nvSpPr>
          <p:cNvPr id="5" name="Footer Placeholder 4">
            <a:extLst>
              <a:ext uri="{FF2B5EF4-FFF2-40B4-BE49-F238E27FC236}">
                <a16:creationId xmlns:a16="http://schemas.microsoft.com/office/drawing/2014/main" id="{080D2929-1C3F-3262-7221-8AE1A38D8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C8A4F-6467-1ADD-75C2-C26A7964F4C2}"/>
              </a:ext>
            </a:extLst>
          </p:cNvPr>
          <p:cNvSpPr>
            <a:spLocks noGrp="1"/>
          </p:cNvSpPr>
          <p:nvPr>
            <p:ph type="sldNum" sz="quarter" idx="12"/>
          </p:nvPr>
        </p:nvSpPr>
        <p:spPr/>
        <p:txBody>
          <a:bodyPr/>
          <a:lstStyle/>
          <a:p>
            <a:fld id="{E1F09AFB-4811-4BB8-B1AD-A9E439563A0A}" type="slidenum">
              <a:rPr lang="en-US" smtClean="0"/>
              <a:t>‹#›</a:t>
            </a:fld>
            <a:endParaRPr lang="en-US"/>
          </a:p>
        </p:txBody>
      </p:sp>
    </p:spTree>
    <p:extLst>
      <p:ext uri="{BB962C8B-B14F-4D97-AF65-F5344CB8AC3E}">
        <p14:creationId xmlns:p14="http://schemas.microsoft.com/office/powerpoint/2010/main" val="371685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C30381-8C5E-FE14-98B9-C8FB2F94A3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633893-7A73-9E62-1848-CB6CC24986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338EDB-4888-48AB-F8EC-E1C1F8AC6C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145D97-B311-40A5-ABD8-7A6BD9406EAF}" type="datetimeFigureOut">
              <a:rPr lang="en-US" smtClean="0"/>
              <a:t>2/20/2026</a:t>
            </a:fld>
            <a:endParaRPr lang="en-US"/>
          </a:p>
        </p:txBody>
      </p:sp>
      <p:sp>
        <p:nvSpPr>
          <p:cNvPr id="5" name="Footer Placeholder 4">
            <a:extLst>
              <a:ext uri="{FF2B5EF4-FFF2-40B4-BE49-F238E27FC236}">
                <a16:creationId xmlns:a16="http://schemas.microsoft.com/office/drawing/2014/main" id="{D7A7DCB9-B911-9EE9-99FE-BD12B0B4A2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CCC758-F2DB-C83E-C3AD-74B57C55BD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F09AFB-4811-4BB8-B1AD-A9E439563A0A}" type="slidenum">
              <a:rPr lang="en-US" smtClean="0"/>
              <a:t>‹#›</a:t>
            </a:fld>
            <a:endParaRPr lang="en-US"/>
          </a:p>
        </p:txBody>
      </p:sp>
    </p:spTree>
    <p:extLst>
      <p:ext uri="{BB962C8B-B14F-4D97-AF65-F5344CB8AC3E}">
        <p14:creationId xmlns:p14="http://schemas.microsoft.com/office/powerpoint/2010/main" val="1386590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hyperlink" Target="https://jimfawcett.github.io/NewSite/Code/CodeBites_ChatBotAI.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DF9F-E3D7-41AD-44AD-A5094478199E}"/>
              </a:ext>
            </a:extLst>
          </p:cNvPr>
          <p:cNvSpPr>
            <a:spLocks noGrp="1"/>
          </p:cNvSpPr>
          <p:nvPr>
            <p:ph type="ctrTitle"/>
          </p:nvPr>
        </p:nvSpPr>
        <p:spPr/>
        <p:txBody>
          <a:bodyPr>
            <a:normAutofit fontScale="90000"/>
          </a:bodyPr>
          <a:lstStyle/>
          <a:p>
            <a:br>
              <a:rPr lang="en-US" dirty="0"/>
            </a:br>
            <a:r>
              <a:rPr lang="en-US" sz="7300" dirty="0"/>
              <a:t>AI for Software Dev</a:t>
            </a:r>
            <a:br>
              <a:rPr lang="en-US" sz="7300" dirty="0"/>
            </a:br>
            <a:br>
              <a:rPr lang="en-US" sz="1300" dirty="0"/>
            </a:br>
            <a:r>
              <a:rPr lang="en-US" sz="4400" dirty="0"/>
              <a:t>Video #1 - Chat Bots</a:t>
            </a:r>
          </a:p>
        </p:txBody>
      </p:sp>
      <p:sp>
        <p:nvSpPr>
          <p:cNvPr id="3" name="Subtitle 2">
            <a:extLst>
              <a:ext uri="{FF2B5EF4-FFF2-40B4-BE49-F238E27FC236}">
                <a16:creationId xmlns:a16="http://schemas.microsoft.com/office/drawing/2014/main" id="{9CA0240A-630B-2671-5D02-8D31C7E43AF2}"/>
              </a:ext>
            </a:extLst>
          </p:cNvPr>
          <p:cNvSpPr>
            <a:spLocks noGrp="1"/>
          </p:cNvSpPr>
          <p:nvPr>
            <p:ph type="subTitle" idx="1"/>
          </p:nvPr>
        </p:nvSpPr>
        <p:spPr>
          <a:xfrm>
            <a:off x="1368136" y="4454092"/>
            <a:ext cx="9757064" cy="1167389"/>
          </a:xfrm>
        </p:spPr>
        <p:txBody>
          <a:bodyPr/>
          <a:lstStyle/>
          <a:p>
            <a:r>
              <a:rPr lang="en-US" dirty="0"/>
              <a:t>Jim Fawcett &amp; Mike Corley</a:t>
            </a:r>
          </a:p>
          <a:p>
            <a:endParaRPr lang="en-US" dirty="0"/>
          </a:p>
        </p:txBody>
      </p:sp>
    </p:spTree>
    <p:extLst>
      <p:ext uri="{BB962C8B-B14F-4D97-AF65-F5344CB8AC3E}">
        <p14:creationId xmlns:p14="http://schemas.microsoft.com/office/powerpoint/2010/main" val="2821506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EF02-B5C8-4AD9-0641-76DF485CDB9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DD7448C-32A9-8F43-16EC-32A2212A421D}"/>
              </a:ext>
            </a:extLst>
          </p:cNvPr>
          <p:cNvSpPr>
            <a:spLocks noGrp="1"/>
          </p:cNvSpPr>
          <p:nvPr>
            <p:ph idx="1"/>
          </p:nvPr>
        </p:nvSpPr>
        <p:spPr/>
        <p:txBody>
          <a:bodyPr>
            <a:normAutofit/>
          </a:bodyPr>
          <a:lstStyle/>
          <a:p>
            <a:r>
              <a:rPr lang="en-US" dirty="0"/>
              <a:t>AI can help make software development more productive:</a:t>
            </a:r>
          </a:p>
          <a:p>
            <a:pPr lvl="1"/>
            <a:r>
              <a:rPr lang="en-US" dirty="0"/>
              <a:t>Write unit tests for existing libraries</a:t>
            </a:r>
          </a:p>
          <a:p>
            <a:pPr lvl="1"/>
            <a:r>
              <a:rPr lang="en-US" dirty="0"/>
              <a:t>Create small code analysis tools</a:t>
            </a:r>
          </a:p>
          <a:p>
            <a:pPr lvl="1"/>
            <a:r>
              <a:rPr lang="en-US" dirty="0"/>
              <a:t>Find and explain bits of code syntax</a:t>
            </a:r>
          </a:p>
          <a:p>
            <a:pPr lvl="1"/>
            <a:r>
              <a:rPr lang="en-US" dirty="0"/>
              <a:t>List library public interfaces</a:t>
            </a:r>
          </a:p>
          <a:p>
            <a:pPr lvl="1"/>
            <a:r>
              <a:rPr lang="en-US" dirty="0"/>
              <a:t>Explain how third-party code works</a:t>
            </a:r>
          </a:p>
          <a:p>
            <a:pPr lvl="1"/>
            <a:r>
              <a:rPr lang="en-US" dirty="0"/>
              <a:t>Help you learn languages and libraries</a:t>
            </a:r>
          </a:p>
          <a:p>
            <a:pPr lvl="1"/>
            <a:r>
              <a:rPr lang="en-US" dirty="0"/>
              <a:t>More …</a:t>
            </a:r>
          </a:p>
          <a:p>
            <a:r>
              <a:rPr lang="en-US" dirty="0"/>
              <a:t>Each video describes an AI facility, e.g., web app, agent, console</a:t>
            </a:r>
          </a:p>
          <a:p>
            <a:pPr lvl="1"/>
            <a:r>
              <a:rPr lang="en-US" dirty="0"/>
              <a:t>Provides an example of how that may be used to support dev work.</a:t>
            </a:r>
          </a:p>
        </p:txBody>
      </p:sp>
    </p:spTree>
    <p:extLst>
      <p:ext uri="{BB962C8B-B14F-4D97-AF65-F5344CB8AC3E}">
        <p14:creationId xmlns:p14="http://schemas.microsoft.com/office/powerpoint/2010/main" val="3801262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3BD1-07D5-B61A-CA75-EDA1A26D8B49}"/>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A0747E0A-0AB5-B654-7A58-44F6518757F9}"/>
              </a:ext>
            </a:extLst>
          </p:cNvPr>
          <p:cNvSpPr>
            <a:spLocks noGrp="1"/>
          </p:cNvSpPr>
          <p:nvPr>
            <p:ph idx="1"/>
          </p:nvPr>
        </p:nvSpPr>
        <p:spPr/>
        <p:txBody>
          <a:bodyPr>
            <a:normAutofit lnSpcReduction="10000"/>
          </a:bodyPr>
          <a:lstStyle/>
          <a:p>
            <a:r>
              <a:rPr lang="en-US" dirty="0"/>
              <a:t>Many AI platforms, e.g., OpenAI, Anthropic, Gemini, … have at least three ways of interacting with a Large Language Model (LLM):</a:t>
            </a:r>
            <a:br>
              <a:rPr lang="en-US" dirty="0"/>
            </a:br>
            <a:endParaRPr lang="en-US" sz="1200" dirty="0"/>
          </a:p>
          <a:p>
            <a:pPr lvl="1"/>
            <a:r>
              <a:rPr lang="en-US" dirty="0"/>
              <a:t>Chat Bot web application (topic of this presentation)</a:t>
            </a:r>
          </a:p>
          <a:p>
            <a:pPr lvl="2"/>
            <a:r>
              <a:rPr lang="en-US" dirty="0"/>
              <a:t>Can’t read from or write to local repositories</a:t>
            </a:r>
          </a:p>
          <a:p>
            <a:pPr lvl="2"/>
            <a:r>
              <a:rPr lang="en-US" dirty="0"/>
              <a:t>Can’t read code from </a:t>
            </a:r>
            <a:r>
              <a:rPr lang="en-US" dirty="0" err="1"/>
              <a:t>github</a:t>
            </a:r>
            <a:r>
              <a:rPr lang="en-US" dirty="0"/>
              <a:t> repository</a:t>
            </a:r>
          </a:p>
          <a:p>
            <a:pPr lvl="2"/>
            <a:r>
              <a:rPr lang="en-US" dirty="0"/>
              <a:t>Can paste a zip with code at the end of a prompt</a:t>
            </a:r>
          </a:p>
          <a:p>
            <a:pPr lvl="1"/>
            <a:r>
              <a:rPr lang="en-US" dirty="0"/>
              <a:t>Agent (topic of 2nd presentation)</a:t>
            </a:r>
          </a:p>
          <a:p>
            <a:pPr lvl="2"/>
            <a:r>
              <a:rPr lang="en-US" dirty="0"/>
              <a:t>Uses local code application to communicate with LLM</a:t>
            </a:r>
          </a:p>
          <a:p>
            <a:pPr lvl="2"/>
            <a:r>
              <a:rPr lang="en-US" dirty="0"/>
              <a:t>Can read from and write to local repositories</a:t>
            </a:r>
          </a:p>
          <a:p>
            <a:pPr lvl="1"/>
            <a:r>
              <a:rPr lang="en-US" dirty="0"/>
              <a:t>Console (topic of 3</a:t>
            </a:r>
            <a:r>
              <a:rPr lang="en-US" baseline="30000" dirty="0"/>
              <a:t>rd</a:t>
            </a:r>
            <a:r>
              <a:rPr lang="en-US" dirty="0"/>
              <a:t> presentation)</a:t>
            </a:r>
          </a:p>
          <a:p>
            <a:pPr lvl="2"/>
            <a:r>
              <a:rPr lang="en-US" dirty="0"/>
              <a:t>Like agent but you don’t have to write agent code</a:t>
            </a:r>
          </a:p>
          <a:p>
            <a:pPr lvl="2"/>
            <a:r>
              <a:rPr lang="en-US" dirty="0"/>
              <a:t>You simply use the console</a:t>
            </a:r>
          </a:p>
        </p:txBody>
      </p:sp>
    </p:spTree>
    <p:extLst>
      <p:ext uri="{BB962C8B-B14F-4D97-AF65-F5344CB8AC3E}">
        <p14:creationId xmlns:p14="http://schemas.microsoft.com/office/powerpoint/2010/main" val="22561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CF30DB9-3FD8-0EB9-4875-0E7A9C4F9F25}"/>
              </a:ext>
            </a:extLst>
          </p:cNvPr>
          <p:cNvSpPr>
            <a:spLocks noGrp="1"/>
          </p:cNvSpPr>
          <p:nvPr>
            <p:ph type="title"/>
          </p:nvPr>
        </p:nvSpPr>
        <p:spPr/>
        <p:txBody>
          <a:bodyPr/>
          <a:lstStyle/>
          <a:p>
            <a:r>
              <a:rPr lang="en-US" dirty="0"/>
              <a:t>Chat Bots</a:t>
            </a:r>
          </a:p>
        </p:txBody>
      </p:sp>
      <p:sp>
        <p:nvSpPr>
          <p:cNvPr id="13" name="Content Placeholder 12">
            <a:extLst>
              <a:ext uri="{FF2B5EF4-FFF2-40B4-BE49-F238E27FC236}">
                <a16:creationId xmlns:a16="http://schemas.microsoft.com/office/drawing/2014/main" id="{FBB460CD-B0B4-BFB0-A761-DC8EB4338000}"/>
              </a:ext>
            </a:extLst>
          </p:cNvPr>
          <p:cNvSpPr>
            <a:spLocks noGrp="1"/>
          </p:cNvSpPr>
          <p:nvPr>
            <p:ph idx="1"/>
          </p:nvPr>
        </p:nvSpPr>
        <p:spPr/>
        <p:txBody>
          <a:bodyPr/>
          <a:lstStyle/>
          <a:p>
            <a:r>
              <a:rPr lang="en-US" dirty="0"/>
              <a:t>Chat Bots are web applications consisting of:</a:t>
            </a:r>
          </a:p>
          <a:p>
            <a:pPr lvl="1">
              <a:lnSpc>
                <a:spcPct val="150000"/>
              </a:lnSpc>
            </a:pPr>
            <a:r>
              <a:rPr lang="en-US" b="1" dirty="0"/>
              <a:t>Browser-based interface </a:t>
            </a:r>
            <a:r>
              <a:rPr lang="en-US" dirty="0"/>
              <a:t>that accepts prompts and displays results</a:t>
            </a:r>
          </a:p>
          <a:p>
            <a:pPr lvl="1">
              <a:lnSpc>
                <a:spcPct val="150000"/>
              </a:lnSpc>
            </a:pPr>
            <a:r>
              <a:rPr lang="en-US" dirty="0"/>
              <a:t>A containerized pre-trained </a:t>
            </a:r>
            <a:r>
              <a:rPr lang="en-US" b="1" dirty="0"/>
              <a:t>Large Language Model (LLM) </a:t>
            </a:r>
            <a:r>
              <a:rPr lang="en-US" dirty="0"/>
              <a:t>running in a Linux server in a data center</a:t>
            </a:r>
          </a:p>
          <a:p>
            <a:pPr lvl="1">
              <a:lnSpc>
                <a:spcPct val="150000"/>
              </a:lnSpc>
            </a:pPr>
            <a:r>
              <a:rPr lang="en-US" b="1" dirty="0"/>
              <a:t>Https-based communication infrastructure </a:t>
            </a:r>
            <a:r>
              <a:rPr lang="en-US" dirty="0"/>
              <a:t>to ferry prompts to, and results from the LLM</a:t>
            </a:r>
          </a:p>
        </p:txBody>
      </p:sp>
    </p:spTree>
    <p:extLst>
      <p:ext uri="{BB962C8B-B14F-4D97-AF65-F5344CB8AC3E}">
        <p14:creationId xmlns:p14="http://schemas.microsoft.com/office/powerpoint/2010/main" val="3281230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27CA19-83D6-38A9-982D-CF56096BBEE4}"/>
              </a:ext>
            </a:extLst>
          </p:cNvPr>
          <p:cNvSpPr>
            <a:spLocks noGrp="1"/>
          </p:cNvSpPr>
          <p:nvPr>
            <p:ph type="title"/>
          </p:nvPr>
        </p:nvSpPr>
        <p:spPr/>
        <p:txBody>
          <a:bodyPr/>
          <a:lstStyle/>
          <a:p>
            <a:r>
              <a:rPr lang="en-US" dirty="0"/>
              <a:t>AI Web App Structure</a:t>
            </a:r>
          </a:p>
        </p:txBody>
      </p:sp>
      <p:pic>
        <p:nvPicPr>
          <p:cNvPr id="7" name="Picture 6">
            <a:extLst>
              <a:ext uri="{FF2B5EF4-FFF2-40B4-BE49-F238E27FC236}">
                <a16:creationId xmlns:a16="http://schemas.microsoft.com/office/drawing/2014/main" id="{75D44958-4FBF-0B1C-33F6-B76290B684FF}"/>
              </a:ext>
            </a:extLst>
          </p:cNvPr>
          <p:cNvPicPr>
            <a:picLocks noChangeAspect="1"/>
          </p:cNvPicPr>
          <p:nvPr/>
        </p:nvPicPr>
        <p:blipFill>
          <a:blip r:embed="rId3"/>
          <a:stretch>
            <a:fillRect/>
          </a:stretch>
        </p:blipFill>
        <p:spPr>
          <a:xfrm>
            <a:off x="2213262" y="1905858"/>
            <a:ext cx="8104909" cy="4209914"/>
          </a:xfrm>
          <a:prstGeom prst="rect">
            <a:avLst/>
          </a:prstGeom>
        </p:spPr>
      </p:pic>
    </p:spTree>
    <p:extLst>
      <p:ext uri="{BB962C8B-B14F-4D97-AF65-F5344CB8AC3E}">
        <p14:creationId xmlns:p14="http://schemas.microsoft.com/office/powerpoint/2010/main" val="409872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5EADD6-B4EF-33E4-A00C-56BEBCAAB559}"/>
              </a:ext>
            </a:extLst>
          </p:cNvPr>
          <p:cNvSpPr>
            <a:spLocks noGrp="1"/>
          </p:cNvSpPr>
          <p:nvPr>
            <p:ph type="title"/>
          </p:nvPr>
        </p:nvSpPr>
        <p:spPr/>
        <p:txBody>
          <a:bodyPr/>
          <a:lstStyle/>
          <a:p>
            <a:r>
              <a:rPr lang="en-US" dirty="0"/>
              <a:t>Limitations</a:t>
            </a:r>
          </a:p>
        </p:txBody>
      </p:sp>
      <p:sp>
        <p:nvSpPr>
          <p:cNvPr id="4" name="Content Placeholder 3">
            <a:extLst>
              <a:ext uri="{FF2B5EF4-FFF2-40B4-BE49-F238E27FC236}">
                <a16:creationId xmlns:a16="http://schemas.microsoft.com/office/drawing/2014/main" id="{F5E1CE9A-8852-52F1-4CBE-3F6B703C1B6B}"/>
              </a:ext>
            </a:extLst>
          </p:cNvPr>
          <p:cNvSpPr>
            <a:spLocks noGrp="1"/>
          </p:cNvSpPr>
          <p:nvPr>
            <p:ph idx="1"/>
          </p:nvPr>
        </p:nvSpPr>
        <p:spPr/>
        <p:txBody>
          <a:bodyPr/>
          <a:lstStyle/>
          <a:p>
            <a:r>
              <a:rPr lang="en-US" dirty="0"/>
              <a:t>AI Chat Bots have web application limitations:</a:t>
            </a:r>
          </a:p>
          <a:p>
            <a:pPr lvl="1">
              <a:lnSpc>
                <a:spcPct val="150000"/>
              </a:lnSpc>
            </a:pPr>
            <a:r>
              <a:rPr lang="en-US" dirty="0"/>
              <a:t>Cannot read from or write to local repositories</a:t>
            </a:r>
          </a:p>
          <a:p>
            <a:pPr lvl="1">
              <a:lnSpc>
                <a:spcPct val="150000"/>
              </a:lnSpc>
            </a:pPr>
            <a:r>
              <a:rPr lang="en-US" dirty="0"/>
              <a:t>Cannot read files from </a:t>
            </a:r>
            <a:r>
              <a:rPr lang="en-US" dirty="0" err="1"/>
              <a:t>github</a:t>
            </a:r>
            <a:r>
              <a:rPr lang="en-US" dirty="0"/>
              <a:t> repository</a:t>
            </a:r>
          </a:p>
        </p:txBody>
      </p:sp>
    </p:spTree>
    <p:extLst>
      <p:ext uri="{BB962C8B-B14F-4D97-AF65-F5344CB8AC3E}">
        <p14:creationId xmlns:p14="http://schemas.microsoft.com/office/powerpoint/2010/main" val="3523713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9108E-08A8-B4E7-E90B-4855B68AF073}"/>
              </a:ext>
            </a:extLst>
          </p:cNvPr>
          <p:cNvSpPr>
            <a:spLocks noGrp="1"/>
          </p:cNvSpPr>
          <p:nvPr>
            <p:ph type="title"/>
          </p:nvPr>
        </p:nvSpPr>
        <p:spPr/>
        <p:txBody>
          <a:bodyPr/>
          <a:lstStyle/>
          <a:p>
            <a:r>
              <a:rPr lang="en-US" dirty="0"/>
              <a:t>Work Arounds</a:t>
            </a:r>
          </a:p>
        </p:txBody>
      </p:sp>
      <p:sp>
        <p:nvSpPr>
          <p:cNvPr id="3" name="Content Placeholder 2">
            <a:extLst>
              <a:ext uri="{FF2B5EF4-FFF2-40B4-BE49-F238E27FC236}">
                <a16:creationId xmlns:a16="http://schemas.microsoft.com/office/drawing/2014/main" id="{FFA63999-3143-5F98-731C-D30B74940E26}"/>
              </a:ext>
            </a:extLst>
          </p:cNvPr>
          <p:cNvSpPr>
            <a:spLocks noGrp="1"/>
          </p:cNvSpPr>
          <p:nvPr>
            <p:ph idx="1"/>
          </p:nvPr>
        </p:nvSpPr>
        <p:spPr/>
        <p:txBody>
          <a:bodyPr/>
          <a:lstStyle/>
          <a:p>
            <a:pPr>
              <a:lnSpc>
                <a:spcPct val="150000"/>
              </a:lnSpc>
            </a:pPr>
            <a:r>
              <a:rPr lang="en-US" dirty="0"/>
              <a:t>You can paste code text at the end of a prompt</a:t>
            </a:r>
          </a:p>
          <a:p>
            <a:pPr lvl="1">
              <a:lnSpc>
                <a:spcPct val="150000"/>
              </a:lnSpc>
            </a:pPr>
            <a:r>
              <a:rPr lang="en-US" dirty="0"/>
              <a:t>Prompt specifies what to do with the following code</a:t>
            </a:r>
          </a:p>
          <a:p>
            <a:pPr>
              <a:lnSpc>
                <a:spcPct val="150000"/>
              </a:lnSpc>
            </a:pPr>
            <a:r>
              <a:rPr lang="en-US" dirty="0"/>
              <a:t>You can create a zip for a local repository or download a </a:t>
            </a:r>
            <a:r>
              <a:rPr lang="en-US" dirty="0" err="1"/>
              <a:t>github</a:t>
            </a:r>
            <a:r>
              <a:rPr lang="en-US" dirty="0"/>
              <a:t> zip</a:t>
            </a:r>
          </a:p>
          <a:p>
            <a:pPr lvl="1">
              <a:lnSpc>
                <a:spcPct val="150000"/>
              </a:lnSpc>
            </a:pPr>
            <a:r>
              <a:rPr lang="en-US" dirty="0"/>
              <a:t>Paste zip file at the end of a prompt</a:t>
            </a:r>
          </a:p>
          <a:p>
            <a:pPr>
              <a:lnSpc>
                <a:spcPct val="150000"/>
              </a:lnSpc>
            </a:pPr>
            <a:r>
              <a:rPr lang="en-US" dirty="0"/>
              <a:t>You can request Chat Bot to download its results to your local download directory</a:t>
            </a:r>
          </a:p>
        </p:txBody>
      </p:sp>
    </p:spTree>
    <p:extLst>
      <p:ext uri="{BB962C8B-B14F-4D97-AF65-F5344CB8AC3E}">
        <p14:creationId xmlns:p14="http://schemas.microsoft.com/office/powerpoint/2010/main" val="2395845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35A2-72F9-D95E-8D48-701968959766}"/>
              </a:ext>
            </a:extLst>
          </p:cNvPr>
          <p:cNvSpPr>
            <a:spLocks noGrp="1"/>
          </p:cNvSpPr>
          <p:nvPr>
            <p:ph type="title"/>
          </p:nvPr>
        </p:nvSpPr>
        <p:spPr/>
        <p:txBody>
          <a:bodyPr/>
          <a:lstStyle/>
          <a:p>
            <a:r>
              <a:rPr lang="en-US" dirty="0"/>
              <a:t>Example </a:t>
            </a:r>
            <a:br>
              <a:rPr lang="en-US" dirty="0"/>
            </a:br>
            <a:r>
              <a:rPr lang="en-US" dirty="0"/>
              <a:t>   </a:t>
            </a:r>
            <a:r>
              <a:rPr lang="en-US" sz="3600" dirty="0"/>
              <a:t>– Size and Complexity of code functions</a:t>
            </a:r>
          </a:p>
        </p:txBody>
      </p:sp>
      <p:sp>
        <p:nvSpPr>
          <p:cNvPr id="3" name="Content Placeholder 2">
            <a:extLst>
              <a:ext uri="{FF2B5EF4-FFF2-40B4-BE49-F238E27FC236}">
                <a16:creationId xmlns:a16="http://schemas.microsoft.com/office/drawing/2014/main" id="{2079D98F-52B3-4856-D5B1-0C93DF837A8A}"/>
              </a:ext>
            </a:extLst>
          </p:cNvPr>
          <p:cNvSpPr>
            <a:spLocks noGrp="1"/>
          </p:cNvSpPr>
          <p:nvPr>
            <p:ph idx="1"/>
          </p:nvPr>
        </p:nvSpPr>
        <p:spPr/>
        <p:txBody>
          <a:bodyPr/>
          <a:lstStyle/>
          <a:p>
            <a:r>
              <a:rPr lang="en-US" dirty="0"/>
              <a:t>This prompt:</a:t>
            </a:r>
          </a:p>
          <a:p>
            <a:pPr marL="0" indent="0">
              <a:buNone/>
            </a:pPr>
            <a:r>
              <a:rPr lang="en-US" dirty="0"/>
              <a:t>     “Generate a list of function line counts and complexities for all</a:t>
            </a:r>
            <a:br>
              <a:rPr lang="en-US" dirty="0"/>
            </a:br>
            <a:r>
              <a:rPr lang="en-US" dirty="0"/>
              <a:t>     functions in the zip file pasted at end of this prompt.</a:t>
            </a:r>
            <a:br>
              <a:rPr lang="en-US" dirty="0"/>
            </a:br>
            <a:r>
              <a:rPr lang="en-US" dirty="0"/>
              <a:t>        </a:t>
            </a:r>
            <a:r>
              <a:rPr lang="en-US" sz="2400" b="1" dirty="0"/>
              <a:t>Line count</a:t>
            </a:r>
            <a:r>
              <a:rPr lang="en-US" sz="2400" dirty="0"/>
              <a:t> is total number of lines including code, whitespace, comments</a:t>
            </a:r>
            <a:br>
              <a:rPr lang="en-US" dirty="0"/>
            </a:br>
            <a:r>
              <a:rPr lang="en-US" dirty="0"/>
              <a:t>        </a:t>
            </a:r>
            <a:r>
              <a:rPr lang="en-US" sz="2400" b="1" dirty="0"/>
              <a:t>Complexity</a:t>
            </a:r>
            <a:r>
              <a:rPr lang="en-US" sz="2400" dirty="0"/>
              <a:t> is the number of open braces in each function”</a:t>
            </a:r>
            <a:br>
              <a:rPr lang="en-US" sz="2400" dirty="0"/>
            </a:br>
            <a:endParaRPr lang="en-US" sz="2400" dirty="0"/>
          </a:p>
          <a:p>
            <a:r>
              <a:rPr lang="en-US" dirty="0"/>
              <a:t>AI Generated a list of all the functions with correct line counts and complexities for a Rust Thread Pool.</a:t>
            </a:r>
          </a:p>
          <a:p>
            <a:pPr lvl="1"/>
            <a:r>
              <a:rPr lang="en-US" dirty="0"/>
              <a:t>Note: Rust code is easier to parse than C++ and doesn’t have function overloads. </a:t>
            </a:r>
          </a:p>
          <a:p>
            <a:pPr lvl="1"/>
            <a:endParaRPr lang="en-US" dirty="0"/>
          </a:p>
        </p:txBody>
      </p:sp>
    </p:spTree>
    <p:extLst>
      <p:ext uri="{BB962C8B-B14F-4D97-AF65-F5344CB8AC3E}">
        <p14:creationId xmlns:p14="http://schemas.microsoft.com/office/powerpoint/2010/main" val="146547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432B8-6D2C-6893-1F21-45B498491CD8}"/>
              </a:ext>
            </a:extLst>
          </p:cNvPr>
          <p:cNvSpPr>
            <a:spLocks noGrp="1"/>
          </p:cNvSpPr>
          <p:nvPr>
            <p:ph type="title"/>
          </p:nvPr>
        </p:nvSpPr>
        <p:spPr>
          <a:xfrm>
            <a:off x="838200" y="365125"/>
            <a:ext cx="10515600" cy="1169761"/>
          </a:xfrm>
        </p:spPr>
        <p:txBody>
          <a:bodyPr/>
          <a:lstStyle/>
          <a:p>
            <a:r>
              <a:rPr lang="en-US" dirty="0"/>
              <a:t>Partial Code and Analysis Results</a:t>
            </a:r>
          </a:p>
        </p:txBody>
      </p:sp>
      <p:pic>
        <p:nvPicPr>
          <p:cNvPr id="10" name="Content Placeholder 9">
            <a:extLst>
              <a:ext uri="{FF2B5EF4-FFF2-40B4-BE49-F238E27FC236}">
                <a16:creationId xmlns:a16="http://schemas.microsoft.com/office/drawing/2014/main" id="{4F1305DF-901A-F8D0-76F2-7E107BBA9563}"/>
              </a:ext>
            </a:extLst>
          </p:cNvPr>
          <p:cNvPicPr>
            <a:picLocks noGrp="1" noChangeAspect="1"/>
          </p:cNvPicPr>
          <p:nvPr>
            <p:ph sz="half" idx="1"/>
          </p:nvPr>
        </p:nvPicPr>
        <p:blipFill>
          <a:blip r:embed="rId3"/>
          <a:stretch>
            <a:fillRect/>
          </a:stretch>
        </p:blipFill>
        <p:spPr>
          <a:xfrm>
            <a:off x="1011831" y="1825625"/>
            <a:ext cx="4834337" cy="4351338"/>
          </a:xfrm>
          <a:prstGeom prst="rect">
            <a:avLst/>
          </a:prstGeom>
        </p:spPr>
      </p:pic>
      <p:pic>
        <p:nvPicPr>
          <p:cNvPr id="12" name="Content Placeholder 11">
            <a:extLst>
              <a:ext uri="{FF2B5EF4-FFF2-40B4-BE49-F238E27FC236}">
                <a16:creationId xmlns:a16="http://schemas.microsoft.com/office/drawing/2014/main" id="{5A249160-A9BE-981D-E5D3-D91B667EC609}"/>
              </a:ext>
            </a:extLst>
          </p:cNvPr>
          <p:cNvPicPr>
            <a:picLocks noGrp="1" noChangeAspect="1"/>
          </p:cNvPicPr>
          <p:nvPr>
            <p:ph sz="half" idx="2"/>
          </p:nvPr>
        </p:nvPicPr>
        <p:blipFill>
          <a:blip r:embed="rId4"/>
          <a:stretch>
            <a:fillRect/>
          </a:stretch>
        </p:blipFill>
        <p:spPr>
          <a:xfrm>
            <a:off x="6096000" y="1825625"/>
            <a:ext cx="5181600" cy="1544260"/>
          </a:xfrm>
          <a:prstGeom prst="rect">
            <a:avLst/>
          </a:prstGeom>
        </p:spPr>
      </p:pic>
    </p:spTree>
    <p:extLst>
      <p:ext uri="{BB962C8B-B14F-4D97-AF65-F5344CB8AC3E}">
        <p14:creationId xmlns:p14="http://schemas.microsoft.com/office/powerpoint/2010/main" val="3519992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5B24E-E878-0B21-8712-7D1402BCBC4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1384049-8907-0308-4717-8169ADBCA512}"/>
              </a:ext>
            </a:extLst>
          </p:cNvPr>
          <p:cNvSpPr>
            <a:spLocks noGrp="1"/>
          </p:cNvSpPr>
          <p:nvPr>
            <p:ph idx="1"/>
          </p:nvPr>
        </p:nvSpPr>
        <p:spPr/>
        <p:txBody>
          <a:bodyPr/>
          <a:lstStyle/>
          <a:p>
            <a:r>
              <a:rPr lang="en-US" dirty="0"/>
              <a:t>You can find all the details here:</a:t>
            </a:r>
            <a:br>
              <a:rPr lang="en-US" dirty="0"/>
            </a:br>
            <a:r>
              <a:rPr lang="en-US" dirty="0"/>
              <a:t>    </a:t>
            </a:r>
            <a:r>
              <a:rPr lang="en-US" sz="2000" dirty="0">
                <a:hlinkClick r:id="rId3"/>
              </a:rPr>
              <a:t>https://jimfawcett.github.io/NewSite/Code/CodeBites_ChatBotAI.html</a:t>
            </a:r>
            <a:endParaRPr lang="en-US" sz="2000" dirty="0"/>
          </a:p>
          <a:p>
            <a:r>
              <a:rPr lang="en-US" sz="2000" dirty="0"/>
              <a:t>The next presentation explores:</a:t>
            </a:r>
          </a:p>
          <a:p>
            <a:pPr lvl="1"/>
            <a:r>
              <a:rPr lang="en-US" sz="1600" dirty="0"/>
              <a:t>AI Agents</a:t>
            </a:r>
          </a:p>
          <a:p>
            <a:pPr lvl="1"/>
            <a:r>
              <a:rPr lang="en-US" sz="1600" dirty="0"/>
              <a:t>Use local application to communicate with the LLM</a:t>
            </a:r>
          </a:p>
          <a:p>
            <a:pPr lvl="1"/>
            <a:r>
              <a:rPr lang="en-US" sz="1600" dirty="0"/>
              <a:t>Uses HTTPS-based API</a:t>
            </a:r>
          </a:p>
          <a:p>
            <a:pPr lvl="1"/>
            <a:r>
              <a:rPr lang="en-US" sz="1600" dirty="0"/>
              <a:t>Can read from and write to local file system</a:t>
            </a:r>
          </a:p>
          <a:p>
            <a:r>
              <a:rPr lang="en-US" sz="2000" dirty="0"/>
              <a:t>The one after that explores:</a:t>
            </a:r>
          </a:p>
          <a:p>
            <a:pPr lvl="1"/>
            <a:r>
              <a:rPr lang="en-US" sz="1600" dirty="0"/>
              <a:t>AI Consoles</a:t>
            </a:r>
          </a:p>
          <a:p>
            <a:pPr lvl="1"/>
            <a:r>
              <a:rPr lang="en-US" sz="1600" dirty="0"/>
              <a:t>Have access to local repositories</a:t>
            </a:r>
          </a:p>
          <a:p>
            <a:pPr lvl="1"/>
            <a:r>
              <a:rPr lang="en-US" sz="1600" dirty="0"/>
              <a:t>Don’t need to write Agent code</a:t>
            </a:r>
          </a:p>
        </p:txBody>
      </p:sp>
    </p:spTree>
    <p:extLst>
      <p:ext uri="{BB962C8B-B14F-4D97-AF65-F5344CB8AC3E}">
        <p14:creationId xmlns:p14="http://schemas.microsoft.com/office/powerpoint/2010/main" val="1430634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367FDF-BBB1-AC9C-8803-806CC4936B03}"/>
              </a:ext>
            </a:extLst>
          </p:cNvPr>
          <p:cNvSpPr>
            <a:spLocks noGrp="1"/>
          </p:cNvSpPr>
          <p:nvPr>
            <p:ph type="ctrTitle"/>
          </p:nvPr>
        </p:nvSpPr>
        <p:spPr/>
        <p:txBody>
          <a:bodyPr/>
          <a:lstStyle/>
          <a:p>
            <a:r>
              <a:rPr lang="en-US" dirty="0"/>
              <a:t>End of Presentation</a:t>
            </a:r>
          </a:p>
        </p:txBody>
      </p:sp>
    </p:spTree>
    <p:extLst>
      <p:ext uri="{BB962C8B-B14F-4D97-AF65-F5344CB8AC3E}">
        <p14:creationId xmlns:p14="http://schemas.microsoft.com/office/powerpoint/2010/main" val="2222860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1223</TotalTime>
  <Words>1163</Words>
  <Application>Microsoft Office PowerPoint</Application>
  <PresentationFormat>Widescreen</PresentationFormat>
  <Paragraphs>105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 AI for Software Dev  Video #1 - Chat Bots</vt:lpstr>
      <vt:lpstr>Introduction</vt:lpstr>
      <vt:lpstr>Background</vt:lpstr>
      <vt:lpstr>Chat Bots</vt:lpstr>
      <vt:lpstr>AI Web App Structure</vt:lpstr>
      <vt:lpstr>Limitations</vt:lpstr>
      <vt:lpstr>Work Arounds</vt:lpstr>
      <vt:lpstr>Example     – Size and Complexity of code functions</vt:lpstr>
      <vt:lpstr>Partial Code and Analysis Results</vt:lpstr>
      <vt:lpstr>Conclusion</vt:lpstr>
      <vt:lpstr>End of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Fawcett</dc:creator>
  <cp:lastModifiedBy>James Fawcett</cp:lastModifiedBy>
  <cp:revision>17</cp:revision>
  <dcterms:created xsi:type="dcterms:W3CDTF">2025-12-29T15:31:49Z</dcterms:created>
  <dcterms:modified xsi:type="dcterms:W3CDTF">2026-02-20T17:06:06Z</dcterms:modified>
</cp:coreProperties>
</file>